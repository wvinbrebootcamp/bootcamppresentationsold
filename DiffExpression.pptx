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 showGuides="1">
      <p:cViewPr varScale="1">
        <p:scale>
          <a:sx n="118" d="100"/>
          <a:sy n="118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B6F00A2-D617-FA4B-A3BF-B86CDE3843DC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Marshall University Joan C. Edwards School of Medicine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2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0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2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3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4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4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2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58943C2F-AB2B-3F4C-8F31-0BDCAE1A436D}" type="datetimeFigureOut">
              <a:rPr lang="en-US" smtClean="0"/>
              <a:t>7/20/21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532C6D7-AEFE-104F-9B5E-DA22EB3747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69F39-1E61-E84E-84A9-3551FA50AD8E}"/>
              </a:ext>
            </a:extLst>
          </p:cNvPr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FAD869-77C3-4B48-B947-FF39E5B8980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77036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2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ioconductor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23F33-2BE3-CE4B-B721-0BB7B14D7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Differential Expression Analysis with R and Bioconductor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567B7-86CB-C84C-BD18-E1F4C1194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WV-INBRE Bioinformatics Bootcamp</a:t>
            </a:r>
          </a:p>
          <a:p>
            <a:r>
              <a:rPr lang="en-US" dirty="0"/>
              <a:t>Summer 2021</a:t>
            </a:r>
          </a:p>
        </p:txBody>
      </p:sp>
    </p:spTree>
    <p:extLst>
      <p:ext uri="{BB962C8B-B14F-4D97-AF65-F5344CB8AC3E}">
        <p14:creationId xmlns:p14="http://schemas.microsoft.com/office/powerpoint/2010/main" val="631810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18AB-BB2A-2D4E-9CE0-1D9EE8B5E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Bioconductor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C50F-60BD-5F4C-8DD6-F9F5F7155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Bioconductor is a curated set of R packages for working with biological data</a:t>
            </a:r>
          </a:p>
          <a:p>
            <a:r>
              <a:rPr lang="en-US" dirty="0">
                <a:hlinkClick r:id="rId2"/>
              </a:rPr>
              <a:t>https://bioconductor.org</a:t>
            </a:r>
            <a:endParaRPr lang="en-US" dirty="0"/>
          </a:p>
          <a:p>
            <a:r>
              <a:rPr lang="en-US" dirty="0"/>
              <a:t>Provides a uniform interface for help pages and documentation</a:t>
            </a:r>
          </a:p>
          <a:p>
            <a:r>
              <a:rPr lang="en-US" dirty="0"/>
              <a:t>The </a:t>
            </a:r>
            <a:r>
              <a:rPr lang="en-US" dirty="0" err="1"/>
              <a:t>BiocManager</a:t>
            </a:r>
            <a:r>
              <a:rPr lang="en-US" dirty="0"/>
              <a:t> library allows for (relatively) easy installation of </a:t>
            </a:r>
            <a:r>
              <a:rPr lang="en-US" dirty="0" err="1"/>
              <a:t>bioconductor</a:t>
            </a:r>
            <a:r>
              <a:rPr lang="en-US" dirty="0"/>
              <a:t> packages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6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D8E4-693E-154F-80F7-A75231DE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Bioconductor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331E-DCE6-2A4A-AF5D-219288E84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 into the server and change to your RNA-Seq data folder</a:t>
            </a:r>
          </a:p>
          <a:p>
            <a:r>
              <a:rPr lang="en-US" dirty="0"/>
              <a:t>Start R in the terminal: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R</a:t>
            </a:r>
          </a:p>
          <a:p>
            <a:r>
              <a:rPr lang="en-US" dirty="0"/>
              <a:t>Install the </a:t>
            </a:r>
            <a:r>
              <a:rPr lang="en-US" dirty="0" err="1"/>
              <a:t>BiocManager</a:t>
            </a:r>
            <a:r>
              <a:rPr lang="en-US" dirty="0"/>
              <a:t> package:</a:t>
            </a:r>
          </a:p>
          <a:p>
            <a:pPr marL="0" indent="0">
              <a:buNone/>
            </a:pPr>
            <a:r>
              <a:rPr lang="en-US" dirty="0" err="1">
                <a:latin typeface="JetBrains Mono" panose="020B0509020102050004" pitchFamily="49" charset="77"/>
              </a:rPr>
              <a:t>install.packages</a:t>
            </a:r>
            <a:r>
              <a:rPr lang="en-US" dirty="0">
                <a:latin typeface="JetBrains Mono" panose="020B0509020102050004" pitchFamily="49" charset="77"/>
              </a:rPr>
              <a:t>("</a:t>
            </a:r>
            <a:r>
              <a:rPr lang="en-US" dirty="0" err="1">
                <a:latin typeface="JetBrains Mono" panose="020B0509020102050004" pitchFamily="49" charset="77"/>
              </a:rPr>
              <a:t>BiocManager</a:t>
            </a:r>
            <a:r>
              <a:rPr lang="en-US" dirty="0">
                <a:latin typeface="JetBrains Mono" panose="020B0509020102050004" pitchFamily="49" charset="77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86404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61CD-7A72-3640-BD66-6E295252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Bioconductor packages for this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5BA36-DC90-2142-A3B2-A7DABE4B3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We'll use the following packages from Bioconductor:</a:t>
            </a:r>
          </a:p>
          <a:p>
            <a:r>
              <a:rPr lang="en-US" dirty="0" err="1"/>
              <a:t>GenomicFeatures</a:t>
            </a:r>
            <a:r>
              <a:rPr lang="en-US" dirty="0"/>
              <a:t>: R representation of genes, exons, transcripts, etc.</a:t>
            </a:r>
          </a:p>
          <a:p>
            <a:r>
              <a:rPr lang="en-US" dirty="0" err="1"/>
              <a:t>GenomicAlignments</a:t>
            </a:r>
            <a:r>
              <a:rPr lang="en-US" dirty="0"/>
              <a:t>: R representation of alignments of reads to reference (i.e. representation of data in a bam file)</a:t>
            </a:r>
          </a:p>
          <a:p>
            <a:r>
              <a:rPr lang="en-US" dirty="0"/>
              <a:t>DESeq2: statistical analysis and identification of differentially expressed genes</a:t>
            </a:r>
          </a:p>
        </p:txBody>
      </p:sp>
    </p:spTree>
    <p:extLst>
      <p:ext uri="{BB962C8B-B14F-4D97-AF65-F5344CB8AC3E}">
        <p14:creationId xmlns:p14="http://schemas.microsoft.com/office/powerpoint/2010/main" val="327729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D3592-5660-C948-A979-84B9E827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Bioconductor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0C74C-1F5B-4F48-B326-36321CB1F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BiocManager</a:t>
            </a:r>
            <a:r>
              <a:rPr lang="en-US" dirty="0"/>
              <a:t>::install to install Bioconductor packages</a:t>
            </a:r>
          </a:p>
          <a:p>
            <a:r>
              <a:rPr lang="en-US" dirty="0"/>
              <a:t>Pass a list of package names</a:t>
            </a:r>
          </a:p>
          <a:p>
            <a:pPr marL="0" indent="0">
              <a:buNone/>
            </a:pPr>
            <a:r>
              <a:rPr lang="en-US" dirty="0" err="1">
                <a:latin typeface="JetBrains Mono" panose="020B0509020102050004" pitchFamily="49" charset="77"/>
              </a:rPr>
              <a:t>BiocManager</a:t>
            </a:r>
            <a:r>
              <a:rPr lang="en-US" dirty="0">
                <a:latin typeface="JetBrains Mono" panose="020B0509020102050004" pitchFamily="49" charset="77"/>
              </a:rPr>
              <a:t>::install(c("</a:t>
            </a:r>
            <a:r>
              <a:rPr lang="en-US" dirty="0" err="1">
                <a:latin typeface="JetBrains Mono" panose="020B0509020102050004" pitchFamily="49" charset="77"/>
              </a:rPr>
              <a:t>GenomicFeatures</a:t>
            </a:r>
            <a:r>
              <a:rPr lang="en-US" dirty="0">
                <a:latin typeface="JetBrains Mono" panose="020B0509020102050004" pitchFamily="49" charset="77"/>
              </a:rPr>
              <a:t>", "</a:t>
            </a:r>
            <a:r>
              <a:rPr lang="en-US" dirty="0" err="1">
                <a:latin typeface="JetBrains Mono" panose="020B0509020102050004" pitchFamily="49" charset="77"/>
              </a:rPr>
              <a:t>GenomicAlignments</a:t>
            </a:r>
            <a:r>
              <a:rPr lang="en-US" dirty="0">
                <a:latin typeface="JetBrains Mono" panose="020B0509020102050004" pitchFamily="49" charset="77"/>
              </a:rPr>
              <a:t>", "DESeq2"))</a:t>
            </a:r>
          </a:p>
          <a:p>
            <a:r>
              <a:rPr lang="en-US" dirty="0"/>
              <a:t>(Can also do this on three separate lines)</a:t>
            </a:r>
          </a:p>
        </p:txBody>
      </p:sp>
    </p:spTree>
    <p:extLst>
      <p:ext uri="{BB962C8B-B14F-4D97-AF65-F5344CB8AC3E}">
        <p14:creationId xmlns:p14="http://schemas.microsoft.com/office/powerpoint/2010/main" val="3398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45E-1D1E-5741-BA81-35E7A760A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Gathering the bam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3C2A1-A2A3-C84A-99EB-D12E599DF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Exit R with q()</a:t>
            </a:r>
          </a:p>
          <a:p>
            <a:r>
              <a:rPr lang="en-US" dirty="0"/>
              <a:t>There is no need to save the workspace</a:t>
            </a:r>
          </a:p>
          <a:p>
            <a:pPr lvl="1"/>
            <a:r>
              <a:rPr lang="en-US" dirty="0"/>
              <a:t>All we did was install some libraries</a:t>
            </a:r>
          </a:p>
          <a:p>
            <a:r>
              <a:rPr lang="en-US" dirty="0"/>
              <a:t>From your RNA-Seq-data folder, copy everyone else's bam files:</a:t>
            </a:r>
          </a:p>
          <a:p>
            <a:pPr marL="0" indent="0">
              <a:buNone/>
            </a:pPr>
            <a:r>
              <a:rPr lang="en-US" dirty="0" err="1">
                <a:latin typeface="JetBrains Mono" panose="020B0509020102050004" pitchFamily="49" charset="77"/>
              </a:rPr>
              <a:t>mkdir</a:t>
            </a:r>
            <a:r>
              <a:rPr lang="en-US" dirty="0">
                <a:latin typeface="JetBrains Mono" panose="020B0509020102050004" pitchFamily="49" charset="77"/>
              </a:rPr>
              <a:t> </a:t>
            </a:r>
            <a:r>
              <a:rPr lang="en-US" dirty="0" err="1">
                <a:latin typeface="JetBrains Mono" panose="020B0509020102050004" pitchFamily="49" charset="77"/>
              </a:rPr>
              <a:t>all_bams</a:t>
            </a:r>
            <a:endParaRPr lang="en-US" dirty="0">
              <a:latin typeface="JetBrains Mono" panose="020B0509020102050004" pitchFamily="49" charset="77"/>
            </a:endParaRP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cd </a:t>
            </a:r>
            <a:r>
              <a:rPr lang="en-US" dirty="0" err="1">
                <a:latin typeface="JetBrains Mono" panose="020B0509020102050004" pitchFamily="49" charset="77"/>
              </a:rPr>
              <a:t>all_bams</a:t>
            </a:r>
            <a:endParaRPr lang="en-US" dirty="0">
              <a:latin typeface="JetBrains Mono" panose="020B0509020102050004" pitchFamily="49" charset="77"/>
            </a:endParaRP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cp ../../../*/RNA-Seq-data/*.bam .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cp ../../../*/RNA-Seq-data/*.</a:t>
            </a:r>
            <a:r>
              <a:rPr lang="en-US" dirty="0" err="1">
                <a:latin typeface="JetBrains Mono" panose="020B0509020102050004" pitchFamily="49" charset="77"/>
              </a:rPr>
              <a:t>bam.bai</a:t>
            </a:r>
            <a:r>
              <a:rPr lang="en-US" dirty="0">
                <a:latin typeface="JetBrains Mono" panose="020B0509020102050004" pitchFamily="49" charset="77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180575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9B8C3-2D60-DD48-ABF1-C223B9CC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RNA-Seq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44546-0FB5-4F44-A85C-A1D58AF63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back into R and load the libraries: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R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library(</a:t>
            </a:r>
            <a:r>
              <a:rPr lang="en-US" dirty="0" err="1">
                <a:latin typeface="JetBrains Mono" panose="020B0509020102050004" pitchFamily="49" charset="77"/>
              </a:rPr>
              <a:t>GenomicAlignments</a:t>
            </a:r>
            <a:r>
              <a:rPr lang="en-US" dirty="0">
                <a:latin typeface="JetBrains Mono" panose="020B0509020102050004" pitchFamily="49" charset="77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library(</a:t>
            </a:r>
            <a:r>
              <a:rPr lang="en-US" dirty="0" err="1">
                <a:latin typeface="JetBrains Mono" panose="020B0509020102050004" pitchFamily="49" charset="77"/>
              </a:rPr>
              <a:t>GenomicFeatures</a:t>
            </a:r>
            <a:r>
              <a:rPr lang="en-US" dirty="0">
                <a:latin typeface="JetBrains Mono" panose="020B0509020102050004" pitchFamily="49" charset="77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library(DESeq2)</a:t>
            </a:r>
          </a:p>
        </p:txBody>
      </p:sp>
    </p:spTree>
    <p:extLst>
      <p:ext uri="{BB962C8B-B14F-4D97-AF65-F5344CB8AC3E}">
        <p14:creationId xmlns:p14="http://schemas.microsoft.com/office/powerpoint/2010/main" val="3380903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DEF7-0A8F-8844-973E-A947EC9D6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bam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20891-D839-DE47-B818-7B3A004C1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>
                <a:latin typeface="JetBrains Mono" panose="020B0509020102050004" pitchFamily="49" charset="77"/>
              </a:rPr>
              <a:t>bamfiles</a:t>
            </a:r>
            <a:r>
              <a:rPr lang="en-US" sz="2400" dirty="0">
                <a:latin typeface="JetBrains Mono" panose="020B0509020102050004" pitchFamily="49" charset="77"/>
              </a:rPr>
              <a:t> &lt;- </a:t>
            </a:r>
            <a:r>
              <a:rPr lang="en-US" sz="2400" dirty="0" err="1">
                <a:latin typeface="JetBrains Mono" panose="020B0509020102050004" pitchFamily="49" charset="77"/>
              </a:rPr>
              <a:t>BamFileList</a:t>
            </a:r>
            <a:r>
              <a:rPr lang="en-US" sz="2400" dirty="0">
                <a:latin typeface="JetBrains Mono" panose="020B0509020102050004" pitchFamily="49" charset="77"/>
              </a:rPr>
              <a:t>(</a:t>
            </a:r>
            <a:r>
              <a:rPr lang="en-US" sz="2400" dirty="0" err="1">
                <a:latin typeface="JetBrains Mono" panose="020B0509020102050004" pitchFamily="49" charset="77"/>
              </a:rPr>
              <a:t>list.files</a:t>
            </a:r>
            <a:r>
              <a:rPr lang="en-US" sz="2400" dirty="0">
                <a:latin typeface="JetBrains Mono" panose="020B0509020102050004" pitchFamily="49" charset="77"/>
              </a:rPr>
              <a:t>(pattern="\\.bam$"))</a:t>
            </a:r>
          </a:p>
          <a:p>
            <a:pPr marL="0" indent="0">
              <a:buNone/>
            </a:pPr>
            <a:r>
              <a:rPr lang="en-US" sz="2400" dirty="0" err="1">
                <a:latin typeface="JetBrains Mono" panose="020B0509020102050004" pitchFamily="49" charset="77"/>
              </a:rPr>
              <a:t>bamfiles</a:t>
            </a:r>
            <a:endParaRPr lang="en-US" sz="2400" dirty="0">
              <a:latin typeface="JetBrains Mono" panose="020B0509020102050004" pitchFamily="49" charset="77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736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AF5B-FE86-3149-92A5-C54CF3A1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the GTF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65DB3-2895-4141-9655-884227A68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create a "transcript database" from the GTF file:</a:t>
            </a:r>
          </a:p>
          <a:p>
            <a:pPr marL="0" indent="0">
              <a:buNone/>
            </a:pPr>
            <a:r>
              <a:rPr lang="en-US" sz="2000" dirty="0" err="1">
                <a:latin typeface="JetBrains Mono" panose="020B0509020102050004" pitchFamily="49" charset="77"/>
              </a:rPr>
              <a:t>txdb</a:t>
            </a:r>
            <a:r>
              <a:rPr lang="en-US" sz="2000" dirty="0">
                <a:latin typeface="JetBrains Mono" panose="020B0509020102050004" pitchFamily="49" charset="77"/>
              </a:rPr>
              <a:t> &lt;- </a:t>
            </a:r>
            <a:r>
              <a:rPr lang="en-US" sz="2000" dirty="0" err="1">
                <a:latin typeface="JetBrains Mono" panose="020B0509020102050004" pitchFamily="49" charset="77"/>
              </a:rPr>
              <a:t>makeTxDbFromGFF</a:t>
            </a:r>
            <a:r>
              <a:rPr lang="en-US" sz="2000" dirty="0">
                <a:latin typeface="JetBrains Mono" panose="020B0509020102050004" pitchFamily="49" charset="77"/>
              </a:rPr>
              <a:t>(</a:t>
            </a:r>
          </a:p>
          <a:p>
            <a:pPr marL="0" indent="0">
              <a:buNone/>
            </a:pPr>
            <a:r>
              <a:rPr lang="en-US" sz="2000" dirty="0">
                <a:latin typeface="JetBrains Mono" panose="020B0509020102050004" pitchFamily="49" charset="77"/>
              </a:rPr>
              <a:t>"/</a:t>
            </a:r>
            <a:r>
              <a:rPr lang="en-US" sz="2000" dirty="0" err="1">
                <a:latin typeface="JetBrains Mono" panose="020B0509020102050004" pitchFamily="49" charset="77"/>
              </a:rPr>
              <a:t>seqdata</a:t>
            </a:r>
            <a:r>
              <a:rPr lang="en-US" sz="2000" dirty="0">
                <a:latin typeface="JetBrains Mono" panose="020B0509020102050004" pitchFamily="49" charset="77"/>
              </a:rPr>
              <a:t>/Genomes/</a:t>
            </a:r>
            <a:r>
              <a:rPr lang="en-US" sz="2000" dirty="0" err="1">
                <a:latin typeface="JetBrains Mono" panose="020B0509020102050004" pitchFamily="49" charset="77"/>
              </a:rPr>
              <a:t>Mus_musculus</a:t>
            </a:r>
            <a:r>
              <a:rPr lang="en-US" sz="2000" dirty="0">
                <a:latin typeface="JetBrains Mono" panose="020B0509020102050004" pitchFamily="49" charset="77"/>
              </a:rPr>
              <a:t>/Mus_musculus.GRCm38.81.gtf", </a:t>
            </a:r>
            <a:r>
              <a:rPr lang="en-US" sz="2000" dirty="0" err="1">
                <a:latin typeface="JetBrains Mono" panose="020B0509020102050004" pitchFamily="49" charset="77"/>
              </a:rPr>
              <a:t>circ_seqs</a:t>
            </a:r>
            <a:r>
              <a:rPr lang="en-US" sz="2000" dirty="0">
                <a:latin typeface="JetBrains Mono" panose="020B0509020102050004" pitchFamily="49" charset="77"/>
              </a:rPr>
              <a:t>=character(0))</a:t>
            </a:r>
          </a:p>
          <a:p>
            <a:pPr marL="0" indent="0">
              <a:buNone/>
            </a:pPr>
            <a:r>
              <a:rPr lang="en-US" sz="2000" dirty="0" err="1">
                <a:latin typeface="JetBrains Mono" panose="020B0509020102050004" pitchFamily="49" charset="77"/>
              </a:rPr>
              <a:t>exonsByGene</a:t>
            </a:r>
            <a:r>
              <a:rPr lang="en-US" sz="2000" dirty="0">
                <a:latin typeface="JetBrains Mono" panose="020B0509020102050004" pitchFamily="49" charset="77"/>
              </a:rPr>
              <a:t> &lt;- </a:t>
            </a:r>
            <a:r>
              <a:rPr lang="en-US" sz="2000" dirty="0" err="1">
                <a:latin typeface="JetBrains Mono" panose="020B0509020102050004" pitchFamily="49" charset="77"/>
              </a:rPr>
              <a:t>exonsBy</a:t>
            </a:r>
            <a:r>
              <a:rPr lang="en-US" sz="2000" dirty="0">
                <a:latin typeface="JetBrains Mono" panose="020B0509020102050004" pitchFamily="49" charset="77"/>
              </a:rPr>
              <a:t>(</a:t>
            </a:r>
            <a:r>
              <a:rPr lang="en-US" sz="2000" dirty="0" err="1">
                <a:latin typeface="JetBrains Mono" panose="020B0509020102050004" pitchFamily="49" charset="77"/>
              </a:rPr>
              <a:t>txdb</a:t>
            </a:r>
            <a:r>
              <a:rPr lang="en-US" sz="2000" dirty="0">
                <a:latin typeface="JetBrains Mono" panose="020B0509020102050004" pitchFamily="49" charset="77"/>
              </a:rPr>
              <a:t>, "gene")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12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BA53-A349-2C4F-951A-239BFB61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reads per gene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CE4CD-7BCF-794D-9193-6724E80A9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Counting reads takes a long time</a:t>
            </a:r>
          </a:p>
          <a:p>
            <a:r>
              <a:rPr lang="en-US" dirty="0"/>
              <a:t>We'll parallelize this</a:t>
            </a:r>
          </a:p>
          <a:p>
            <a:r>
              <a:rPr lang="en-US" dirty="0"/>
              <a:t>Need another library:</a:t>
            </a:r>
          </a:p>
          <a:p>
            <a:pPr marL="0" indent="0">
              <a:buNone/>
            </a:pPr>
            <a:r>
              <a:rPr lang="en-US" sz="2200" dirty="0" err="1">
                <a:latin typeface="JetBrains Mono" panose="020B0509020102050004" pitchFamily="49" charset="77"/>
              </a:rPr>
              <a:t>BiocManager</a:t>
            </a:r>
            <a:r>
              <a:rPr lang="en-US" sz="2200" dirty="0">
                <a:latin typeface="JetBrains Mono" panose="020B0509020102050004" pitchFamily="49" charset="77"/>
              </a:rPr>
              <a:t>::install("</a:t>
            </a:r>
            <a:r>
              <a:rPr lang="en-US" sz="2200" dirty="0" err="1">
                <a:latin typeface="JetBrains Mono" panose="020B0509020102050004" pitchFamily="49" charset="77"/>
              </a:rPr>
              <a:t>BiocParallel</a:t>
            </a:r>
            <a:r>
              <a:rPr lang="en-US" sz="2200" dirty="0">
                <a:latin typeface="JetBrains Mono" panose="020B0509020102050004" pitchFamily="49" charset="77"/>
              </a:rPr>
              <a:t>")</a:t>
            </a:r>
          </a:p>
          <a:p>
            <a:pPr marL="0" indent="0">
              <a:buNone/>
            </a:pPr>
            <a:r>
              <a:rPr lang="en-US" sz="2200" dirty="0">
                <a:latin typeface="JetBrains Mono" panose="020B0509020102050004" pitchFamily="49" charset="77"/>
              </a:rPr>
              <a:t>library(</a:t>
            </a:r>
            <a:r>
              <a:rPr lang="en-US" sz="2200" dirty="0" err="1">
                <a:latin typeface="JetBrains Mono" panose="020B0509020102050004" pitchFamily="49" charset="77"/>
              </a:rPr>
              <a:t>BiocParallel</a:t>
            </a:r>
            <a:r>
              <a:rPr lang="en-US" sz="2200" dirty="0">
                <a:latin typeface="JetBrains Mono" panose="020B0509020102050004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latin typeface="JetBrains Mono" panose="020B0509020102050004" pitchFamily="49" charset="77"/>
              </a:rPr>
              <a:t>register(</a:t>
            </a:r>
            <a:r>
              <a:rPr lang="en-US" sz="2200" dirty="0" err="1">
                <a:latin typeface="JetBrains Mono" panose="020B0509020102050004" pitchFamily="49" charset="77"/>
              </a:rPr>
              <a:t>MulticoreParam</a:t>
            </a:r>
            <a:r>
              <a:rPr lang="en-US" sz="2200" dirty="0">
                <a:latin typeface="JetBrains Mono" panose="020B0509020102050004" pitchFamily="49" charset="77"/>
              </a:rPr>
              <a:t>(workers=4))</a:t>
            </a:r>
          </a:p>
          <a:p>
            <a:pPr marL="0" indent="0">
              <a:buNone/>
            </a:pPr>
            <a:r>
              <a:rPr lang="en-US" sz="2200" dirty="0">
                <a:latin typeface="JetBrains Mono" panose="020B0509020102050004" pitchFamily="49" charset="77"/>
              </a:rPr>
              <a:t>se &lt;- </a:t>
            </a:r>
            <a:r>
              <a:rPr lang="en-US" sz="2200" dirty="0" err="1">
                <a:latin typeface="JetBrains Mono" panose="020B0509020102050004" pitchFamily="49" charset="77"/>
              </a:rPr>
              <a:t>summarizeOverlaps</a:t>
            </a:r>
            <a:r>
              <a:rPr lang="en-US" sz="2200" dirty="0">
                <a:latin typeface="JetBrains Mono" panose="020B0509020102050004" pitchFamily="49" charset="77"/>
              </a:rPr>
              <a:t>(features=</a:t>
            </a:r>
            <a:r>
              <a:rPr lang="en-US" sz="2200" dirty="0" err="1">
                <a:latin typeface="JetBrains Mono" panose="020B0509020102050004" pitchFamily="49" charset="77"/>
              </a:rPr>
              <a:t>exonsByGene</a:t>
            </a:r>
            <a:r>
              <a:rPr lang="en-US" sz="2200" dirty="0">
                <a:latin typeface="JetBrains Mono" panose="020B0509020102050004" pitchFamily="49" charset="77"/>
              </a:rPr>
              <a:t>, reads=</a:t>
            </a:r>
            <a:r>
              <a:rPr lang="en-US" sz="2200" dirty="0" err="1">
                <a:latin typeface="JetBrains Mono" panose="020B0509020102050004" pitchFamily="49" charset="77"/>
              </a:rPr>
              <a:t>bamfiles</a:t>
            </a:r>
            <a:r>
              <a:rPr lang="en-US" sz="2200" dirty="0">
                <a:latin typeface="JetBrains Mono" panose="020B0509020102050004" pitchFamily="49" charset="77"/>
              </a:rPr>
              <a:t>,</a:t>
            </a:r>
          </a:p>
          <a:p>
            <a:pPr marL="0" indent="0">
              <a:buNone/>
            </a:pPr>
            <a:r>
              <a:rPr lang="en-US" sz="2200" dirty="0">
                <a:latin typeface="JetBrains Mono" panose="020B0509020102050004" pitchFamily="49" charset="77"/>
              </a:rPr>
              <a:t>  mode="</a:t>
            </a:r>
            <a:r>
              <a:rPr lang="en-US" sz="2200" dirty="0" err="1">
                <a:latin typeface="JetBrains Mono" panose="020B0509020102050004" pitchFamily="49" charset="77"/>
              </a:rPr>
              <a:t>IntersectionStrict</a:t>
            </a:r>
            <a:r>
              <a:rPr lang="en-US" sz="2200" dirty="0">
                <a:latin typeface="JetBrains Mono" panose="020B0509020102050004" pitchFamily="49" charset="77"/>
              </a:rPr>
              <a:t>", </a:t>
            </a:r>
            <a:r>
              <a:rPr lang="en-US" sz="2200" dirty="0" err="1">
                <a:latin typeface="JetBrains Mono" panose="020B0509020102050004" pitchFamily="49" charset="77"/>
              </a:rPr>
              <a:t>singleEnd</a:t>
            </a:r>
            <a:r>
              <a:rPr lang="en-US" sz="2200" dirty="0">
                <a:latin typeface="JetBrains Mono" panose="020B0509020102050004" pitchFamily="49" charset="77"/>
              </a:rPr>
              <a:t>=F, </a:t>
            </a:r>
            <a:r>
              <a:rPr lang="en-US" sz="2200" dirty="0" err="1">
                <a:latin typeface="JetBrains Mono" panose="020B0509020102050004" pitchFamily="49" charset="77"/>
              </a:rPr>
              <a:t>ignore.strand</a:t>
            </a:r>
            <a:r>
              <a:rPr lang="en-US" sz="2200" dirty="0">
                <a:latin typeface="JetBrains Mono" panose="020B0509020102050004" pitchFamily="49" charset="77"/>
              </a:rPr>
              <a:t>=T, fragments=F)</a:t>
            </a:r>
          </a:p>
        </p:txBody>
      </p:sp>
    </p:spTree>
    <p:extLst>
      <p:ext uri="{BB962C8B-B14F-4D97-AF65-F5344CB8AC3E}">
        <p14:creationId xmlns:p14="http://schemas.microsoft.com/office/powerpoint/2010/main" val="2991056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5536-A8E7-8241-9CC1-4F1D3AA61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The summarized experiment object</a:t>
            </a:r>
          </a:p>
        </p:txBody>
      </p:sp>
      <p:pic>
        <p:nvPicPr>
          <p:cNvPr id="7" name="Picture 6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7A34834-6843-134D-BBAB-A479B81EF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115" y="987425"/>
            <a:ext cx="6130346" cy="487362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A48C0-B321-1144-9E3F-F5176EC72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result of the </a:t>
            </a:r>
            <a:r>
              <a:rPr lang="en-US" dirty="0" err="1"/>
              <a:t>summarizeOverlaps</a:t>
            </a:r>
            <a:r>
              <a:rPr lang="en-US" dirty="0"/>
              <a:t>() function is a Summarized Experiment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or more matrices with meta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of the matrices are samples (bam files)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Rows are features (genes)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associated meta-data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the rows, information about each gene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the columns, information about each sample</a:t>
            </a:r>
          </a:p>
        </p:txBody>
      </p:sp>
      <p:sp>
        <p:nvSpPr>
          <p:cNvPr id="4" name="AutoShape 2" descr="Summarized Experiment">
            <a:extLst>
              <a:ext uri="{FF2B5EF4-FFF2-40B4-BE49-F238E27FC236}">
                <a16:creationId xmlns:a16="http://schemas.microsoft.com/office/drawing/2014/main" id="{48624CDD-E14F-D145-9A33-77B52E8C37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41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953CC6-BAE2-154E-8608-35A6B35D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sample data to the column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25A80-00EB-7A44-B400-089996953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Examine the column names:</a:t>
            </a:r>
          </a:p>
          <a:p>
            <a:pPr marL="0" indent="0">
              <a:buNone/>
            </a:pPr>
            <a:r>
              <a:rPr lang="en-US" dirty="0" err="1">
                <a:latin typeface="JetBrains Mono" panose="020B0509020102050004" pitchFamily="49" charset="77"/>
              </a:rPr>
              <a:t>colnames</a:t>
            </a:r>
            <a:r>
              <a:rPr lang="en-US" dirty="0">
                <a:latin typeface="JetBrains Mono" panose="020B0509020102050004" pitchFamily="49" charset="77"/>
              </a:rPr>
              <a:t>(se)</a:t>
            </a:r>
          </a:p>
          <a:p>
            <a:r>
              <a:rPr lang="en-US" dirty="0"/>
              <a:t>Note these are the bam files names</a:t>
            </a:r>
          </a:p>
          <a:p>
            <a:r>
              <a:rPr lang="en-US" dirty="0"/>
              <a:t>We want to associate the diet with each sample</a:t>
            </a:r>
          </a:p>
          <a:p>
            <a:pPr lvl="1"/>
            <a:r>
              <a:rPr lang="en-US" dirty="0"/>
              <a:t>"Chow" or "HF"</a:t>
            </a:r>
          </a:p>
          <a:p>
            <a:pPr marL="0" indent="0">
              <a:buNone/>
            </a:pPr>
            <a:r>
              <a:rPr lang="en-US" sz="1900" dirty="0">
                <a:latin typeface="JetBrains Mono" panose="020B0509020102050004" pitchFamily="49" charset="77"/>
              </a:rPr>
              <a:t>#create an empty vector:</a:t>
            </a:r>
          </a:p>
          <a:p>
            <a:pPr marL="0" indent="0">
              <a:buNone/>
            </a:pPr>
            <a:r>
              <a:rPr lang="en-US" sz="1900" dirty="0">
                <a:latin typeface="JetBrains Mono" panose="020B0509020102050004" pitchFamily="49" charset="77"/>
              </a:rPr>
              <a:t>diet &lt;- character(10)</a:t>
            </a:r>
          </a:p>
          <a:p>
            <a:pPr marL="0" indent="0">
              <a:buNone/>
            </a:pPr>
            <a:r>
              <a:rPr lang="en-US" sz="1900" dirty="0">
                <a:latin typeface="JetBrains Mono" panose="020B0509020102050004" pitchFamily="49" charset="77"/>
              </a:rPr>
              <a:t>diet[</a:t>
            </a:r>
            <a:r>
              <a:rPr lang="en-US" sz="1900" dirty="0" err="1">
                <a:latin typeface="JetBrains Mono" panose="020B0509020102050004" pitchFamily="49" charset="77"/>
              </a:rPr>
              <a:t>grepl</a:t>
            </a:r>
            <a:r>
              <a:rPr lang="en-US" sz="1900" dirty="0">
                <a:latin typeface="JetBrains Mono" panose="020B0509020102050004" pitchFamily="49" charset="77"/>
              </a:rPr>
              <a:t>("Chow", </a:t>
            </a:r>
            <a:r>
              <a:rPr lang="en-US" sz="1900" dirty="0" err="1">
                <a:latin typeface="JetBrains Mono" panose="020B0509020102050004" pitchFamily="49" charset="77"/>
              </a:rPr>
              <a:t>colnames</a:t>
            </a:r>
            <a:r>
              <a:rPr lang="en-US" sz="1900" dirty="0">
                <a:latin typeface="JetBrains Mono" panose="020B0509020102050004" pitchFamily="49" charset="77"/>
              </a:rPr>
              <a:t>(se))] &lt;- "Chow"</a:t>
            </a:r>
          </a:p>
          <a:p>
            <a:pPr marL="0" indent="0">
              <a:buNone/>
            </a:pPr>
            <a:r>
              <a:rPr lang="en-US" sz="1900" dirty="0">
                <a:latin typeface="JetBrains Mono" panose="020B0509020102050004" pitchFamily="49" charset="77"/>
              </a:rPr>
              <a:t>diet[</a:t>
            </a:r>
            <a:r>
              <a:rPr lang="en-US" sz="1900" dirty="0" err="1">
                <a:latin typeface="JetBrains Mono" panose="020B0509020102050004" pitchFamily="49" charset="77"/>
              </a:rPr>
              <a:t>grepl</a:t>
            </a:r>
            <a:r>
              <a:rPr lang="en-US" sz="1900" dirty="0">
                <a:latin typeface="JetBrains Mono" panose="020B0509020102050004" pitchFamily="49" charset="77"/>
              </a:rPr>
              <a:t>("HF", </a:t>
            </a:r>
            <a:r>
              <a:rPr lang="en-US" sz="1900" dirty="0" err="1">
                <a:latin typeface="JetBrains Mono" panose="020B0509020102050004" pitchFamily="49" charset="77"/>
              </a:rPr>
              <a:t>colnames</a:t>
            </a:r>
            <a:r>
              <a:rPr lang="en-US" sz="1900" dirty="0">
                <a:latin typeface="JetBrains Mono" panose="020B0509020102050004" pitchFamily="49" charset="77"/>
              </a:rPr>
              <a:t>(se))] &lt;- "HF"</a:t>
            </a:r>
          </a:p>
          <a:p>
            <a:pPr marL="0" indent="0">
              <a:buNone/>
            </a:pPr>
            <a:r>
              <a:rPr lang="en-US" sz="1900" dirty="0" err="1">
                <a:latin typeface="JetBrains Mono" panose="020B0509020102050004" pitchFamily="49" charset="77"/>
              </a:rPr>
              <a:t>colData</a:t>
            </a:r>
            <a:r>
              <a:rPr lang="en-US" sz="1900" dirty="0">
                <a:latin typeface="JetBrains Mono" panose="020B0509020102050004" pitchFamily="49" charset="77"/>
              </a:rPr>
              <a:t>(se) &lt;- </a:t>
            </a:r>
            <a:r>
              <a:rPr lang="en-US" sz="1900" dirty="0" err="1">
                <a:latin typeface="JetBrains Mono" panose="020B0509020102050004" pitchFamily="49" charset="77"/>
              </a:rPr>
              <a:t>DataFrame</a:t>
            </a:r>
            <a:r>
              <a:rPr lang="en-US" sz="1900" dirty="0">
                <a:latin typeface="JetBrains Mono" panose="020B0509020102050004" pitchFamily="49" charset="77"/>
              </a:rPr>
              <a:t>(sample=</a:t>
            </a:r>
            <a:r>
              <a:rPr lang="en-US" sz="1900" dirty="0" err="1">
                <a:latin typeface="JetBrains Mono" panose="020B0509020102050004" pitchFamily="49" charset="77"/>
              </a:rPr>
              <a:t>colnames</a:t>
            </a:r>
            <a:r>
              <a:rPr lang="en-US" sz="1900" dirty="0">
                <a:latin typeface="JetBrains Mono" panose="020B0509020102050004" pitchFamily="49" charset="77"/>
              </a:rPr>
              <a:t>(se), Diet=diet)</a:t>
            </a:r>
          </a:p>
        </p:txBody>
      </p:sp>
    </p:spTree>
    <p:extLst>
      <p:ext uri="{BB962C8B-B14F-4D97-AF65-F5344CB8AC3E}">
        <p14:creationId xmlns:p14="http://schemas.microsoft.com/office/powerpoint/2010/main" val="3952468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FD8CE-175B-2340-9CB6-B340BBBAF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D2700-F145-5546-BBAD-BA5CE182A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We'll look at just the statistics we need to understand</a:t>
            </a:r>
          </a:p>
          <a:p>
            <a:r>
              <a:rPr lang="en-US" dirty="0"/>
              <a:t>Hypothesis testing</a:t>
            </a:r>
          </a:p>
          <a:p>
            <a:r>
              <a:rPr lang="en-US" dirty="0"/>
              <a:t>p-values</a:t>
            </a:r>
          </a:p>
          <a:p>
            <a:r>
              <a:rPr lang="en-US" dirty="0"/>
              <a:t>Explanatory and response variables</a:t>
            </a:r>
          </a:p>
          <a:p>
            <a:r>
              <a:rPr lang="en-US" dirty="0"/>
              <a:t>Multiple testing</a:t>
            </a:r>
          </a:p>
        </p:txBody>
      </p:sp>
    </p:spTree>
    <p:extLst>
      <p:ext uri="{BB962C8B-B14F-4D97-AF65-F5344CB8AC3E}">
        <p14:creationId xmlns:p14="http://schemas.microsoft.com/office/powerpoint/2010/main" val="1249870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1C88-EE63-DB44-BDCF-B1ED0B28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AC53B-50C6-724B-90CB-C2C9F0F7D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hypothesis testing we essentially set up a competition between two competing hypotheses</a:t>
            </a:r>
          </a:p>
          <a:p>
            <a:r>
              <a:rPr lang="en-US" dirty="0"/>
              <a:t>The </a:t>
            </a:r>
            <a:r>
              <a:rPr lang="en-US" i="1" dirty="0"/>
              <a:t>null hypothesis</a:t>
            </a:r>
            <a:r>
              <a:rPr lang="en-US" dirty="0"/>
              <a:t> is what we would typically believe to be true without any evidence to the contrary</a:t>
            </a:r>
          </a:p>
          <a:p>
            <a:pPr lvl="1"/>
            <a:r>
              <a:rPr lang="en-US" dirty="0"/>
              <a:t>It's usually (always?) what we want to </a:t>
            </a:r>
            <a:r>
              <a:rPr lang="en-US" i="1" dirty="0"/>
              <a:t>disprove</a:t>
            </a:r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alternative hypothesis</a:t>
            </a:r>
            <a:r>
              <a:rPr lang="en-US" dirty="0"/>
              <a:t> is the logical opposite</a:t>
            </a:r>
          </a:p>
          <a:p>
            <a:pPr lvl="1"/>
            <a:r>
              <a:rPr lang="en-US" dirty="0"/>
              <a:t>It's usually what we want to prove (or at least provide evidence for)</a:t>
            </a:r>
          </a:p>
          <a:p>
            <a:r>
              <a:rPr lang="en-US" dirty="0"/>
              <a:t>For example, we might have a null hypothesis:</a:t>
            </a:r>
            <a:br>
              <a:rPr lang="en-US" dirty="0"/>
            </a:br>
            <a:r>
              <a:rPr lang="en-US" i="1" dirty="0"/>
              <a:t>There is no difference in expression of the Muc1 gene in the pancreas of mice fed the High Fat diet and mice fed the Chow diet </a:t>
            </a:r>
          </a:p>
          <a:p>
            <a:r>
              <a:rPr lang="en-US" dirty="0"/>
              <a:t>The alterative hypothesis would be</a:t>
            </a:r>
            <a:br>
              <a:rPr lang="en-US" dirty="0"/>
            </a:br>
            <a:r>
              <a:rPr lang="en-US" i="1" dirty="0"/>
              <a:t>The expression of Muc1 in the pancreas of mice fed the High Fat diet is different to that of mice fed the Chow diet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87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9986-AAF6-FF41-BC12-B5B4DCBF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hypothesis testing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9AA40-9CC5-6F49-9D1D-E83B67629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Ideally, we would like to be able to look at our data and compute how likely the null and alternative hypotheses are, given the data</a:t>
            </a:r>
          </a:p>
          <a:p>
            <a:r>
              <a:rPr lang="en-US" dirty="0"/>
              <a:t>Unfortunately, this is not possible to </a:t>
            </a:r>
            <a:r>
              <a:rPr lang="en-US" dirty="0" err="1"/>
              <a:t>caclulate</a:t>
            </a:r>
            <a:r>
              <a:rPr lang="en-US" dirty="0"/>
              <a:t>!</a:t>
            </a:r>
          </a:p>
          <a:p>
            <a:r>
              <a:rPr lang="en-US" dirty="0"/>
              <a:t>Instead, we calculate the following:</a:t>
            </a:r>
          </a:p>
          <a:p>
            <a:r>
              <a:rPr lang="en-US" i="1" dirty="0"/>
              <a:t>If the null hypothesis were true, how likely would it be that we would see data as extreme as the data we actually got</a:t>
            </a:r>
          </a:p>
          <a:p>
            <a:pPr lvl="1"/>
            <a:r>
              <a:rPr lang="en-US" dirty="0"/>
              <a:t>This likelihood is called the </a:t>
            </a:r>
            <a:r>
              <a:rPr lang="en-US" i="1" dirty="0"/>
              <a:t>p-value</a:t>
            </a:r>
          </a:p>
          <a:p>
            <a:r>
              <a:rPr lang="en-US" dirty="0"/>
              <a:t>If the data we got would be unlikely, we conclude that the null hypothesis is false and that the alternative hypothesis is true</a:t>
            </a:r>
          </a:p>
        </p:txBody>
      </p:sp>
    </p:spTree>
    <p:extLst>
      <p:ext uri="{BB962C8B-B14F-4D97-AF65-F5344CB8AC3E}">
        <p14:creationId xmlns:p14="http://schemas.microsoft.com/office/powerpoint/2010/main" val="1666236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8A13-FD9C-0A4E-90E2-9B8C8391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85200-1ADF-F143-8F55-235FC6B2B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Suppose we measure the expression of Muc1 in four mice fed a Chow diet, and four mice fed a High-Fat diet</a:t>
            </a:r>
          </a:p>
          <a:p>
            <a:pPr lvl="1"/>
            <a:r>
              <a:rPr lang="en-US" dirty="0"/>
              <a:t>We can measure the difference in average expression between the two groups</a:t>
            </a:r>
          </a:p>
          <a:p>
            <a:r>
              <a:rPr lang="en-US" dirty="0"/>
              <a:t>If we repeated this experiment, we would get a (slightly) different result</a:t>
            </a:r>
          </a:p>
          <a:p>
            <a:r>
              <a:rPr lang="en-US" dirty="0"/>
              <a:t>Even if, in reality, there were no actually effect of diet on Muc1 expression, then we would always observe </a:t>
            </a:r>
            <a:r>
              <a:rPr lang="en-US" i="1" dirty="0"/>
              <a:t>some</a:t>
            </a:r>
            <a:r>
              <a:rPr lang="en-US" dirty="0"/>
              <a:t> difference in the experiment</a:t>
            </a:r>
          </a:p>
          <a:p>
            <a:r>
              <a:rPr lang="en-US" dirty="0"/>
              <a:t>In hypothesis testing, we ask the question: "If the null hypothesis is true, i.e. if there is no effect of diet on Muc1 expression in reality, how often would I see differences as large as the ones I see in my actual experiment?"</a:t>
            </a:r>
          </a:p>
          <a:p>
            <a:pPr lvl="1"/>
            <a:r>
              <a:rPr lang="en-US" dirty="0"/>
              <a:t>This is the p-value</a:t>
            </a:r>
          </a:p>
          <a:p>
            <a:pPr lvl="1"/>
            <a:r>
              <a:rPr lang="en-US" dirty="0"/>
              <a:t>Under some assumptions, we can calculate this value</a:t>
            </a:r>
          </a:p>
        </p:txBody>
      </p:sp>
    </p:spTree>
    <p:extLst>
      <p:ext uri="{BB962C8B-B14F-4D97-AF65-F5344CB8AC3E}">
        <p14:creationId xmlns:p14="http://schemas.microsoft.com/office/powerpoint/2010/main" val="1350852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FC75-4432-F14E-8CA4-B0AF327B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Explanatory and response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18A4-7963-5F44-BA7C-84A9D71D6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any experiment, we can divide the variables into </a:t>
            </a:r>
            <a:r>
              <a:rPr lang="en-US" i="1" dirty="0"/>
              <a:t>explanatory</a:t>
            </a:r>
            <a:r>
              <a:rPr lang="en-US" dirty="0"/>
              <a:t> and </a:t>
            </a:r>
            <a:r>
              <a:rPr lang="en-US" i="1" dirty="0"/>
              <a:t>response</a:t>
            </a:r>
            <a:r>
              <a:rPr lang="en-US" dirty="0"/>
              <a:t> variables</a:t>
            </a:r>
          </a:p>
          <a:p>
            <a:r>
              <a:rPr lang="en-US" dirty="0"/>
              <a:t>The </a:t>
            </a:r>
            <a:r>
              <a:rPr lang="en-US" i="1" dirty="0"/>
              <a:t>response</a:t>
            </a:r>
            <a:r>
              <a:rPr lang="en-US" dirty="0"/>
              <a:t> variables are the outcomes of the experiment</a:t>
            </a:r>
          </a:p>
          <a:p>
            <a:pPr lvl="1"/>
            <a:r>
              <a:rPr lang="en-US" dirty="0"/>
              <a:t>The values which we are interested in measuring</a:t>
            </a:r>
          </a:p>
          <a:p>
            <a:r>
              <a:rPr lang="en-US" dirty="0"/>
              <a:t>The </a:t>
            </a:r>
            <a:r>
              <a:rPr lang="en-US" i="1" dirty="0"/>
              <a:t>explanatory</a:t>
            </a:r>
            <a:r>
              <a:rPr lang="en-US" dirty="0"/>
              <a:t> variables are the variables which we believe may affect the response variable</a:t>
            </a:r>
          </a:p>
          <a:p>
            <a:r>
              <a:rPr lang="en-US" dirty="0"/>
              <a:t>So in our example the response variable is</a:t>
            </a:r>
          </a:p>
          <a:p>
            <a:pPr lvl="1"/>
            <a:r>
              <a:rPr lang="en-US" dirty="0"/>
              <a:t> </a:t>
            </a:r>
          </a:p>
          <a:p>
            <a:r>
              <a:rPr lang="en-US" dirty="0"/>
              <a:t>and the explanatory variable(s) are</a:t>
            </a:r>
          </a:p>
          <a:p>
            <a:pPr lvl="1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060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FC75-4432-F14E-8CA4-B0AF327B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Explanatory and response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18A4-7963-5F44-BA7C-84A9D71D6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any experiment, we can divide the variables into </a:t>
            </a:r>
            <a:r>
              <a:rPr lang="en-US" i="1" dirty="0"/>
              <a:t>explanatory</a:t>
            </a:r>
            <a:r>
              <a:rPr lang="en-US" dirty="0"/>
              <a:t> and </a:t>
            </a:r>
            <a:r>
              <a:rPr lang="en-US" i="1" dirty="0"/>
              <a:t>response</a:t>
            </a:r>
            <a:r>
              <a:rPr lang="en-US" dirty="0"/>
              <a:t> variables</a:t>
            </a:r>
          </a:p>
          <a:p>
            <a:r>
              <a:rPr lang="en-US" dirty="0"/>
              <a:t>The </a:t>
            </a:r>
            <a:r>
              <a:rPr lang="en-US" i="1" dirty="0"/>
              <a:t>response</a:t>
            </a:r>
            <a:r>
              <a:rPr lang="en-US" dirty="0"/>
              <a:t> variables are the outcomes of the experiment</a:t>
            </a:r>
          </a:p>
          <a:p>
            <a:pPr lvl="1"/>
            <a:r>
              <a:rPr lang="en-US" dirty="0"/>
              <a:t>The values which we are interested in measuring</a:t>
            </a:r>
          </a:p>
          <a:p>
            <a:r>
              <a:rPr lang="en-US" dirty="0"/>
              <a:t>The </a:t>
            </a:r>
            <a:r>
              <a:rPr lang="en-US" i="1" dirty="0"/>
              <a:t>explanatory</a:t>
            </a:r>
            <a:r>
              <a:rPr lang="en-US" dirty="0"/>
              <a:t> variables are the variables which we believe may affect the response variable</a:t>
            </a:r>
          </a:p>
          <a:p>
            <a:r>
              <a:rPr lang="en-US" dirty="0"/>
              <a:t>So in our example the response variable is</a:t>
            </a:r>
          </a:p>
          <a:p>
            <a:pPr lvl="1"/>
            <a:r>
              <a:rPr lang="en-US" dirty="0"/>
              <a:t> Expression of Muc1</a:t>
            </a:r>
          </a:p>
          <a:p>
            <a:r>
              <a:rPr lang="en-US" dirty="0"/>
              <a:t>and the explanatory variable(s) are</a:t>
            </a:r>
          </a:p>
          <a:p>
            <a:pPr lvl="1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7598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FC75-4432-F14E-8CA4-B0AF327B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Explanatory and response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18A4-7963-5F44-BA7C-84A9D71D6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any experiment, we can divide the variables into </a:t>
            </a:r>
            <a:r>
              <a:rPr lang="en-US" i="1" dirty="0"/>
              <a:t>explanatory</a:t>
            </a:r>
            <a:r>
              <a:rPr lang="en-US" dirty="0"/>
              <a:t> and </a:t>
            </a:r>
            <a:r>
              <a:rPr lang="en-US" i="1" dirty="0"/>
              <a:t>response</a:t>
            </a:r>
            <a:r>
              <a:rPr lang="en-US" dirty="0"/>
              <a:t> variables</a:t>
            </a:r>
          </a:p>
          <a:p>
            <a:r>
              <a:rPr lang="en-US" dirty="0"/>
              <a:t>The </a:t>
            </a:r>
            <a:r>
              <a:rPr lang="en-US" i="1" dirty="0"/>
              <a:t>response</a:t>
            </a:r>
            <a:r>
              <a:rPr lang="en-US" dirty="0"/>
              <a:t> variables are the outcomes of the experiment</a:t>
            </a:r>
          </a:p>
          <a:p>
            <a:pPr lvl="1"/>
            <a:r>
              <a:rPr lang="en-US" dirty="0"/>
              <a:t>The values which we are interested in measuring</a:t>
            </a:r>
          </a:p>
          <a:p>
            <a:r>
              <a:rPr lang="en-US" dirty="0"/>
              <a:t>The </a:t>
            </a:r>
            <a:r>
              <a:rPr lang="en-US" i="1" dirty="0"/>
              <a:t>explanatory</a:t>
            </a:r>
            <a:r>
              <a:rPr lang="en-US" dirty="0"/>
              <a:t> variables are the variables which we believe may affect the response variable</a:t>
            </a:r>
          </a:p>
          <a:p>
            <a:r>
              <a:rPr lang="en-US" dirty="0"/>
              <a:t>So in our example the response variable is</a:t>
            </a:r>
          </a:p>
          <a:p>
            <a:pPr lvl="1"/>
            <a:r>
              <a:rPr lang="en-US" dirty="0"/>
              <a:t> Expression of Muc1</a:t>
            </a:r>
          </a:p>
          <a:p>
            <a:r>
              <a:rPr lang="en-US" dirty="0"/>
              <a:t>and the explanatory variable(s) are</a:t>
            </a:r>
          </a:p>
          <a:p>
            <a:pPr lvl="1"/>
            <a:r>
              <a:rPr lang="en-US" dirty="0"/>
              <a:t> Diet (and strain, sex, age…)</a:t>
            </a:r>
          </a:p>
        </p:txBody>
      </p:sp>
    </p:spTree>
    <p:extLst>
      <p:ext uri="{BB962C8B-B14F-4D97-AF65-F5344CB8AC3E}">
        <p14:creationId xmlns:p14="http://schemas.microsoft.com/office/powerpoint/2010/main" val="3454199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6450-E092-774A-AD00-89989F05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Explanatory and response variables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F95C-849B-A442-A916-C842C15DF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 has a specific syntax for experimental models</a:t>
            </a:r>
          </a:p>
          <a:p>
            <a:pPr lvl="1"/>
            <a:r>
              <a:rPr lang="en-US" dirty="0"/>
              <a:t>I.e. for specifying relationships between variables</a:t>
            </a:r>
          </a:p>
          <a:p>
            <a:r>
              <a:rPr lang="en-US" dirty="0"/>
              <a:t>The R syntax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y ~ x</a:t>
            </a:r>
          </a:p>
          <a:p>
            <a:r>
              <a:rPr lang="en-US" dirty="0"/>
              <a:t>means that y is the response variable and x is an explanatory variable</a:t>
            </a:r>
          </a:p>
          <a:p>
            <a:r>
              <a:rPr lang="en-US" dirty="0"/>
              <a:t>We can use this syntax to test the hypothesis that the value of x affects the value of y</a:t>
            </a:r>
          </a:p>
          <a:p>
            <a:r>
              <a:rPr lang="en-US" dirty="0"/>
              <a:t>The syntax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z ~ x + y</a:t>
            </a:r>
          </a:p>
          <a:p>
            <a:r>
              <a:rPr lang="en-US" dirty="0"/>
              <a:t>means that x and y are explanatory variables, and z is the response</a:t>
            </a:r>
          </a:p>
        </p:txBody>
      </p:sp>
    </p:spTree>
    <p:extLst>
      <p:ext uri="{BB962C8B-B14F-4D97-AF65-F5344CB8AC3E}">
        <p14:creationId xmlns:p14="http://schemas.microsoft.com/office/powerpoint/2010/main" val="877190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A146-D861-1348-83A9-3D9FA88E3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7BAB-CEC3-E046-8310-9A1323168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our differential expression experiment, we are actually testing the expression of 46,000 genes</a:t>
            </a:r>
          </a:p>
          <a:p>
            <a:pPr lvl="1"/>
            <a:r>
              <a:rPr lang="en-US" dirty="0"/>
              <a:t>We compute a p-value for each gene</a:t>
            </a:r>
          </a:p>
          <a:p>
            <a:r>
              <a:rPr lang="en-US" dirty="0"/>
              <a:t>Suppose diet had no effect whatsoever on gene expression in the pancreas</a:t>
            </a:r>
          </a:p>
          <a:p>
            <a:r>
              <a:rPr lang="en-US" dirty="0"/>
              <a:t>How many times do you think we would see a p-value less than 0.05?</a:t>
            </a:r>
          </a:p>
        </p:txBody>
      </p:sp>
    </p:spTree>
    <p:extLst>
      <p:ext uri="{BB962C8B-B14F-4D97-AF65-F5344CB8AC3E}">
        <p14:creationId xmlns:p14="http://schemas.microsoft.com/office/powerpoint/2010/main" val="978998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A146-D861-1348-83A9-3D9FA88E3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7BAB-CEC3-E046-8310-9A1323168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our differential expression experiment, we are actually testing the expression of 46,000 genes</a:t>
            </a:r>
          </a:p>
          <a:p>
            <a:pPr lvl="1"/>
            <a:r>
              <a:rPr lang="en-US" dirty="0"/>
              <a:t>We compute a p-value for each gene</a:t>
            </a:r>
          </a:p>
          <a:p>
            <a:r>
              <a:rPr lang="en-US" dirty="0"/>
              <a:t>Suppose diet had no effect whatsoever on gene expression in the pancreas</a:t>
            </a:r>
          </a:p>
          <a:p>
            <a:r>
              <a:rPr lang="en-US" dirty="0"/>
              <a:t>How many times do you think we would see a p-value less than 0.05?</a:t>
            </a:r>
          </a:p>
          <a:p>
            <a:pPr lvl="1"/>
            <a:r>
              <a:rPr lang="en-US" dirty="0"/>
              <a:t>If the null hypothesis is true, there is a 0.05 chance we would get data extreme enough to give us a p-value less than 0.05</a:t>
            </a:r>
          </a:p>
          <a:p>
            <a:pPr lvl="1"/>
            <a:r>
              <a:rPr lang="en-US" dirty="0"/>
              <a:t>So we would typically see 2,300 genes with p-values less than 0.05</a:t>
            </a:r>
          </a:p>
          <a:p>
            <a:pPr lvl="1"/>
            <a:r>
              <a:rPr lang="en-US" dirty="0"/>
              <a:t>Even if none were affected by diet!</a:t>
            </a:r>
          </a:p>
        </p:txBody>
      </p:sp>
    </p:spTree>
    <p:extLst>
      <p:ext uri="{BB962C8B-B14F-4D97-AF65-F5344CB8AC3E}">
        <p14:creationId xmlns:p14="http://schemas.microsoft.com/office/powerpoint/2010/main" val="3802291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638E-E1C3-E24E-90A3-EF4CEB2F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Adjusted p-values and False Discovery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4B42-BA12-C442-9EB3-2A929CB53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technique for adjusting p-values in the context of multiple hypothesis testing called the </a:t>
            </a:r>
            <a:r>
              <a:rPr lang="en-US" dirty="0" err="1"/>
              <a:t>Benjamini</a:t>
            </a:r>
            <a:r>
              <a:rPr lang="en-US" dirty="0"/>
              <a:t>-Hochberg procedure</a:t>
            </a:r>
          </a:p>
          <a:p>
            <a:r>
              <a:rPr lang="en-US" dirty="0"/>
              <a:t>The resulting p-values are at least as large as the original p-values</a:t>
            </a:r>
          </a:p>
          <a:p>
            <a:r>
              <a:rPr lang="en-US" dirty="0"/>
              <a:t>If we impose a cutoff of, for example, 0.1 for the </a:t>
            </a:r>
            <a:r>
              <a:rPr lang="en-US" dirty="0" err="1"/>
              <a:t>Benjamini</a:t>
            </a:r>
            <a:r>
              <a:rPr lang="en-US" dirty="0"/>
              <a:t>-Hochberg adjusted p-value, approximately 10% of the genes that survive that cutoff are estimated to be false positives</a:t>
            </a:r>
          </a:p>
          <a:p>
            <a:r>
              <a:rPr lang="en-US" dirty="0"/>
              <a:t>This is called "controlling the false discovery rate"</a:t>
            </a:r>
          </a:p>
        </p:txBody>
      </p:sp>
    </p:spTree>
    <p:extLst>
      <p:ext uri="{BB962C8B-B14F-4D97-AF65-F5344CB8AC3E}">
        <p14:creationId xmlns:p14="http://schemas.microsoft.com/office/powerpoint/2010/main" val="3406144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67F6-EC17-FE46-9120-F4D5FEC5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DESeq2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6B95B-4CEC-EB4A-B3A0-4FC8BFC0B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create a </a:t>
            </a:r>
            <a:r>
              <a:rPr lang="en-US" dirty="0" err="1"/>
              <a:t>DESeq</a:t>
            </a:r>
            <a:r>
              <a:rPr lang="en-US" dirty="0"/>
              <a:t> data set from our Summarized Experiment:</a:t>
            </a:r>
          </a:p>
          <a:p>
            <a:pPr marL="0" indent="0">
              <a:buNone/>
            </a:pPr>
            <a:r>
              <a:rPr lang="en-US" dirty="0" err="1">
                <a:latin typeface="JetBrains Mono" panose="020B0509020102050004" pitchFamily="49" charset="77"/>
              </a:rPr>
              <a:t>dds</a:t>
            </a:r>
            <a:r>
              <a:rPr lang="en-US" dirty="0">
                <a:latin typeface="JetBrains Mono" panose="020B0509020102050004" pitchFamily="49" charset="77"/>
              </a:rPr>
              <a:t> &lt;- </a:t>
            </a:r>
            <a:r>
              <a:rPr lang="en-US" dirty="0" err="1">
                <a:latin typeface="JetBrains Mono" panose="020B0509020102050004" pitchFamily="49" charset="77"/>
              </a:rPr>
              <a:t>DESeqDataSet</a:t>
            </a:r>
            <a:r>
              <a:rPr lang="en-US" dirty="0">
                <a:latin typeface="JetBrains Mono" panose="020B0509020102050004" pitchFamily="49" charset="77"/>
              </a:rPr>
              <a:t>(se, ~ Diet)</a:t>
            </a:r>
          </a:p>
          <a:p>
            <a:r>
              <a:rPr lang="en-US" dirty="0"/>
              <a:t>The second argument is used as a statistical model for the expression of each gene</a:t>
            </a:r>
          </a:p>
          <a:p>
            <a:pPr lvl="1"/>
            <a:r>
              <a:rPr lang="en-US" dirty="0"/>
              <a:t>In our case, we are hypothesizing that the expression of each gene is a function of Diet</a:t>
            </a:r>
          </a:p>
          <a:p>
            <a:r>
              <a:rPr lang="en-US" dirty="0"/>
              <a:t>Then we can run the </a:t>
            </a:r>
            <a:r>
              <a:rPr lang="en-US" dirty="0" err="1"/>
              <a:t>DESeq</a:t>
            </a:r>
            <a:r>
              <a:rPr lang="en-US" dirty="0"/>
              <a:t> function that performs the analysis:</a:t>
            </a:r>
          </a:p>
          <a:p>
            <a:pPr marL="0" indent="0">
              <a:buNone/>
            </a:pPr>
            <a:r>
              <a:rPr lang="en-US" dirty="0" err="1">
                <a:latin typeface="JetBrains Mono" panose="020B0509020102050004" pitchFamily="49" charset="77"/>
              </a:rPr>
              <a:t>dds</a:t>
            </a:r>
            <a:r>
              <a:rPr lang="en-US" dirty="0">
                <a:latin typeface="JetBrains Mono" panose="020B0509020102050004" pitchFamily="49" charset="77"/>
              </a:rPr>
              <a:t> &lt;- </a:t>
            </a:r>
            <a:r>
              <a:rPr lang="en-US" dirty="0" err="1">
                <a:latin typeface="JetBrains Mono" panose="020B0509020102050004" pitchFamily="49" charset="77"/>
              </a:rPr>
              <a:t>DESeq</a:t>
            </a:r>
            <a:r>
              <a:rPr lang="en-US" dirty="0">
                <a:latin typeface="JetBrains Mono" panose="020B0509020102050004" pitchFamily="49" charset="77"/>
              </a:rPr>
              <a:t>(</a:t>
            </a:r>
            <a:r>
              <a:rPr lang="en-US" dirty="0" err="1">
                <a:latin typeface="JetBrains Mono" panose="020B0509020102050004" pitchFamily="49" charset="77"/>
              </a:rPr>
              <a:t>dds</a:t>
            </a:r>
            <a:r>
              <a:rPr lang="en-US" dirty="0">
                <a:latin typeface="JetBrains Mono" panose="020B0509020102050004" pitchFamily="49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2532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DC31-696A-F74F-BFDD-22B75AE4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</a:t>
            </a:r>
            <a:r>
              <a:rPr lang="en-US" dirty="0" err="1"/>
              <a:t>DESeq</a:t>
            </a:r>
            <a:r>
              <a:rPr lang="en-US"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D19AD-8684-E749-A5C1-11A94951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an analysis with </a:t>
            </a:r>
          </a:p>
          <a:p>
            <a:pPr marL="0" indent="0">
              <a:buNone/>
            </a:pPr>
            <a:r>
              <a:rPr lang="en-US" dirty="0" err="1">
                <a:latin typeface="JetBrains Mono" panose="020B0509020102050004" pitchFamily="49" charset="77"/>
              </a:rPr>
              <a:t>dds</a:t>
            </a:r>
            <a:r>
              <a:rPr lang="en-US" dirty="0">
                <a:latin typeface="JetBrains Mono" panose="020B0509020102050004" pitchFamily="49" charset="77"/>
              </a:rPr>
              <a:t> &lt;- </a:t>
            </a:r>
            <a:r>
              <a:rPr lang="en-US" dirty="0" err="1">
                <a:latin typeface="JetBrains Mono" panose="020B0509020102050004" pitchFamily="49" charset="77"/>
              </a:rPr>
              <a:t>DESeq</a:t>
            </a:r>
            <a:r>
              <a:rPr lang="en-US" dirty="0">
                <a:latin typeface="JetBrains Mono" panose="020B0509020102050004" pitchFamily="49" charset="77"/>
              </a:rPr>
              <a:t>(</a:t>
            </a:r>
            <a:r>
              <a:rPr lang="en-US" dirty="0" err="1">
                <a:latin typeface="JetBrains Mono" panose="020B0509020102050004" pitchFamily="49" charset="77"/>
              </a:rPr>
              <a:t>dds</a:t>
            </a:r>
            <a:r>
              <a:rPr lang="en-US" dirty="0">
                <a:latin typeface="JetBrains Mono" panose="020B0509020102050004" pitchFamily="49" charset="77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# get the results of the analysis: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res &lt;- results(</a:t>
            </a:r>
            <a:r>
              <a:rPr lang="en-US" dirty="0" err="1">
                <a:latin typeface="JetBrains Mono" panose="020B0509020102050004" pitchFamily="49" charset="77"/>
              </a:rPr>
              <a:t>dds</a:t>
            </a:r>
            <a:r>
              <a:rPr lang="en-US" dirty="0">
                <a:latin typeface="JetBrains Mono" panose="020B0509020102050004" pitchFamily="49" charset="77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# extract the significant (</a:t>
            </a:r>
            <a:r>
              <a:rPr lang="en-US" dirty="0" err="1">
                <a:latin typeface="JetBrains Mono" panose="020B0509020102050004" pitchFamily="49" charset="77"/>
              </a:rPr>
              <a:t>padj</a:t>
            </a:r>
            <a:r>
              <a:rPr lang="en-US" dirty="0">
                <a:latin typeface="JetBrains Mono" panose="020B0509020102050004" pitchFamily="49" charset="77"/>
              </a:rPr>
              <a:t> &lt; 0.1) genes:</a:t>
            </a:r>
          </a:p>
          <a:p>
            <a:pPr marL="0" indent="0">
              <a:buNone/>
            </a:pPr>
            <a:r>
              <a:rPr lang="en-US" dirty="0" err="1">
                <a:latin typeface="JetBrains Mono" panose="020B0509020102050004" pitchFamily="49" charset="77"/>
              </a:rPr>
              <a:t>sig_genes</a:t>
            </a:r>
            <a:r>
              <a:rPr lang="en-US" dirty="0">
                <a:latin typeface="JetBrains Mono" panose="020B0509020102050004" pitchFamily="49" charset="77"/>
              </a:rPr>
              <a:t> &lt;- subset(res, </a:t>
            </a:r>
            <a:r>
              <a:rPr lang="en-US" dirty="0" err="1">
                <a:latin typeface="JetBrains Mono" panose="020B0509020102050004" pitchFamily="49" charset="77"/>
              </a:rPr>
              <a:t>padj</a:t>
            </a:r>
            <a:r>
              <a:rPr lang="en-US" dirty="0">
                <a:latin typeface="JetBrains Mono" panose="020B0509020102050004" pitchFamily="49" charset="77"/>
              </a:rPr>
              <a:t> &lt; 0.1)</a:t>
            </a:r>
          </a:p>
        </p:txBody>
      </p:sp>
    </p:spTree>
    <p:extLst>
      <p:ext uri="{BB962C8B-B14F-4D97-AF65-F5344CB8AC3E}">
        <p14:creationId xmlns:p14="http://schemas.microsoft.com/office/powerpoint/2010/main" val="2358853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DDB82-4F8E-114D-AFF6-EDDFFCA6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A4D7C-DFFB-1240-80E5-4BF59EBF7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write the results to a CSV file by converting to a </a:t>
            </a:r>
            <a:r>
              <a:rPr lang="en-US" dirty="0" err="1"/>
              <a:t>tidyverse</a:t>
            </a:r>
            <a:r>
              <a:rPr lang="en-US" dirty="0"/>
              <a:t> table and using </a:t>
            </a:r>
            <a:r>
              <a:rPr lang="en-US" dirty="0" err="1"/>
              <a:t>write_csv</a:t>
            </a:r>
            <a:r>
              <a:rPr lang="en-US" dirty="0"/>
              <a:t>(…):</a:t>
            </a:r>
          </a:p>
          <a:p>
            <a:r>
              <a:rPr lang="en-US" dirty="0"/>
              <a:t>Note we have to tell the </a:t>
            </a:r>
            <a:r>
              <a:rPr lang="en-US" dirty="0" err="1"/>
              <a:t>tidyverse</a:t>
            </a:r>
            <a:r>
              <a:rPr lang="en-US" dirty="0"/>
              <a:t> table what column name to use for the row names</a:t>
            </a:r>
          </a:p>
          <a:p>
            <a:pPr marL="0" indent="0">
              <a:buNone/>
            </a:pPr>
            <a:r>
              <a:rPr lang="en-US" sz="2000" dirty="0">
                <a:latin typeface="JetBrains Mono" panose="020B0509020102050004" pitchFamily="49" charset="77"/>
              </a:rPr>
              <a:t>library(</a:t>
            </a:r>
            <a:r>
              <a:rPr lang="en-US" sz="2000" dirty="0" err="1">
                <a:latin typeface="JetBrains Mono" panose="020B0509020102050004" pitchFamily="49" charset="77"/>
              </a:rPr>
              <a:t>tidyverse</a:t>
            </a:r>
            <a:r>
              <a:rPr lang="en-US" sz="2000" dirty="0">
                <a:latin typeface="JetBrains Mono" panose="020B0509020102050004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JetBrains Mono" panose="020B0509020102050004" pitchFamily="49" charset="77"/>
              </a:rPr>
              <a:t>sig_genes_tbl</a:t>
            </a:r>
            <a:r>
              <a:rPr lang="en-US" sz="2000" dirty="0">
                <a:latin typeface="JetBrains Mono" panose="020B0509020102050004" pitchFamily="49" charset="77"/>
              </a:rPr>
              <a:t> &lt;- </a:t>
            </a:r>
            <a:r>
              <a:rPr lang="en-US" sz="2000" dirty="0" err="1">
                <a:latin typeface="JetBrains Mono" panose="020B0509020102050004" pitchFamily="49" charset="77"/>
              </a:rPr>
              <a:t>as_tibble</a:t>
            </a:r>
            <a:r>
              <a:rPr lang="en-US" sz="2000" dirty="0">
                <a:latin typeface="JetBrains Mono" panose="020B0509020102050004" pitchFamily="49" charset="77"/>
              </a:rPr>
              <a:t>(</a:t>
            </a:r>
            <a:r>
              <a:rPr lang="en-US" sz="2000" dirty="0" err="1">
                <a:latin typeface="JetBrains Mono" panose="020B0509020102050004" pitchFamily="49" charset="77"/>
              </a:rPr>
              <a:t>sig_genes</a:t>
            </a:r>
            <a:r>
              <a:rPr lang="en-US" sz="2000" dirty="0">
                <a:latin typeface="JetBrains Mono" panose="020B0509020102050004" pitchFamily="49" charset="77"/>
              </a:rPr>
              <a:t>, </a:t>
            </a:r>
            <a:r>
              <a:rPr lang="en-US" sz="2000" dirty="0" err="1">
                <a:latin typeface="JetBrains Mono" panose="020B0509020102050004" pitchFamily="49" charset="77"/>
              </a:rPr>
              <a:t>rownames</a:t>
            </a:r>
            <a:r>
              <a:rPr lang="en-US" sz="2000" dirty="0">
                <a:latin typeface="JetBrains Mono" panose="020B0509020102050004" pitchFamily="49" charset="77"/>
              </a:rPr>
              <a:t>="</a:t>
            </a:r>
            <a:r>
              <a:rPr lang="en-US" sz="2000" dirty="0" err="1">
                <a:latin typeface="JetBrains Mono" panose="020B0509020102050004" pitchFamily="49" charset="77"/>
              </a:rPr>
              <a:t>EnsemblID</a:t>
            </a:r>
            <a:r>
              <a:rPr lang="en-US" sz="2000" dirty="0">
                <a:latin typeface="JetBrains Mono" panose="020B0509020102050004" pitchFamily="49" charset="77"/>
              </a:rPr>
              <a:t>")</a:t>
            </a:r>
          </a:p>
          <a:p>
            <a:pPr marL="0" indent="0">
              <a:buNone/>
            </a:pPr>
            <a:r>
              <a:rPr lang="en-US" sz="2000" dirty="0" err="1">
                <a:latin typeface="JetBrains Mono" panose="020B0509020102050004" pitchFamily="49" charset="77"/>
              </a:rPr>
              <a:t>write_csv</a:t>
            </a:r>
            <a:r>
              <a:rPr lang="en-US" sz="2000" dirty="0">
                <a:latin typeface="JetBrains Mono" panose="020B0509020102050004" pitchFamily="49" charset="77"/>
              </a:rPr>
              <a:t>(</a:t>
            </a:r>
            <a:r>
              <a:rPr lang="en-US" sz="2000" dirty="0" err="1">
                <a:latin typeface="JetBrains Mono" panose="020B0509020102050004" pitchFamily="49" charset="77"/>
              </a:rPr>
              <a:t>sig_genes_tbl</a:t>
            </a:r>
            <a:r>
              <a:rPr lang="en-US" sz="2000" dirty="0">
                <a:latin typeface="JetBrains Mono" panose="020B0509020102050004" pitchFamily="49" charset="77"/>
              </a:rPr>
              <a:t>, "F-B6-5wk-HF_vs_Chow-sig_genes.csv")</a:t>
            </a:r>
          </a:p>
        </p:txBody>
      </p:sp>
    </p:spTree>
    <p:extLst>
      <p:ext uri="{BB962C8B-B14F-4D97-AF65-F5344CB8AC3E}">
        <p14:creationId xmlns:p14="http://schemas.microsoft.com/office/powerpoint/2010/main" val="3055445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61C5-C4CE-AB46-B1D4-0F0C8BAE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tidyverse</a:t>
            </a:r>
            <a:r>
              <a:rPr lang="en-US" dirty="0"/>
              <a:t> 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CECEE-E321-0449-90C6-CB26F3379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we can do a lot of this with a </a:t>
            </a:r>
            <a:r>
              <a:rPr lang="en-US" dirty="0" err="1"/>
              <a:t>tidyverse</a:t>
            </a:r>
            <a:r>
              <a:rPr lang="en-US" dirty="0"/>
              <a:t> pipe!</a:t>
            </a:r>
          </a:p>
          <a:p>
            <a:r>
              <a:rPr lang="en-US" dirty="0"/>
              <a:t>This is just an alternative form of coding the pipeline</a:t>
            </a:r>
          </a:p>
          <a:p>
            <a:pPr marL="0" indent="0">
              <a:buNone/>
            </a:pPr>
            <a:r>
              <a:rPr lang="en-US" dirty="0" err="1">
                <a:latin typeface="JetBrains Mono" panose="020B0509020102050004" pitchFamily="49" charset="77"/>
              </a:rPr>
              <a:t>DESeqDataSet</a:t>
            </a:r>
            <a:r>
              <a:rPr lang="en-US" dirty="0">
                <a:latin typeface="JetBrains Mono" panose="020B0509020102050004" pitchFamily="49" charset="77"/>
              </a:rPr>
              <a:t>(se, ~Diet) %&gt;%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  </a:t>
            </a:r>
            <a:r>
              <a:rPr lang="en-US" dirty="0" err="1">
                <a:latin typeface="JetBrains Mono" panose="020B0509020102050004" pitchFamily="49" charset="77"/>
              </a:rPr>
              <a:t>DESeq</a:t>
            </a:r>
            <a:r>
              <a:rPr lang="en-US" dirty="0">
                <a:latin typeface="JetBrains Mono" panose="020B0509020102050004" pitchFamily="49" charset="77"/>
              </a:rPr>
              <a:t>() %&gt;%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  results() %&gt;%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  subset(</a:t>
            </a:r>
            <a:r>
              <a:rPr lang="en-US" dirty="0" err="1">
                <a:latin typeface="JetBrains Mono" panose="020B0509020102050004" pitchFamily="49" charset="77"/>
              </a:rPr>
              <a:t>padj</a:t>
            </a:r>
            <a:r>
              <a:rPr lang="en-US" dirty="0">
                <a:latin typeface="JetBrains Mono" panose="020B0509020102050004" pitchFamily="49" charset="77"/>
              </a:rPr>
              <a:t> &lt; 0.1) %&gt;%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  </a:t>
            </a:r>
            <a:r>
              <a:rPr lang="en-US" dirty="0" err="1">
                <a:latin typeface="JetBrains Mono" panose="020B0509020102050004" pitchFamily="49" charset="77"/>
              </a:rPr>
              <a:t>as_tibble</a:t>
            </a:r>
            <a:r>
              <a:rPr lang="en-US" dirty="0">
                <a:latin typeface="JetBrains Mono" panose="020B0509020102050004" pitchFamily="49" charset="77"/>
              </a:rPr>
              <a:t>(</a:t>
            </a:r>
            <a:r>
              <a:rPr lang="en-US" dirty="0" err="1">
                <a:latin typeface="JetBrains Mono" panose="020B0509020102050004" pitchFamily="49" charset="77"/>
              </a:rPr>
              <a:t>rownames</a:t>
            </a:r>
            <a:r>
              <a:rPr lang="en-US" dirty="0">
                <a:latin typeface="JetBrains Mono" panose="020B0509020102050004" pitchFamily="49" charset="77"/>
              </a:rPr>
              <a:t>="</a:t>
            </a:r>
            <a:r>
              <a:rPr lang="en-US" dirty="0" err="1">
                <a:latin typeface="JetBrains Mono" panose="020B0509020102050004" pitchFamily="49" charset="77"/>
              </a:rPr>
              <a:t>EnsemblID</a:t>
            </a:r>
            <a:r>
              <a:rPr lang="en-US" dirty="0">
                <a:latin typeface="JetBrains Mono" panose="020B0509020102050004" pitchFamily="49" charset="77"/>
              </a:rPr>
              <a:t>") %&gt;%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  </a:t>
            </a:r>
            <a:r>
              <a:rPr lang="en-US" dirty="0" err="1">
                <a:latin typeface="JetBrains Mono" panose="020B0509020102050004" pitchFamily="49" charset="77"/>
              </a:rPr>
              <a:t>write_csv</a:t>
            </a:r>
            <a:r>
              <a:rPr lang="en-US" dirty="0">
                <a:latin typeface="JetBrains Mono" panose="020B0509020102050004" pitchFamily="49" charset="77"/>
              </a:rPr>
              <a:t>("F-B6-5wk-HF_vs_Chow-sig_genes.csv")</a:t>
            </a:r>
          </a:p>
        </p:txBody>
      </p:sp>
    </p:spTree>
    <p:extLst>
      <p:ext uri="{BB962C8B-B14F-4D97-AF65-F5344CB8AC3E}">
        <p14:creationId xmlns:p14="http://schemas.microsoft.com/office/powerpoint/2010/main" val="3138084803"/>
      </p:ext>
    </p:extLst>
  </p:cSld>
  <p:clrMapOvr>
    <a:masterClrMapping/>
  </p:clrMapOvr>
</p:sld>
</file>

<file path=ppt/theme/theme1.xml><?xml version="1.0" encoding="utf-8"?>
<a:theme xmlns:a="http://schemas.openxmlformats.org/drawingml/2006/main" name="MUSOM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0325">
          <a:solidFill>
            <a:srgbClr val="535C5C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00AF41"/>
        </a:solidFill>
      </a:spPr>
      <a:bodyPr wrap="square" rtlCol="0">
        <a:spAutoFit/>
      </a:bodyPr>
      <a:lstStyle>
        <a:defPPr algn="l"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USOM" id="{CB6BB4B1-8331-CB4D-B3AA-CD1B2079FC59}" vid="{DE073F15-A86C-7640-8012-1389FBAB8C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</TotalTime>
  <Words>1764</Words>
  <Application>Microsoft Macintosh PowerPoint</Application>
  <PresentationFormat>Widescreen</PresentationFormat>
  <Paragraphs>188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JetBrains Mono</vt:lpstr>
      <vt:lpstr>MUSOM</vt:lpstr>
      <vt:lpstr>Differential Expression Analysis with R and Bioconductor</vt:lpstr>
      <vt:lpstr>Bioconductor</vt:lpstr>
      <vt:lpstr>Installing Bioconductor</vt:lpstr>
      <vt:lpstr>Key Bioconductor packages for this analysis</vt:lpstr>
      <vt:lpstr>Installing Bioconductor packages</vt:lpstr>
      <vt:lpstr>Gathering the bam files</vt:lpstr>
      <vt:lpstr>RNA-Seq pipeline</vt:lpstr>
      <vt:lpstr>Loading bam files</vt:lpstr>
      <vt:lpstr>Reading the GTF file</vt:lpstr>
      <vt:lpstr>Counting reads per gene</vt:lpstr>
      <vt:lpstr>The summarized experiment object</vt:lpstr>
      <vt:lpstr>Adding sample data to the column data</vt:lpstr>
      <vt:lpstr>Statistics review</vt:lpstr>
      <vt:lpstr>Hypothesis testing</vt:lpstr>
      <vt:lpstr>How hypothesis testing works</vt:lpstr>
      <vt:lpstr>Example</vt:lpstr>
      <vt:lpstr>Explanatory and response variables</vt:lpstr>
      <vt:lpstr>Explanatory and response variables</vt:lpstr>
      <vt:lpstr>Explanatory and response variables</vt:lpstr>
      <vt:lpstr>Explanatory and response variables in R</vt:lpstr>
      <vt:lpstr>Multiple hypothesis testing</vt:lpstr>
      <vt:lpstr>Multiple hypothesis testing</vt:lpstr>
      <vt:lpstr>Adjusted p-values and False Discovery Rate</vt:lpstr>
      <vt:lpstr>Using DESeq2</vt:lpstr>
      <vt:lpstr>Running the DESeq analysis</vt:lpstr>
      <vt:lpstr>Exporting results</vt:lpstr>
      <vt:lpstr>Using tidyverse pipes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 Expression Analysis with R and Bioconductor</dc:title>
  <dc:creator>Denvir, James</dc:creator>
  <cp:lastModifiedBy>Denvir, James</cp:lastModifiedBy>
  <cp:revision>12</cp:revision>
  <dcterms:created xsi:type="dcterms:W3CDTF">2021-07-20T16:47:32Z</dcterms:created>
  <dcterms:modified xsi:type="dcterms:W3CDTF">2021-07-21T15:05:11Z</dcterms:modified>
</cp:coreProperties>
</file>