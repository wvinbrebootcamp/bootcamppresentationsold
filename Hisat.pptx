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 showGuides="1">
      <p:cViewPr varScale="1">
        <p:scale>
          <a:sx n="118" d="100"/>
          <a:sy n="11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6F00A2-D617-FA4B-A3BF-B86CDE3843D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Marshall University Joan C. Edwards School of Medicine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70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71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1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2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3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4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4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4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35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5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7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004EC0-C028-3147-9D4C-DC7304436D94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12F5860-2B80-EF47-B9F4-630CAAD1C67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69F39-1E61-E84E-84A9-3551FA50AD8E}"/>
              </a:ext>
            </a:extLst>
          </p:cNvPr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FAD869-77C3-4B48-B947-FF39E5B8980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77036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8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85CD-8CE0-274F-92D6-4865FA231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HISAT2 Aligner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B2C45-4C9A-D44B-8C57-878600D104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WV-INBRE Bioinformatics Bootcamp</a:t>
            </a:r>
          </a:p>
          <a:p>
            <a:r>
              <a:rPr lang="en-US" dirty="0"/>
              <a:t>Summer 2021</a:t>
            </a:r>
          </a:p>
        </p:txBody>
      </p:sp>
    </p:spTree>
    <p:extLst>
      <p:ext uri="{BB962C8B-B14F-4D97-AF65-F5344CB8AC3E}">
        <p14:creationId xmlns:p14="http://schemas.microsoft.com/office/powerpoint/2010/main" val="413866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D477-AB7B-3145-A54A-331E3EDA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HISAT2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F745-0B99-4E49-B056-F0AD0FDA9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HISAT2 is a spliced aligner</a:t>
            </a:r>
          </a:p>
          <a:p>
            <a:r>
              <a:rPr lang="en-US" dirty="0"/>
              <a:t>Developed by the </a:t>
            </a:r>
            <a:r>
              <a:rPr lang="en-US" dirty="0" err="1"/>
              <a:t>Salzberg</a:t>
            </a:r>
            <a:r>
              <a:rPr lang="en-US" dirty="0"/>
              <a:t> lab at the University of Maryland</a:t>
            </a:r>
          </a:p>
          <a:p>
            <a:r>
              <a:rPr lang="en-US" dirty="0"/>
              <a:t>Based on an earlier spliced aligner called </a:t>
            </a:r>
            <a:r>
              <a:rPr lang="en-US" dirty="0" err="1"/>
              <a:t>TopHat</a:t>
            </a:r>
            <a:r>
              <a:rPr lang="en-US" dirty="0"/>
              <a:t>, developed by the same group</a:t>
            </a:r>
          </a:p>
          <a:p>
            <a:pPr lvl="1"/>
            <a:r>
              <a:rPr lang="en-US" dirty="0"/>
              <a:t>HISAT2 just adds some more advanced alignment techniques</a:t>
            </a:r>
          </a:p>
        </p:txBody>
      </p:sp>
    </p:spTree>
    <p:extLst>
      <p:ext uri="{BB962C8B-B14F-4D97-AF65-F5344CB8AC3E}">
        <p14:creationId xmlns:p14="http://schemas.microsoft.com/office/powerpoint/2010/main" val="214676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E1AC-355D-DD43-895F-F7AA253D2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Spliced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B560E-09B3-BA42-875C-E8DBA744A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HISAT2 is a spliced aligner</a:t>
            </a:r>
          </a:p>
          <a:p>
            <a:r>
              <a:rPr lang="en-US" dirty="0"/>
              <a:t>Takes raw </a:t>
            </a:r>
            <a:r>
              <a:rPr lang="en-US" dirty="0" err="1"/>
              <a:t>fastq</a:t>
            </a:r>
            <a:r>
              <a:rPr lang="en-US" dirty="0"/>
              <a:t> files and aligns them to a reference genome</a:t>
            </a:r>
          </a:p>
          <a:p>
            <a:pPr lvl="1"/>
            <a:r>
              <a:rPr lang="en-US" sz="2800" dirty="0"/>
              <a:t>Like BWA, but…</a:t>
            </a:r>
          </a:p>
          <a:p>
            <a:pPr lvl="1"/>
            <a:r>
              <a:rPr lang="en-US" sz="2800" dirty="0"/>
              <a:t>Assumes the reads may have come from splicing of exons on the reference genome</a:t>
            </a:r>
          </a:p>
          <a:p>
            <a:pPr lvl="1"/>
            <a:r>
              <a:rPr lang="en-US" sz="2800" dirty="0"/>
              <a:t>So we expect to potentially find big gaps in the alignment for some of the reads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27745830-3710-C74E-9F11-C66CD27C8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385979"/>
            <a:ext cx="5181600" cy="1230629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A302DF-6FF8-864D-960E-7628A54A24B9}"/>
              </a:ext>
            </a:extLst>
          </p:cNvPr>
          <p:cNvSpPr txBox="1"/>
          <p:nvPr/>
        </p:nvSpPr>
        <p:spPr>
          <a:xfrm>
            <a:off x="6651320" y="4960307"/>
            <a:ext cx="4594078" cy="369332"/>
          </a:xfrm>
          <a:prstGeom prst="rect">
            <a:avLst/>
          </a:prstGeom>
          <a:solidFill>
            <a:srgbClr val="00AF41"/>
          </a:solidFill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Adapted from Kim et al., Genome Biology 2013</a:t>
            </a:r>
          </a:p>
        </p:txBody>
      </p:sp>
    </p:spTree>
    <p:extLst>
      <p:ext uri="{BB962C8B-B14F-4D97-AF65-F5344CB8AC3E}">
        <p14:creationId xmlns:p14="http://schemas.microsoft.com/office/powerpoint/2010/main" val="365611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6E3AE5-EDCF-ED41-AC40-B74487F20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strategy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10CCA-322B-5441-9D80-1583B68F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HISAT2 will chop the reads into shorter lengths (usually 25nts)</a:t>
            </a:r>
          </a:p>
          <a:p>
            <a:r>
              <a:rPr lang="en-US" dirty="0"/>
              <a:t>The shorter lengths are less likely to hit a splice junction</a:t>
            </a:r>
          </a:p>
          <a:p>
            <a:r>
              <a:rPr lang="en-US" dirty="0"/>
              <a:t>So most of these will align without worrying about splicing</a:t>
            </a:r>
          </a:p>
          <a:p>
            <a:r>
              <a:rPr lang="en-US" dirty="0"/>
              <a:t>The reads should align only to exons</a:t>
            </a:r>
          </a:p>
          <a:p>
            <a:pPr lvl="1"/>
            <a:r>
              <a:rPr lang="en-US" dirty="0"/>
              <a:t>Provides a way to guess the splice junctions</a:t>
            </a:r>
          </a:p>
          <a:p>
            <a:r>
              <a:rPr lang="en-US" dirty="0"/>
              <a:t>Reads that don't align are then aligned assuming they span one of the junctions</a:t>
            </a:r>
          </a:p>
          <a:p>
            <a:r>
              <a:rPr lang="en-US" dirty="0"/>
              <a:t>Finally the 25nt chunks are recombined back to the original reads</a:t>
            </a:r>
          </a:p>
        </p:txBody>
      </p:sp>
    </p:spTree>
    <p:extLst>
      <p:ext uri="{BB962C8B-B14F-4D97-AF65-F5344CB8AC3E}">
        <p14:creationId xmlns:p14="http://schemas.microsoft.com/office/powerpoint/2010/main" val="260642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5492-62FA-0B41-8FE7-95560146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HISAT2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8073E-FB06-4A4A-9F62-D11EEC6E8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BWA, HISAT relies on indexing the genome for the alignment of the read fragments</a:t>
            </a:r>
          </a:p>
          <a:p>
            <a:r>
              <a:rPr lang="en-US" dirty="0"/>
              <a:t>The indexes for the mouse genome are already computed and are on the server at </a:t>
            </a:r>
            <a:br>
              <a:rPr lang="en-US" dirty="0"/>
            </a:br>
            <a:r>
              <a:rPr lang="en-US" dirty="0">
                <a:latin typeface="JetBrains Mono" panose="020B0509020102050004" pitchFamily="49" charset="77"/>
              </a:rPr>
              <a:t>/</a:t>
            </a:r>
            <a:r>
              <a:rPr lang="en-US" dirty="0" err="1">
                <a:latin typeface="JetBrains Mono" panose="020B0509020102050004" pitchFamily="49" charset="77"/>
              </a:rPr>
              <a:t>seqdata</a:t>
            </a:r>
            <a:r>
              <a:rPr lang="en-US" dirty="0">
                <a:latin typeface="JetBrains Mono" panose="020B0509020102050004" pitchFamily="49" charset="77"/>
              </a:rPr>
              <a:t>/Genome/</a:t>
            </a:r>
            <a:r>
              <a:rPr lang="en-US" dirty="0" err="1">
                <a:latin typeface="JetBrains Mono" panose="020B0509020102050004" pitchFamily="49" charset="77"/>
              </a:rPr>
              <a:t>HISAT_indexes</a:t>
            </a:r>
            <a:r>
              <a:rPr lang="en-US" dirty="0">
                <a:latin typeface="JetBrains Mono" panose="020B0509020102050004" pitchFamily="49" charset="77"/>
              </a:rPr>
              <a:t>/grcm38/genome.*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24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F47C-0B21-2643-BB5B-4B4316CD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HISAT2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EC3AD-9048-3B4A-A101-790800F0E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run HISAT2, use</a:t>
            </a:r>
          </a:p>
          <a:p>
            <a:pPr marL="0" indent="0">
              <a:buNone/>
            </a:pPr>
            <a:r>
              <a:rPr lang="en-US" sz="2000" dirty="0" err="1">
                <a:latin typeface="JetBrains Mono" panose="020B0509020102050004" pitchFamily="49" charset="77"/>
              </a:rPr>
              <a:t>nohup</a:t>
            </a:r>
            <a:r>
              <a:rPr lang="en-US" sz="2000" dirty="0">
                <a:latin typeface="JetBrains Mono" panose="020B0509020102050004" pitchFamily="49" charset="77"/>
              </a:rPr>
              <a:t> /opt/hisat2-2.2.1/hisat2 --phred33 \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-x /</a:t>
            </a:r>
            <a:r>
              <a:rPr lang="en-US" sz="2000" dirty="0" err="1">
                <a:latin typeface="JetBrains Mono" panose="020B0509020102050004" pitchFamily="49" charset="77"/>
              </a:rPr>
              <a:t>seqdata</a:t>
            </a:r>
            <a:r>
              <a:rPr lang="en-US" sz="2000" dirty="0">
                <a:latin typeface="JetBrains Mono" panose="020B0509020102050004" pitchFamily="49" charset="77"/>
              </a:rPr>
              <a:t>/Genomes/</a:t>
            </a:r>
            <a:r>
              <a:rPr lang="en-US" sz="2000" dirty="0" err="1">
                <a:latin typeface="JetBrains Mono" panose="020B0509020102050004" pitchFamily="49" charset="77"/>
              </a:rPr>
              <a:t>HISAT_indexes</a:t>
            </a:r>
            <a:r>
              <a:rPr lang="en-US" sz="2000" dirty="0">
                <a:latin typeface="JetBrains Mono" panose="020B0509020102050004" pitchFamily="49" charset="77"/>
              </a:rPr>
              <a:t>/grcm38/genome \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-1 xxx_pout_R1_001.fq \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-2 xxx_pout_R2_001.fq \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2&gt;</a:t>
            </a:r>
            <a:r>
              <a:rPr lang="en-US" sz="2000" dirty="0" err="1">
                <a:latin typeface="JetBrains Mono" panose="020B0509020102050004" pitchFamily="49" charset="77"/>
              </a:rPr>
              <a:t>xxx_align.log</a:t>
            </a:r>
            <a:r>
              <a:rPr lang="en-US" sz="2000" dirty="0">
                <a:latin typeface="JetBrains Mono" panose="020B0509020102050004" pitchFamily="49" charset="77"/>
              </a:rPr>
              <a:t> \</a:t>
            </a:r>
          </a:p>
          <a:p>
            <a:pPr marL="0" indent="0">
              <a:buNone/>
            </a:pPr>
            <a:r>
              <a:rPr lang="en-US" sz="2000" dirty="0">
                <a:latin typeface="JetBrains Mono" panose="020B0509020102050004" pitchFamily="49" charset="77"/>
              </a:rPr>
              <a:t>| /opt/samtools-1.11/</a:t>
            </a:r>
            <a:r>
              <a:rPr lang="en-US" sz="2000" dirty="0" err="1">
                <a:latin typeface="JetBrains Mono" panose="020B0509020102050004" pitchFamily="49" charset="77"/>
              </a:rPr>
              <a:t>samtools</a:t>
            </a:r>
            <a:r>
              <a:rPr lang="en-US" sz="2000" dirty="0">
                <a:latin typeface="JetBrains Mono" panose="020B0509020102050004" pitchFamily="49" charset="77"/>
              </a:rPr>
              <a:t> sort -o </a:t>
            </a:r>
            <a:r>
              <a:rPr lang="en-US" sz="2000" dirty="0" err="1">
                <a:latin typeface="JetBrains Mono" panose="020B0509020102050004" pitchFamily="49" charset="77"/>
              </a:rPr>
              <a:t>xxx.bam</a:t>
            </a:r>
            <a:r>
              <a:rPr lang="en-US" sz="2000" dirty="0">
                <a:latin typeface="JetBrains Mono" panose="020B0509020102050004" pitchFamily="49" charset="77"/>
              </a:rPr>
              <a:t> - 2&gt;</a:t>
            </a:r>
            <a:r>
              <a:rPr lang="en-US" sz="2000" dirty="0" err="1">
                <a:latin typeface="JetBrains Mono" panose="020B0509020102050004" pitchFamily="49" charset="77"/>
              </a:rPr>
              <a:t>xxx_sort.log</a:t>
            </a:r>
            <a:r>
              <a:rPr lang="en-US" sz="2000" dirty="0">
                <a:latin typeface="JetBrains Mono" panose="020B0509020102050004" pitchFamily="49" charset="77"/>
              </a:rPr>
              <a:t> &amp;</a:t>
            </a:r>
          </a:p>
          <a:p>
            <a:r>
              <a:rPr lang="en-US" dirty="0"/>
              <a:t>The options are:</a:t>
            </a:r>
          </a:p>
          <a:p>
            <a:pPr lvl="1"/>
            <a:r>
              <a:rPr lang="en-US" dirty="0"/>
              <a:t>-x : the genome index</a:t>
            </a:r>
          </a:p>
          <a:p>
            <a:pPr lvl="1"/>
            <a:r>
              <a:rPr lang="en-US" dirty="0"/>
              <a:t>-1 </a:t>
            </a:r>
            <a:r>
              <a:rPr lang="en-US" dirty="0" err="1"/>
              <a:t>Fastq</a:t>
            </a:r>
            <a:r>
              <a:rPr lang="en-US" dirty="0"/>
              <a:t> file with forward reads</a:t>
            </a:r>
          </a:p>
          <a:p>
            <a:pPr lvl="1"/>
            <a:r>
              <a:rPr lang="en-US" dirty="0"/>
              <a:t>-2 </a:t>
            </a:r>
            <a:r>
              <a:rPr lang="en-US" dirty="0" err="1"/>
              <a:t>Fastq</a:t>
            </a:r>
            <a:r>
              <a:rPr lang="en-US" dirty="0"/>
              <a:t> file with reverse reads</a:t>
            </a:r>
          </a:p>
        </p:txBody>
      </p:sp>
    </p:spTree>
    <p:extLst>
      <p:ext uri="{BB962C8B-B14F-4D97-AF65-F5344CB8AC3E}">
        <p14:creationId xmlns:p14="http://schemas.microsoft.com/office/powerpoint/2010/main" val="777318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A3BD-1A10-E347-B8E6-AA72DD6C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5F2D7-BB4D-D44E-B6C7-2883B3108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view the output in IGV</a:t>
            </a:r>
          </a:p>
          <a:p>
            <a:r>
              <a:rPr lang="en-US" dirty="0"/>
              <a:t>First index the bam file:</a:t>
            </a:r>
          </a:p>
          <a:p>
            <a:pPr marL="0" indent="0">
              <a:buNone/>
            </a:pPr>
            <a:r>
              <a:rPr lang="en-US" dirty="0">
                <a:latin typeface="JetBrains Mono" panose="020B0509020102050004" pitchFamily="49" charset="77"/>
              </a:rPr>
              <a:t>/opt/samtools_1.11/</a:t>
            </a:r>
            <a:r>
              <a:rPr lang="en-US" dirty="0" err="1">
                <a:latin typeface="JetBrains Mono" panose="020B0509020102050004" pitchFamily="49" charset="77"/>
              </a:rPr>
              <a:t>samtools</a:t>
            </a:r>
            <a:r>
              <a:rPr lang="en-US" dirty="0">
                <a:latin typeface="JetBrains Mono" panose="020B0509020102050004" pitchFamily="49" charset="77"/>
              </a:rPr>
              <a:t> index </a:t>
            </a:r>
            <a:r>
              <a:rPr lang="en-US" dirty="0" err="1">
                <a:latin typeface="JetBrains Mono" panose="020B0509020102050004" pitchFamily="49" charset="77"/>
              </a:rPr>
              <a:t>xxx.bam</a:t>
            </a:r>
            <a:endParaRPr lang="en-US" dirty="0">
              <a:latin typeface="JetBrains Mono" panose="020B0509020102050004" pitchFamily="49" charset="77"/>
            </a:endParaRPr>
          </a:p>
          <a:p>
            <a:r>
              <a:rPr lang="en-US" dirty="0"/>
              <a:t>Open IGV and switch to the mouse reference genome (mm10) in the dropdown in the top left</a:t>
            </a:r>
          </a:p>
          <a:p>
            <a:r>
              <a:rPr lang="en-US" dirty="0"/>
              <a:t>Load your bam file (File -&gt; Load) </a:t>
            </a:r>
          </a:p>
        </p:txBody>
      </p:sp>
    </p:spTree>
    <p:extLst>
      <p:ext uri="{BB962C8B-B14F-4D97-AF65-F5344CB8AC3E}">
        <p14:creationId xmlns:p14="http://schemas.microsoft.com/office/powerpoint/2010/main" val="3487699225"/>
      </p:ext>
    </p:extLst>
  </p:cSld>
  <p:clrMapOvr>
    <a:masterClrMapping/>
  </p:clrMapOvr>
</p:sld>
</file>

<file path=ppt/theme/theme1.xml><?xml version="1.0" encoding="utf-8"?>
<a:theme xmlns:a="http://schemas.openxmlformats.org/drawingml/2006/main" name="MUSOM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0325">
          <a:solidFill>
            <a:srgbClr val="535C5C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00AF41"/>
        </a:solidFill>
      </a:spPr>
      <a:bodyPr wrap="square" rtlCol="0">
        <a:sp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OM" id="{CB6BB4B1-8331-CB4D-B3AA-CD1B2079FC59}" vid="{DE073F15-A86C-7640-8012-1389FBAB8C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2906</TotalTime>
  <Words>392</Words>
  <Application>Microsoft Macintosh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JetBrains Mono</vt:lpstr>
      <vt:lpstr>MUSOM</vt:lpstr>
      <vt:lpstr>The HISAT2 Aligner</vt:lpstr>
      <vt:lpstr>HISAT2</vt:lpstr>
      <vt:lpstr>Spliced alignment</vt:lpstr>
      <vt:lpstr>Basic strategy</vt:lpstr>
      <vt:lpstr>HISAT2 indexes</vt:lpstr>
      <vt:lpstr>Running HISAT2</vt:lpstr>
      <vt:lpstr>View the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HISAT2 Aligner</dc:title>
  <dc:creator>Denvir, James</dc:creator>
  <cp:lastModifiedBy>Denvir, James</cp:lastModifiedBy>
  <cp:revision>14</cp:revision>
  <dcterms:created xsi:type="dcterms:W3CDTF">2021-07-19T14:31:00Z</dcterms:created>
  <dcterms:modified xsi:type="dcterms:W3CDTF">2021-07-21T14:57:21Z</dcterms:modified>
</cp:coreProperties>
</file>