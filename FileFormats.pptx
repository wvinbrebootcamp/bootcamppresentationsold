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6327"/>
  </p:normalViewPr>
  <p:slideViewPr>
    <p:cSldViewPr snapToGrid="0" snapToObjects="1" showGuides="1">
      <p:cViewPr varScale="1">
        <p:scale>
          <a:sx n="118" d="100"/>
          <a:sy n="11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B6F00A2-D617-FA4B-A3BF-B86CDE3843DC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Marshall University Joan C. Edwards School of Medicine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99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02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70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7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69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7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54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49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6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464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31ADF93-BE66-E145-A466-01B9FCB02C12}" type="datetimeFigureOut">
              <a:rPr lang="en-US" smtClean="0"/>
              <a:t>7/6/21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CADD76B-B037-8D43-9DAC-6C1CF7A12B1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69F39-1E61-E84E-84A9-3551FA50AD8E}"/>
              </a:ext>
            </a:extLst>
          </p:cNvPr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FAD869-77C3-4B48-B947-FF39E5B8980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77036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3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cbi.nlm.nih.gov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bi.nlm.nih.gov/sars-cov-2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ncbi.nlm.nih.gov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4DC7B-1F9B-5149-88FE-5D0558DFCE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Bioinformatics File Formats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7D6E9-A101-C14C-AFB3-CD50B9474D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WV-INBRE Bioinformatics Bootcamp 2021</a:t>
            </a:r>
          </a:p>
        </p:txBody>
      </p:sp>
    </p:spTree>
    <p:extLst>
      <p:ext uri="{BB962C8B-B14F-4D97-AF65-F5344CB8AC3E}">
        <p14:creationId xmlns:p14="http://schemas.microsoft.com/office/powerpoint/2010/main" val="917980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4760-9A08-2B4D-8198-483A6DEF9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file format?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8E695-E953-FA47-9708-9A1BD78A5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bioinformatics data is basically text data</a:t>
            </a:r>
          </a:p>
          <a:p>
            <a:pPr lvl="1"/>
            <a:r>
              <a:rPr lang="en-US" dirty="0"/>
              <a:t>Sequence data</a:t>
            </a:r>
          </a:p>
          <a:p>
            <a:pPr lvl="1"/>
            <a:r>
              <a:rPr lang="en-US" dirty="0"/>
              <a:t>Meta-data associated with sequences</a:t>
            </a:r>
          </a:p>
          <a:p>
            <a:r>
              <a:rPr lang="en-US" dirty="0"/>
              <a:t>A </a:t>
            </a:r>
            <a:r>
              <a:rPr lang="en-US" i="1" dirty="0"/>
              <a:t>file format</a:t>
            </a:r>
            <a:r>
              <a:rPr lang="en-US" dirty="0"/>
              <a:t> specifies the structure of a (text) file</a:t>
            </a:r>
          </a:p>
          <a:p>
            <a:pPr lvl="1"/>
            <a:r>
              <a:rPr lang="en-US" dirty="0"/>
              <a:t>Having a defined structure allows software to process files and generate useful data from them</a:t>
            </a:r>
          </a:p>
        </p:txBody>
      </p:sp>
    </p:spTree>
    <p:extLst>
      <p:ext uri="{BB962C8B-B14F-4D97-AF65-F5344CB8AC3E}">
        <p14:creationId xmlns:p14="http://schemas.microsoft.com/office/powerpoint/2010/main" val="611678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94349-1311-B144-9880-35C13C4F1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Bioinformatics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BE9D-6834-9047-9E0F-0C5C7731F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file formats defined by bioinformaticians</a:t>
            </a:r>
          </a:p>
          <a:p>
            <a:pPr lvl="1"/>
            <a:r>
              <a:rPr lang="en-US" dirty="0" err="1"/>
              <a:t>fasta</a:t>
            </a:r>
            <a:r>
              <a:rPr lang="en-US" dirty="0"/>
              <a:t> files: define and name sequences</a:t>
            </a:r>
          </a:p>
          <a:p>
            <a:pPr lvl="2"/>
            <a:r>
              <a:rPr lang="en-US" dirty="0"/>
              <a:t>can be DNA, RNA, or protein sequences</a:t>
            </a:r>
          </a:p>
          <a:p>
            <a:pPr lvl="1"/>
            <a:r>
              <a:rPr lang="en-US" dirty="0" err="1"/>
              <a:t>fastq</a:t>
            </a:r>
            <a:r>
              <a:rPr lang="en-US" dirty="0"/>
              <a:t> files: sequences, typically generated by a sequencer, with "quality" information associated with each sequence</a:t>
            </a:r>
          </a:p>
          <a:p>
            <a:pPr lvl="1"/>
            <a:r>
              <a:rPr lang="en-US" dirty="0" err="1"/>
              <a:t>sam</a:t>
            </a:r>
            <a:r>
              <a:rPr lang="en-US" dirty="0"/>
              <a:t>/bam files: "sequence alignment mapping" define the results of aligning a set of sequences to another set of sequences</a:t>
            </a:r>
          </a:p>
          <a:p>
            <a:pPr lvl="1"/>
            <a:r>
              <a:rPr lang="en-US" dirty="0" err="1"/>
              <a:t>vcf</a:t>
            </a:r>
            <a:r>
              <a:rPr lang="en-US" dirty="0"/>
              <a:t>/</a:t>
            </a:r>
            <a:r>
              <a:rPr lang="en-US" dirty="0" err="1"/>
              <a:t>bcf</a:t>
            </a:r>
            <a:r>
              <a:rPr lang="en-US" dirty="0"/>
              <a:t> files: "variant call format" define changes/mutations from one sequence compared to another sequence</a:t>
            </a:r>
          </a:p>
          <a:p>
            <a:pPr lvl="1"/>
            <a:r>
              <a:rPr lang="en-US" dirty="0"/>
              <a:t>others….</a:t>
            </a:r>
          </a:p>
        </p:txBody>
      </p:sp>
    </p:spTree>
    <p:extLst>
      <p:ext uri="{BB962C8B-B14F-4D97-AF65-F5344CB8AC3E}">
        <p14:creationId xmlns:p14="http://schemas.microsoft.com/office/powerpoint/2010/main" val="761619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0BDBB-D8D2-D245-96EC-5D516621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</a:t>
            </a:r>
            <a:r>
              <a:rPr lang="en-US" dirty="0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93F2F-1348-FD44-B7B0-F47EB953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file format that defines and names sequences</a:t>
            </a:r>
          </a:p>
          <a:p>
            <a:r>
              <a:rPr lang="en-US" dirty="0"/>
              <a:t>One or more "header lines" followed by the sequence associated with that header</a:t>
            </a:r>
          </a:p>
          <a:p>
            <a:pPr lvl="1"/>
            <a:r>
              <a:rPr lang="en-US" dirty="0"/>
              <a:t>Sequence can optionally be split over multiple lines</a:t>
            </a:r>
          </a:p>
          <a:p>
            <a:r>
              <a:rPr lang="en-US" dirty="0"/>
              <a:t>Header lines begin with a &gt;</a:t>
            </a:r>
          </a:p>
          <a:p>
            <a:r>
              <a:rPr lang="en-US" dirty="0"/>
              <a:t>Sequence can be </a:t>
            </a:r>
          </a:p>
          <a:p>
            <a:pPr lvl="1"/>
            <a:r>
              <a:rPr lang="en-US" dirty="0"/>
              <a:t>DNA sequences (made of ACGT, or "ambiguous base" characters)</a:t>
            </a:r>
          </a:p>
          <a:p>
            <a:pPr lvl="1"/>
            <a:r>
              <a:rPr lang="en-US" dirty="0"/>
              <a:t>RNA sequences (ACGU)</a:t>
            </a:r>
          </a:p>
          <a:p>
            <a:pPr lvl="1"/>
            <a:r>
              <a:rPr lang="en-US" dirty="0"/>
              <a:t>Protein sequences (characters are amino acid letters)</a:t>
            </a:r>
          </a:p>
        </p:txBody>
      </p:sp>
    </p:spTree>
    <p:extLst>
      <p:ext uri="{BB962C8B-B14F-4D97-AF65-F5344CB8AC3E}">
        <p14:creationId xmlns:p14="http://schemas.microsoft.com/office/powerpoint/2010/main" val="2279041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2A61-6885-D048-A57E-FC8B270E9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fasta</a:t>
            </a:r>
            <a:r>
              <a:rPr lang="en-US" dirty="0"/>
              <a:t> file (single sequence)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32088-BEB5-FA46-A5DF-021716E79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1559" cy="4351338"/>
          </a:xfrm>
        </p:spPr>
        <p:txBody>
          <a:bodyPr/>
          <a:lstStyle/>
          <a:p>
            <a:r>
              <a:rPr lang="en-US" dirty="0"/>
              <a:t>Download a sequence from the National Center for Biotechnology Information (NCBI)</a:t>
            </a:r>
          </a:p>
          <a:p>
            <a:pPr lvl="1"/>
            <a:r>
              <a:rPr lang="en-US" dirty="0"/>
              <a:t>Go to </a:t>
            </a:r>
            <a:r>
              <a:rPr lang="en-US" dirty="0">
                <a:hlinkClick r:id="rId2"/>
              </a:rPr>
              <a:t>https://ncbi.nlm.nih.gov</a:t>
            </a:r>
            <a:endParaRPr lang="en-US" dirty="0"/>
          </a:p>
          <a:p>
            <a:pPr lvl="1"/>
            <a:r>
              <a:rPr lang="en-US" dirty="0"/>
              <a:t>Follow the "SARS-CoV-2 data" link</a:t>
            </a:r>
          </a:p>
          <a:p>
            <a:pPr lvl="1"/>
            <a:r>
              <a:rPr lang="en-US" dirty="0"/>
              <a:t>Scroll down to the "SARS-CoV-2 Sequence Resources" section and click on "View Record" </a:t>
            </a:r>
          </a:p>
          <a:p>
            <a:pPr lvl="1"/>
            <a:r>
              <a:rPr lang="en-US" dirty="0"/>
              <a:t>Click on the "FASTA" link</a:t>
            </a: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68E60F0-2B8E-F945-B1BA-25CFD63A4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265" y="1365336"/>
            <a:ext cx="6295735" cy="266506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875519FC-4E42-2943-9315-CD29728DB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150" y="2843407"/>
            <a:ext cx="3849654" cy="2699359"/>
          </a:xfrm>
          <a:prstGeom prst="rect">
            <a:avLst/>
          </a:prstGeom>
        </p:spPr>
      </p:pic>
      <p:pic>
        <p:nvPicPr>
          <p:cNvPr id="9" name="Picture 8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41B3EA5-0CBC-684F-8830-847D24282A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180" y="4762162"/>
            <a:ext cx="3056786" cy="1948221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2A6B5E-55B2-2D41-A4F5-D5ADBFB80486}"/>
              </a:ext>
            </a:extLst>
          </p:cNvPr>
          <p:cNvCxnSpPr/>
          <p:nvPr/>
        </p:nvCxnSpPr>
        <p:spPr>
          <a:xfrm flipH="1">
            <a:off x="8868427" y="1603332"/>
            <a:ext cx="576198" cy="1052186"/>
          </a:xfrm>
          <a:prstGeom prst="straightConnector1">
            <a:avLst/>
          </a:prstGeom>
          <a:ln w="603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242661-F46A-B94A-A1C4-404E59566C9E}"/>
              </a:ext>
            </a:extLst>
          </p:cNvPr>
          <p:cNvCxnSpPr/>
          <p:nvPr/>
        </p:nvCxnSpPr>
        <p:spPr>
          <a:xfrm flipH="1">
            <a:off x="10221686" y="4267200"/>
            <a:ext cx="1611085" cy="0"/>
          </a:xfrm>
          <a:prstGeom prst="straightConnector1">
            <a:avLst/>
          </a:prstGeom>
          <a:ln w="603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273A4E-FCB3-8547-ADD9-A4E0499CD4A5}"/>
              </a:ext>
            </a:extLst>
          </p:cNvPr>
          <p:cNvCxnSpPr>
            <a:cxnSpLocks/>
          </p:cNvCxnSpPr>
          <p:nvPr/>
        </p:nvCxnSpPr>
        <p:spPr>
          <a:xfrm>
            <a:off x="4354286" y="6553200"/>
            <a:ext cx="1513114" cy="76200"/>
          </a:xfrm>
          <a:prstGeom prst="straightConnector1">
            <a:avLst/>
          </a:prstGeom>
          <a:ln w="6032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299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5A827-21EF-9744-B37A-2E9062472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Explore the </a:t>
            </a:r>
            <a:r>
              <a:rPr lang="en-US" dirty="0" err="1"/>
              <a:t>fasta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E9916-360E-DA40-BF4D-3EAF56ADE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on "Send to", choose "Complete record" and "File". This will download a file,  usually called "</a:t>
            </a:r>
            <a:r>
              <a:rPr lang="en-US" dirty="0" err="1"/>
              <a:t>sequence.fasta</a:t>
            </a:r>
            <a:r>
              <a:rPr lang="en-US" dirty="0"/>
              <a:t>"</a:t>
            </a:r>
          </a:p>
          <a:p>
            <a:r>
              <a:rPr lang="en-US" dirty="0"/>
              <a:t>Open a terminal and look through the file using more (or less)</a:t>
            </a:r>
          </a:p>
          <a:p>
            <a:r>
              <a:rPr lang="en-US" dirty="0"/>
              <a:t>What is the first line?</a:t>
            </a:r>
          </a:p>
          <a:p>
            <a:r>
              <a:rPr lang="en-US" dirty="0"/>
              <a:t>What does the rest of the file look like?</a:t>
            </a:r>
          </a:p>
          <a:p>
            <a:r>
              <a:rPr lang="en-US" dirty="0"/>
              <a:t>How many lines are there? How many characters in the file? How many characters excluding the first line? How many bases?</a:t>
            </a:r>
          </a:p>
        </p:txBody>
      </p:sp>
    </p:spTree>
    <p:extLst>
      <p:ext uri="{BB962C8B-B14F-4D97-AF65-F5344CB8AC3E}">
        <p14:creationId xmlns:p14="http://schemas.microsoft.com/office/powerpoint/2010/main" val="1951923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3183F-1D58-F940-9716-12B32E501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Nucleic Acid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EDD9B-1FA4-2148-A479-6A1309771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8286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sequence in the </a:t>
            </a:r>
            <a:r>
              <a:rPr lang="en-US" dirty="0" err="1"/>
              <a:t>fasta</a:t>
            </a:r>
            <a:r>
              <a:rPr lang="en-US" dirty="0"/>
              <a:t> file in the previous example comprised of the letters A, C, G, T, and N</a:t>
            </a:r>
          </a:p>
          <a:p>
            <a:r>
              <a:rPr lang="en-US" dirty="0"/>
              <a:t>Deoxyribonucleic Acid (DNA) is composed of the four nucleotides Adenine (A), Cytosine (C), Guanine (G), and Thymine (T). </a:t>
            </a:r>
          </a:p>
          <a:p>
            <a:r>
              <a:rPr lang="en-US" dirty="0"/>
              <a:t>Other letters are used to represent "ambiguities": if we don't know which base is represented at a position</a:t>
            </a:r>
          </a:p>
          <a:p>
            <a:r>
              <a:rPr lang="en-US" dirty="0"/>
              <a:t>N refers to "Any base"</a:t>
            </a:r>
          </a:p>
          <a:p>
            <a:r>
              <a:rPr lang="en-US" dirty="0"/>
              <a:t>Other ambiguous bases are in the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B0D612-72E9-374E-9035-A0D29864F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640844"/>
              </p:ext>
            </p:extLst>
          </p:nvPr>
        </p:nvGraphicFramePr>
        <p:xfrm>
          <a:off x="7489371" y="936172"/>
          <a:ext cx="3829050" cy="4604366"/>
        </p:xfrm>
        <a:graphic>
          <a:graphicData uri="http://schemas.openxmlformats.org/drawingml/2006/table">
            <a:tbl>
              <a:tblPr/>
              <a:tblGrid>
                <a:gridCol w="1404258">
                  <a:extLst>
                    <a:ext uri="{9D8B030D-6E8A-4147-A177-3AD203B41FA5}">
                      <a16:colId xmlns:a16="http://schemas.microsoft.com/office/drawing/2014/main" val="261045499"/>
                    </a:ext>
                  </a:extLst>
                </a:gridCol>
                <a:gridCol w="522514">
                  <a:extLst>
                    <a:ext uri="{9D8B030D-6E8A-4147-A177-3AD203B41FA5}">
                      <a16:colId xmlns:a16="http://schemas.microsoft.com/office/drawing/2014/main" val="1960214786"/>
                    </a:ext>
                  </a:extLst>
                </a:gridCol>
                <a:gridCol w="544286">
                  <a:extLst>
                    <a:ext uri="{9D8B030D-6E8A-4147-A177-3AD203B41FA5}">
                      <a16:colId xmlns:a16="http://schemas.microsoft.com/office/drawing/2014/main" val="103134538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86514941"/>
                    </a:ext>
                  </a:extLst>
                </a:gridCol>
                <a:gridCol w="511628">
                  <a:extLst>
                    <a:ext uri="{9D8B030D-6E8A-4147-A177-3AD203B41FA5}">
                      <a16:colId xmlns:a16="http://schemas.microsoft.com/office/drawing/2014/main" val="356798146"/>
                    </a:ext>
                  </a:extLst>
                </a:gridCol>
                <a:gridCol w="389164">
                  <a:extLst>
                    <a:ext uri="{9D8B030D-6E8A-4147-A177-3AD203B41FA5}">
                      <a16:colId xmlns:a16="http://schemas.microsoft.com/office/drawing/2014/main" val="975984036"/>
                    </a:ext>
                  </a:extLst>
                </a:gridCol>
              </a:tblGrid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Weak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W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129556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chemeClr val="tx1"/>
                          </a:solidFill>
                          <a:effectLst/>
                        </a:rPr>
                        <a:t>Strong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S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027801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i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ino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M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44337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Keto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K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469573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Pu</a:t>
                      </a:r>
                      <a:r>
                        <a:rPr lang="en-US" i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r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ine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R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75122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r>
                        <a:rPr lang="en-US" i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</a:t>
                      </a:r>
                      <a:r>
                        <a:rPr lang="en-US" u="none" strike="noStrike" dirty="0">
                          <a:solidFill>
                            <a:schemeClr val="tx1"/>
                          </a:solidFill>
                          <a:effectLst/>
                        </a:rPr>
                        <a:t>rimidine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Y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879644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Not 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B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372277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Not 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D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059272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Not 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H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89406"/>
                  </a:ext>
                </a:extLst>
              </a:tr>
              <a:tr h="391861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Not 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V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67590"/>
                  </a:ext>
                </a:extLst>
              </a:tr>
              <a:tr h="685756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A</a:t>
                      </a:r>
                      <a:r>
                        <a:rPr lang="en-US" i="1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</a:rPr>
                        <a:t>y one base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</a:t>
                      </a:r>
                      <a:endParaRPr lang="en-US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810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3159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2D4A8-BDA7-A542-ACDA-BEF0601B4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4E00B-660D-6149-9F98-987164DD4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Return to </a:t>
            </a:r>
            <a:r>
              <a:rPr lang="en-US" dirty="0">
                <a:hlinkClick r:id="rId2"/>
              </a:rPr>
              <a:t>https://www.ncbi.nlm.nih.gov/sars-cov-2/</a:t>
            </a:r>
            <a:r>
              <a:rPr lang="en-US" dirty="0"/>
              <a:t> and click on "Nucleotide Records"</a:t>
            </a:r>
          </a:p>
          <a:p>
            <a:r>
              <a:rPr lang="en-US" dirty="0"/>
              <a:t>This provides access to all SARS-CoV-2 sequences submitted by labs to the NCBI</a:t>
            </a:r>
          </a:p>
          <a:p>
            <a:r>
              <a:rPr lang="en-US" dirty="0"/>
              <a:t>Scroll down the filters on the left, and under "Geographic Region" find "North America" and press the right arrow</a:t>
            </a:r>
          </a:p>
          <a:p>
            <a:r>
              <a:rPr lang="en-US" dirty="0"/>
              <a:t>Scroll down in the box to "USA" and press the right arrow, and select "WV"</a:t>
            </a:r>
          </a:p>
          <a:p>
            <a:r>
              <a:rPr lang="en-US" dirty="0"/>
              <a:t>How many sequences are there submitted from WV?</a:t>
            </a:r>
          </a:p>
          <a:p>
            <a:r>
              <a:rPr lang="en-US" dirty="0"/>
              <a:t>Scroll back to the top and press the "Download" button</a:t>
            </a:r>
          </a:p>
          <a:p>
            <a:r>
              <a:rPr lang="en-US" dirty="0"/>
              <a:t>Make sure "Nucleotide" is selected under "Sequence Data" and press "Next". </a:t>
            </a:r>
          </a:p>
          <a:p>
            <a:r>
              <a:rPr lang="en-US" dirty="0"/>
              <a:t>Select "Download all records" and press "Next"</a:t>
            </a:r>
          </a:p>
          <a:p>
            <a:r>
              <a:rPr lang="en-US" dirty="0"/>
              <a:t>Use the default definition line and press "Download" </a:t>
            </a:r>
          </a:p>
        </p:txBody>
      </p:sp>
    </p:spTree>
    <p:extLst>
      <p:ext uri="{BB962C8B-B14F-4D97-AF65-F5344CB8AC3E}">
        <p14:creationId xmlns:p14="http://schemas.microsoft.com/office/powerpoint/2010/main" val="30698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A1DDC-8F10-5148-A625-343657C6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Exploring the </a:t>
            </a:r>
            <a:r>
              <a:rPr lang="en-US" dirty="0" err="1"/>
              <a:t>fasta</a:t>
            </a:r>
            <a:r>
              <a:rPr lang="en-US" dirty="0"/>
              <a:t>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4C204-E9CD-5244-8600-14153D468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a terminal, display the first six lines of the </a:t>
            </a:r>
            <a:r>
              <a:rPr lang="en-US" dirty="0" err="1"/>
              <a:t>fasta</a:t>
            </a:r>
            <a:r>
              <a:rPr lang="en-US" dirty="0"/>
              <a:t> file</a:t>
            </a:r>
          </a:p>
          <a:p>
            <a:r>
              <a:rPr lang="en-US" dirty="0"/>
              <a:t>Display the first six header lines</a:t>
            </a:r>
          </a:p>
          <a:p>
            <a:r>
              <a:rPr lang="en-US" dirty="0"/>
              <a:t>How many header lines are there?</a:t>
            </a:r>
          </a:p>
        </p:txBody>
      </p:sp>
    </p:spTree>
    <p:extLst>
      <p:ext uri="{BB962C8B-B14F-4D97-AF65-F5344CB8AC3E}">
        <p14:creationId xmlns:p14="http://schemas.microsoft.com/office/powerpoint/2010/main" val="1207342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DF9C4-C9AD-B946-8DA2-5163AD368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human reference genome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5664-A404-384B-8175-DEC95613C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https://ncbi.nlm.nih.gov</a:t>
            </a:r>
            <a:endParaRPr lang="en-US" dirty="0"/>
          </a:p>
          <a:p>
            <a:r>
              <a:rPr lang="en-US" dirty="0"/>
              <a:t>In the Search box, type "Homo sapiens" and choose "Genome" for the database</a:t>
            </a:r>
          </a:p>
          <a:p>
            <a:r>
              <a:rPr lang="en-US" dirty="0"/>
              <a:t>Clink the link to "Download sequences in FASTA format for Genome"</a:t>
            </a:r>
          </a:p>
          <a:p>
            <a:r>
              <a:rPr lang="en-US" dirty="0"/>
              <a:t>Note the download is zipped</a:t>
            </a:r>
          </a:p>
          <a:p>
            <a:r>
              <a:rPr lang="en-US" dirty="0"/>
              <a:t>View the headers</a:t>
            </a:r>
          </a:p>
          <a:p>
            <a:pPr lvl="1"/>
            <a:r>
              <a:rPr lang="en-US" dirty="0"/>
              <a:t>Hint: use </a:t>
            </a:r>
            <a:r>
              <a:rPr lang="en-US" dirty="0" err="1"/>
              <a:t>zcat</a:t>
            </a:r>
            <a:r>
              <a:rPr lang="en-US" dirty="0"/>
              <a:t>, grep, and less in combination</a:t>
            </a:r>
          </a:p>
          <a:p>
            <a:pPr lvl="1"/>
            <a:r>
              <a:rPr lang="en-US" dirty="0"/>
              <a:t>We will discuss the different types of sequences represented here in the RNA-Seq section</a:t>
            </a:r>
          </a:p>
        </p:txBody>
      </p:sp>
    </p:spTree>
    <p:extLst>
      <p:ext uri="{BB962C8B-B14F-4D97-AF65-F5344CB8AC3E}">
        <p14:creationId xmlns:p14="http://schemas.microsoft.com/office/powerpoint/2010/main" val="292655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8A26-6EFD-4B4C-8754-23D61033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Fastq</a:t>
            </a:r>
            <a:r>
              <a:rPr lang="en-US" dirty="0"/>
              <a:t>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A0B20-5D90-5D49-A5D8-6D141FC6D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fastq</a:t>
            </a:r>
            <a:r>
              <a:rPr lang="en-US" dirty="0"/>
              <a:t> format is an extension of the </a:t>
            </a:r>
            <a:r>
              <a:rPr lang="en-US" dirty="0" err="1"/>
              <a:t>fasta</a:t>
            </a:r>
            <a:r>
              <a:rPr lang="en-US" dirty="0"/>
              <a:t> format that allows for sequences, along with a per-base quality measure</a:t>
            </a:r>
          </a:p>
          <a:p>
            <a:r>
              <a:rPr lang="en-US" dirty="0"/>
              <a:t>Designed primarily for reads from next-generation sequencing</a:t>
            </a:r>
          </a:p>
          <a:p>
            <a:pPr lvl="1"/>
            <a:r>
              <a:rPr lang="en-US" dirty="0"/>
              <a:t>The sequencer will estimate the confidence/quality of the call for each base, expressed as a probability the call is incorrect</a:t>
            </a:r>
          </a:p>
          <a:p>
            <a:r>
              <a:rPr lang="en-US" dirty="0"/>
              <a:t>The basic format of a </a:t>
            </a:r>
            <a:r>
              <a:rPr lang="en-US" dirty="0" err="1"/>
              <a:t>fastq</a:t>
            </a:r>
            <a:r>
              <a:rPr lang="en-US" dirty="0"/>
              <a:t> file is that each sequence/read is represented in a block with four entries:</a:t>
            </a:r>
          </a:p>
          <a:p>
            <a:pPr lvl="1"/>
            <a:r>
              <a:rPr lang="en-US" dirty="0"/>
              <a:t>A header/id, prefixed by "@"</a:t>
            </a:r>
          </a:p>
          <a:p>
            <a:pPr lvl="1"/>
            <a:r>
              <a:rPr lang="en-US" dirty="0"/>
              <a:t>The sequence</a:t>
            </a:r>
          </a:p>
          <a:p>
            <a:pPr lvl="1"/>
            <a:r>
              <a:rPr lang="en-US" dirty="0"/>
              <a:t>"+", followed optionally by the same header/id</a:t>
            </a:r>
          </a:p>
          <a:p>
            <a:pPr lvl="1"/>
            <a:r>
              <a:rPr lang="en-US" dirty="0"/>
              <a:t>The quality score, which should be the same length as the sequence</a:t>
            </a:r>
          </a:p>
        </p:txBody>
      </p:sp>
    </p:spTree>
    <p:extLst>
      <p:ext uri="{BB962C8B-B14F-4D97-AF65-F5344CB8AC3E}">
        <p14:creationId xmlns:p14="http://schemas.microsoft.com/office/powerpoint/2010/main" val="1761384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AA9F-2848-FC4D-B86F-7D448B31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score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0839E-EA17-BD43-8525-6D5169C70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Quality scores are represented by probabilities of errors</a:t>
            </a:r>
          </a:p>
          <a:p>
            <a:r>
              <a:rPr lang="en-US" dirty="0"/>
              <a:t>Inefficient (takes too many characters) to directly represent the numerical value in a text file</a:t>
            </a:r>
          </a:p>
          <a:p>
            <a:r>
              <a:rPr lang="en-US" dirty="0"/>
              <a:t>Probabilities are encoded as "</a:t>
            </a:r>
            <a:r>
              <a:rPr lang="en-US" dirty="0" err="1"/>
              <a:t>Phred</a:t>
            </a:r>
            <a:r>
              <a:rPr lang="en-US" dirty="0"/>
              <a:t> scores"</a:t>
            </a:r>
          </a:p>
          <a:p>
            <a:pPr lvl="1"/>
            <a:r>
              <a:rPr lang="en-US" dirty="0"/>
              <a:t>Compute -10 log(p) + 33 where p is the probability of the error</a:t>
            </a:r>
          </a:p>
          <a:p>
            <a:pPr lvl="1"/>
            <a:r>
              <a:rPr lang="en-US" dirty="0"/>
              <a:t>Note the negative sign means high probabilities result in low scores</a:t>
            </a:r>
          </a:p>
          <a:p>
            <a:pPr lvl="1"/>
            <a:r>
              <a:rPr lang="en-US" dirty="0"/>
              <a:t>Represent the resulting value as a character using ASCII codes</a:t>
            </a:r>
          </a:p>
          <a:p>
            <a:pPr lvl="1"/>
            <a:r>
              <a:rPr lang="en-US" dirty="0"/>
              <a:t>Adding 33 means that we always avoid any "control characters", and everything is represented as a printable character</a:t>
            </a:r>
          </a:p>
        </p:txBody>
      </p:sp>
    </p:spTree>
    <p:extLst>
      <p:ext uri="{BB962C8B-B14F-4D97-AF65-F5344CB8AC3E}">
        <p14:creationId xmlns:p14="http://schemas.microsoft.com/office/powerpoint/2010/main" val="2943685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FC5A4-3BA6-6243-AA98-1E3E7D87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fastq</a:t>
            </a:r>
            <a:r>
              <a:rPr lang="en-US" dirty="0"/>
              <a:t>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FA856-ADFD-B44C-8979-864F9204C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3857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 into the server</a:t>
            </a:r>
          </a:p>
          <a:p>
            <a:pPr lvl="1"/>
            <a:r>
              <a:rPr lang="en-US" dirty="0" err="1"/>
              <a:t>ssh</a:t>
            </a:r>
            <a:r>
              <a:rPr lang="en-US" dirty="0"/>
              <a:t> </a:t>
            </a:r>
            <a:r>
              <a:rPr lang="en-US" dirty="0" err="1"/>
              <a:t>username@htseq.marshall.edu</a:t>
            </a:r>
            <a:endParaRPr lang="en-US" dirty="0"/>
          </a:p>
          <a:p>
            <a:r>
              <a:rPr lang="en-US" dirty="0"/>
              <a:t>Navigate to …</a:t>
            </a:r>
          </a:p>
          <a:p>
            <a:r>
              <a:rPr lang="en-US" dirty="0"/>
              <a:t>Examine one or more of the </a:t>
            </a:r>
            <a:r>
              <a:rPr lang="en-US" dirty="0" err="1"/>
              <a:t>fastq</a:t>
            </a:r>
            <a:r>
              <a:rPr lang="en-US" dirty="0"/>
              <a:t> files</a:t>
            </a:r>
          </a:p>
          <a:p>
            <a:pPr lvl="1"/>
            <a:r>
              <a:rPr lang="en-US" dirty="0"/>
              <a:t>Note these are zipped</a:t>
            </a:r>
          </a:p>
          <a:p>
            <a:pPr lvl="1"/>
            <a:r>
              <a:rPr lang="en-US" dirty="0"/>
              <a:t>Use </a:t>
            </a:r>
            <a:r>
              <a:rPr lang="en-US" dirty="0" err="1"/>
              <a:t>zcat</a:t>
            </a:r>
            <a:r>
              <a:rPr lang="en-US" dirty="0"/>
              <a:t> and less in combination</a:t>
            </a:r>
          </a:p>
          <a:p>
            <a:r>
              <a:rPr lang="en-US" dirty="0"/>
              <a:t>Can you figure out the probabilities of errors for some of the </a:t>
            </a:r>
            <a:r>
              <a:rPr lang="en-US" dirty="0" err="1"/>
              <a:t>phred</a:t>
            </a:r>
            <a:r>
              <a:rPr lang="en-US" dirty="0"/>
              <a:t> scores? (Select ASCII codes are in the table)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6D63F31-F364-1A4E-99FF-83C9A0D6E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629302"/>
              </p:ext>
            </p:extLst>
          </p:nvPr>
        </p:nvGraphicFramePr>
        <p:xfrm>
          <a:off x="7345455" y="174171"/>
          <a:ext cx="1994488" cy="5261152"/>
        </p:xfrm>
        <a:graphic>
          <a:graphicData uri="http://schemas.openxmlformats.org/drawingml/2006/table">
            <a:tbl>
              <a:tblPr/>
              <a:tblGrid>
                <a:gridCol w="851488">
                  <a:extLst>
                    <a:ext uri="{9D8B030D-6E8A-4147-A177-3AD203B41FA5}">
                      <a16:colId xmlns:a16="http://schemas.microsoft.com/office/drawing/2014/main" val="35225424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311456979"/>
                    </a:ext>
                  </a:extLst>
                </a:gridCol>
              </a:tblGrid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ASCII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Character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9546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33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!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487503"/>
                  </a:ext>
                </a:extLst>
              </a:tr>
              <a:tr h="3411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34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"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08983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35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#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3518153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36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$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709693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37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%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816217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38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&amp;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710120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39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'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545207"/>
                  </a:ext>
                </a:extLst>
              </a:tr>
              <a:tr h="3411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40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(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2023145"/>
                  </a:ext>
                </a:extLst>
              </a:tr>
              <a:tr h="3411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41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)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108001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42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*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24054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43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+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801508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44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,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46862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45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-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157626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46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.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319899"/>
                  </a:ext>
                </a:extLst>
              </a:tr>
              <a:tr h="32597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47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/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05008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ECA20A5-9C92-7E43-9D08-74E6EEB22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279654"/>
              </p:ext>
            </p:extLst>
          </p:nvPr>
        </p:nvGraphicFramePr>
        <p:xfrm>
          <a:off x="9535886" y="185058"/>
          <a:ext cx="2177144" cy="5718653"/>
        </p:xfrm>
        <a:graphic>
          <a:graphicData uri="http://schemas.openxmlformats.org/drawingml/2006/table">
            <a:tbl>
              <a:tblPr/>
              <a:tblGrid>
                <a:gridCol w="1088572">
                  <a:extLst>
                    <a:ext uri="{9D8B030D-6E8A-4147-A177-3AD203B41FA5}">
                      <a16:colId xmlns:a16="http://schemas.microsoft.com/office/drawing/2014/main" val="3420083753"/>
                    </a:ext>
                  </a:extLst>
                </a:gridCol>
                <a:gridCol w="1088572">
                  <a:extLst>
                    <a:ext uri="{9D8B030D-6E8A-4147-A177-3AD203B41FA5}">
                      <a16:colId xmlns:a16="http://schemas.microsoft.com/office/drawing/2014/main" val="3112286578"/>
                    </a:ext>
                  </a:extLst>
                </a:gridCol>
              </a:tblGrid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ASCII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Character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526201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48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0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639263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49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1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183558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…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…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941751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57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9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54442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58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: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623223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59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;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31855"/>
                  </a:ext>
                </a:extLst>
              </a:tr>
              <a:tr h="345264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60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&lt;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50648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61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=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699296"/>
                  </a:ext>
                </a:extLst>
              </a:tr>
              <a:tr h="425159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62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&gt;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576524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63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?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42633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64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@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176263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65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A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221071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66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B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013001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>
                          <a:effectLst/>
                        </a:rPr>
                        <a:t>67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C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572476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68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D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629901"/>
                  </a:ext>
                </a:extLst>
              </a:tr>
              <a:tr h="329882"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…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000" dirty="0">
                          <a:effectLst/>
                        </a:rPr>
                        <a:t>…</a:t>
                      </a:r>
                    </a:p>
                  </a:txBody>
                  <a:tcPr marL="19601" marR="19601" marT="9800" marB="9800">
                    <a:lnL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7BF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6937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901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0E783-76E8-EE4A-870B-3027A2AFC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bioinformatic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BFE38-AB90-F845-A8FC-944110567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sam</a:t>
            </a:r>
            <a:r>
              <a:rPr lang="en-US" dirty="0"/>
              <a:t> format ("Sequence alignment format") </a:t>
            </a:r>
          </a:p>
          <a:p>
            <a:pPr lvl="1"/>
            <a:r>
              <a:rPr lang="en-US" dirty="0"/>
              <a:t>Describes the results of aligning sequences (typically reads) to a reference genome</a:t>
            </a:r>
          </a:p>
          <a:p>
            <a:pPr lvl="1"/>
            <a:r>
              <a:rPr lang="en-US" dirty="0"/>
              <a:t>We will see alignment in the next section</a:t>
            </a:r>
          </a:p>
          <a:p>
            <a:r>
              <a:rPr lang="en-US" dirty="0" err="1"/>
              <a:t>vcf</a:t>
            </a:r>
            <a:r>
              <a:rPr lang="en-US" dirty="0"/>
              <a:t> ("Variant call format")</a:t>
            </a:r>
          </a:p>
          <a:p>
            <a:pPr lvl="1"/>
            <a:r>
              <a:rPr lang="en-US" dirty="0"/>
              <a:t>Describes variations between genome sequences in samples and a reference</a:t>
            </a:r>
          </a:p>
          <a:p>
            <a:r>
              <a:rPr lang="en-US" dirty="0"/>
              <a:t>Many others…</a:t>
            </a:r>
          </a:p>
        </p:txBody>
      </p:sp>
    </p:spTree>
    <p:extLst>
      <p:ext uri="{BB962C8B-B14F-4D97-AF65-F5344CB8AC3E}">
        <p14:creationId xmlns:p14="http://schemas.microsoft.com/office/powerpoint/2010/main" val="903743314"/>
      </p:ext>
    </p:extLst>
  </p:cSld>
  <p:clrMapOvr>
    <a:masterClrMapping/>
  </p:clrMapOvr>
</p:sld>
</file>

<file path=ppt/theme/theme1.xml><?xml version="1.0" encoding="utf-8"?>
<a:theme xmlns:a="http://schemas.openxmlformats.org/drawingml/2006/main" name="MUSOM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60325">
          <a:solidFill>
            <a:srgbClr val="535C5C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00AF41"/>
        </a:solidFill>
      </a:spPr>
      <a:bodyPr wrap="square" rtlCol="0">
        <a:spAutoFit/>
      </a:bodyPr>
      <a:lstStyle>
        <a:defPPr algn="l">
          <a:defRPr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USOM" id="{CB6BB4B1-8331-CB4D-B3AA-CD1B2079FC59}" vid="{DE073F15-A86C-7640-8012-1389FBAB8C1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MUSOM</Template>
  <TotalTime>327</TotalTime>
  <Words>1142</Words>
  <Application>Microsoft Macintosh PowerPoint</Application>
  <PresentationFormat>Widescreen</PresentationFormat>
  <Paragraphs>213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MUSOM</vt:lpstr>
      <vt:lpstr>Bioinformatics File Formats</vt:lpstr>
      <vt:lpstr>What is a file format?</vt:lpstr>
      <vt:lpstr>Bioinformatics file formats</vt:lpstr>
      <vt:lpstr>Fasta files</vt:lpstr>
      <vt:lpstr>Example fasta file (single sequence)</vt:lpstr>
      <vt:lpstr>Explore the fasta file</vt:lpstr>
      <vt:lpstr>Aside: Nucleic Acid Notation</vt:lpstr>
      <vt:lpstr>Another example</vt:lpstr>
      <vt:lpstr>Exploring the fasta file</vt:lpstr>
      <vt:lpstr>The human reference genome</vt:lpstr>
      <vt:lpstr>Fastq format</vt:lpstr>
      <vt:lpstr>Quality score encoding</vt:lpstr>
      <vt:lpstr>Example fastq files</vt:lpstr>
      <vt:lpstr>Other bioinformatic file formats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Bioinformatics File Formats</dc:title>
  <dc:creator>Denvir, James</dc:creator>
  <cp:lastModifiedBy>Denvir, James</cp:lastModifiedBy>
  <cp:revision>22</cp:revision>
  <dcterms:created xsi:type="dcterms:W3CDTF">2021-07-06T14:12:07Z</dcterms:created>
  <dcterms:modified xsi:type="dcterms:W3CDTF">2021-07-06T19:39:35Z</dcterms:modified>
</cp:coreProperties>
</file>