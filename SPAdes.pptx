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 showGuides="1">
      <p:cViewPr varScale="1">
        <p:scale>
          <a:sx n="118" d="100"/>
          <a:sy n="11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6F00A2-D617-FA4B-A3BF-B86CDE3843D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Marshall University Joan C. Edwards School of Medicine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61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9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7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4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7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4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9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0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9D03451-720C-6B4A-BCBF-E2EDF74F49D2}" type="datetimeFigureOut">
              <a:rPr lang="en-US" smtClean="0"/>
              <a:t>7/15/21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1CE4724-F1B9-0E4A-80F8-58D5AE8767C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69F39-1E61-E84E-84A9-3551FA50AD8E}"/>
              </a:ext>
            </a:extLst>
          </p:cNvPr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FAD869-77C3-4B48-B947-FF39E5B8980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77036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007F-AAFE-9846-BB24-B4903FCCB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SPAdes</a:t>
            </a:r>
            <a:r>
              <a:rPr lang="en-US" dirty="0"/>
              <a:t> </a:t>
            </a:r>
            <a:r>
              <a:rPr lang="en-US" dirty="0" err="1"/>
              <a:t>Assmbler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2D9F4-2E33-1646-A020-DF3BE3816C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WV-INBRE Bioinformatics Bootcamp</a:t>
            </a:r>
          </a:p>
          <a:p>
            <a:r>
              <a:rPr lang="en-US" dirty="0"/>
              <a:t>Summer 2021</a:t>
            </a:r>
          </a:p>
        </p:txBody>
      </p:sp>
    </p:spTree>
    <p:extLst>
      <p:ext uri="{BB962C8B-B14F-4D97-AF65-F5344CB8AC3E}">
        <p14:creationId xmlns:p14="http://schemas.microsoft.com/office/powerpoint/2010/main" val="138010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FC9E-FE27-FD4F-941A-179282F6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D79B8-DB0B-EA42-9E89-AE00F89E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SPAdes</a:t>
            </a:r>
            <a:r>
              <a:rPr lang="en-US" dirty="0"/>
              <a:t> is a short read assembler</a:t>
            </a:r>
          </a:p>
          <a:p>
            <a:r>
              <a:rPr lang="en-US" dirty="0"/>
              <a:t>Performs either </a:t>
            </a:r>
            <a:r>
              <a:rPr lang="en-US" i="1" dirty="0"/>
              <a:t>de novo</a:t>
            </a:r>
            <a:r>
              <a:rPr lang="en-US" dirty="0"/>
              <a:t> or </a:t>
            </a:r>
            <a:r>
              <a:rPr lang="en-US" i="1" dirty="0"/>
              <a:t>guided</a:t>
            </a:r>
            <a:r>
              <a:rPr lang="en-US" dirty="0"/>
              <a:t> assembly of short sequencing reads</a:t>
            </a:r>
          </a:p>
          <a:p>
            <a:pPr lvl="1"/>
            <a:r>
              <a:rPr lang="en-US" dirty="0"/>
              <a:t>Works with Illumina data as well as data from other platforms</a:t>
            </a:r>
          </a:p>
          <a:p>
            <a:pPr lvl="1"/>
            <a:r>
              <a:rPr lang="en-US" i="1" dirty="0"/>
              <a:t>de novo </a:t>
            </a:r>
            <a:r>
              <a:rPr lang="en-US" dirty="0"/>
              <a:t>means this is assembling a previously unknown genome sequence</a:t>
            </a:r>
          </a:p>
          <a:p>
            <a:pPr lvl="1"/>
            <a:r>
              <a:rPr lang="en-US" i="1" dirty="0"/>
              <a:t>guided</a:t>
            </a:r>
            <a:r>
              <a:rPr lang="en-US" dirty="0"/>
              <a:t> means we use an existing genome sequence to guide the assembly</a:t>
            </a:r>
          </a:p>
          <a:p>
            <a:r>
              <a:rPr lang="en-US" dirty="0"/>
              <a:t>De </a:t>
            </a:r>
            <a:r>
              <a:rPr lang="en-US" dirty="0" err="1"/>
              <a:t>Brujin</a:t>
            </a:r>
            <a:r>
              <a:rPr lang="en-US" dirty="0"/>
              <a:t> graph based method</a:t>
            </a:r>
          </a:p>
          <a:p>
            <a:r>
              <a:rPr lang="en-US" dirty="0"/>
              <a:t>Developed by the Center for Algorithmic Biology at St. Petersburg State University, Russia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cab.spbu.ru</a:t>
            </a:r>
            <a:r>
              <a:rPr lang="en-US" dirty="0"/>
              <a:t>/software/spades/</a:t>
            </a:r>
          </a:p>
        </p:txBody>
      </p:sp>
    </p:spTree>
    <p:extLst>
      <p:ext uri="{BB962C8B-B14F-4D97-AF65-F5344CB8AC3E}">
        <p14:creationId xmlns:p14="http://schemas.microsoft.com/office/powerpoint/2010/main" val="1816099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3589-4BB0-8A48-95BB-7FD785D9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SARS-CoV-2 sequencing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9F07-9133-7341-BAB7-BBFCDCF8B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approach so far has been to align to the existing genome sequence from the variant detected in Wuhan, China, in December 2019</a:t>
            </a:r>
          </a:p>
          <a:p>
            <a:r>
              <a:rPr lang="en-US" dirty="0"/>
              <a:t>Here we will assemble the reads de novo using </a:t>
            </a:r>
            <a:r>
              <a:rPr lang="en-US" dirty="0" err="1"/>
              <a:t>SPAdes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3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555F-3740-4A4D-B3EE-B61F6ED5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SPAdes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32B37-C07D-1246-B4A9-56730E9AE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a </a:t>
            </a:r>
            <a:r>
              <a:rPr lang="en-US" sz="2400" dirty="0" err="1">
                <a:latin typeface="JetBrains Mono" panose="020B0509020102050004" pitchFamily="49" charset="77"/>
              </a:rPr>
              <a:t>SPAdesOutput</a:t>
            </a:r>
            <a:r>
              <a:rPr lang="en-US" dirty="0"/>
              <a:t> folder under your </a:t>
            </a:r>
            <a:r>
              <a:rPr lang="en-US" sz="2400" dirty="0">
                <a:latin typeface="JetBrains Mono" panose="020B0509020102050004" pitchFamily="49" charset="77"/>
              </a:rPr>
              <a:t>sars-cov-2-reads</a:t>
            </a:r>
            <a:r>
              <a:rPr lang="en-US" dirty="0"/>
              <a:t> folder</a:t>
            </a:r>
          </a:p>
          <a:p>
            <a:r>
              <a:rPr lang="en-US" dirty="0"/>
              <a:t>Choose one of your samples (</a:t>
            </a:r>
            <a:r>
              <a:rPr lang="en-US" dirty="0" err="1"/>
              <a:t>WVxxxxxx</a:t>
            </a:r>
            <a:r>
              <a:rPr lang="en-US" dirty="0"/>
              <a:t>) and create a </a:t>
            </a:r>
            <a:r>
              <a:rPr lang="en-US" sz="2400" dirty="0" err="1">
                <a:latin typeface="JetBrains Mono" panose="020B0509020102050004" pitchFamily="49" charset="77"/>
              </a:rPr>
              <a:t>WVxxxxxx</a:t>
            </a:r>
            <a:r>
              <a:rPr lang="en-US" dirty="0"/>
              <a:t> folder inside </a:t>
            </a:r>
            <a:r>
              <a:rPr lang="en-US" sz="2400" dirty="0" err="1">
                <a:latin typeface="JetBrains Mono" panose="020B0509020102050004" pitchFamily="49" charset="77"/>
              </a:rPr>
              <a:t>SPAdesOutput</a:t>
            </a:r>
            <a:endParaRPr lang="en-US" sz="2400" dirty="0">
              <a:latin typeface="JetBrains Mono" panose="020B0509020102050004" pitchFamily="49" charset="77"/>
            </a:endParaRPr>
          </a:p>
          <a:p>
            <a:r>
              <a:rPr lang="en-US" dirty="0"/>
              <a:t>Run </a:t>
            </a:r>
            <a:r>
              <a:rPr lang="en-US" dirty="0" err="1"/>
              <a:t>SPAdes</a:t>
            </a:r>
            <a:r>
              <a:rPr lang="en-US" dirty="0"/>
              <a:t> using</a:t>
            </a:r>
          </a:p>
          <a:p>
            <a:pPr marL="0" indent="0">
              <a:buNone/>
            </a:pPr>
            <a:r>
              <a:rPr lang="en-US" dirty="0"/>
              <a:t>/opt/SPAdes-3.15.2-Linux/bin/</a:t>
            </a:r>
            <a:r>
              <a:rPr lang="en-US" dirty="0" err="1"/>
              <a:t>spades.py</a:t>
            </a:r>
            <a:r>
              <a:rPr lang="en-US" dirty="0"/>
              <a:t> -s WVxxxxxx_R1.fastq.gz \</a:t>
            </a:r>
          </a:p>
          <a:p>
            <a:pPr marL="0" indent="0">
              <a:buNone/>
            </a:pPr>
            <a:r>
              <a:rPr lang="en-US" dirty="0"/>
              <a:t>-o </a:t>
            </a:r>
            <a:r>
              <a:rPr lang="en-US" dirty="0" err="1"/>
              <a:t>SPAdesOutput</a:t>
            </a:r>
            <a:r>
              <a:rPr lang="en-US" dirty="0"/>
              <a:t>/</a:t>
            </a:r>
            <a:r>
              <a:rPr lang="en-US" dirty="0" err="1"/>
              <a:t>WVxxxxxx</a:t>
            </a:r>
            <a:r>
              <a:rPr lang="en-US" dirty="0"/>
              <a:t> --</a:t>
            </a:r>
            <a:r>
              <a:rPr lang="en-US" dirty="0" err="1"/>
              <a:t>cov</a:t>
            </a:r>
            <a:r>
              <a:rPr lang="en-US" dirty="0"/>
              <a:t>-cutoff 1000 --isolate -t 1 &amp;</a:t>
            </a:r>
          </a:p>
          <a:p>
            <a:r>
              <a:rPr lang="en-US" dirty="0"/>
              <a:t>The options are:</a:t>
            </a:r>
          </a:p>
          <a:p>
            <a:pPr lvl="1"/>
            <a:r>
              <a:rPr lang="en-US" dirty="0"/>
              <a:t>-s : single read file</a:t>
            </a:r>
          </a:p>
          <a:p>
            <a:pPr lvl="1"/>
            <a:r>
              <a:rPr lang="en-US" dirty="0"/>
              <a:t>-o : output folder</a:t>
            </a:r>
          </a:p>
          <a:p>
            <a:pPr lvl="1"/>
            <a:r>
              <a:rPr lang="en-US" dirty="0"/>
              <a:t>--</a:t>
            </a:r>
            <a:r>
              <a:rPr lang="en-US" dirty="0" err="1"/>
              <a:t>cov</a:t>
            </a:r>
            <a:r>
              <a:rPr lang="en-US" dirty="0"/>
              <a:t>-cutoff : only consider paths in the De </a:t>
            </a:r>
            <a:r>
              <a:rPr lang="en-US" dirty="0" err="1"/>
              <a:t>Brujin</a:t>
            </a:r>
            <a:r>
              <a:rPr lang="en-US" dirty="0"/>
              <a:t> graph with coverage at least 1000</a:t>
            </a:r>
          </a:p>
          <a:p>
            <a:pPr lvl="1"/>
            <a:r>
              <a:rPr lang="en-US" dirty="0"/>
              <a:t>--isolate : optimize for multi-cell, uniform high coverage samples</a:t>
            </a:r>
          </a:p>
          <a:p>
            <a:pPr lvl="1"/>
            <a:r>
              <a:rPr lang="en-US" dirty="0"/>
              <a:t>-t : number of threads (CPUs) to use</a:t>
            </a:r>
          </a:p>
        </p:txBody>
      </p:sp>
    </p:spTree>
    <p:extLst>
      <p:ext uri="{BB962C8B-B14F-4D97-AF65-F5344CB8AC3E}">
        <p14:creationId xmlns:p14="http://schemas.microsoft.com/office/powerpoint/2010/main" val="1002656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10A4-5D79-7C42-8B23-4CCB3179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</a:t>
            </a:r>
            <a:r>
              <a:rPr lang="en-US" dirty="0" err="1"/>
              <a:t>SPAdes</a:t>
            </a:r>
            <a:r>
              <a:rPr lang="en-US" dirty="0"/>
              <a:t>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C040-FA40-FF47-8CF4-25E4DC018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 output is </a:t>
            </a:r>
            <a:r>
              <a:rPr lang="en-US" dirty="0" err="1"/>
              <a:t>scaffolds.fasta</a:t>
            </a:r>
            <a:r>
              <a:rPr lang="en-US" dirty="0"/>
              <a:t> in the specified output folder</a:t>
            </a:r>
          </a:p>
          <a:p>
            <a:r>
              <a:rPr lang="en-US" dirty="0"/>
              <a:t>Examine the headers in this </a:t>
            </a:r>
            <a:r>
              <a:rPr lang="en-US" dirty="0" err="1"/>
              <a:t>fasta</a:t>
            </a:r>
            <a:r>
              <a:rPr lang="en-US" dirty="0"/>
              <a:t> file</a:t>
            </a:r>
          </a:p>
          <a:p>
            <a:r>
              <a:rPr lang="en-US" dirty="0"/>
              <a:t>How many sequences are in the file?</a:t>
            </a:r>
          </a:p>
          <a:p>
            <a:r>
              <a:rPr lang="en-US" dirty="0"/>
              <a:t>What is the length of each sequence?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17431"/>
      </p:ext>
    </p:extLst>
  </p:cSld>
  <p:clrMapOvr>
    <a:masterClrMapping/>
  </p:clrMapOvr>
</p:sld>
</file>

<file path=ppt/theme/theme1.xml><?xml version="1.0" encoding="utf-8"?>
<a:theme xmlns:a="http://schemas.openxmlformats.org/drawingml/2006/main" name="MUSOM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0325">
          <a:solidFill>
            <a:srgbClr val="535C5C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00AF41"/>
        </a:solidFill>
      </a:spPr>
      <a:bodyPr wrap="square" rtlCol="0">
        <a:sp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OM" id="{CB6BB4B1-8331-CB4D-B3AA-CD1B2079FC59}" vid="{DE073F15-A86C-7640-8012-1389FBAB8C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MUSOM</Template>
  <TotalTime>1108</TotalTime>
  <Words>282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JetBrains Mono</vt:lpstr>
      <vt:lpstr>MUSOM</vt:lpstr>
      <vt:lpstr>SPAdes Assmbler</vt:lpstr>
      <vt:lpstr>SPAdes</vt:lpstr>
      <vt:lpstr>SARS-CoV-2 sequencing data</vt:lpstr>
      <vt:lpstr>Running SPAdes</vt:lpstr>
      <vt:lpstr>Examining SPAdes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SPAdes Assmbler</dc:title>
  <dc:creator>Denvir, James</dc:creator>
  <cp:lastModifiedBy>Denvir, James</cp:lastModifiedBy>
  <cp:revision>6</cp:revision>
  <dcterms:created xsi:type="dcterms:W3CDTF">2021-07-15T18:59:11Z</dcterms:created>
  <dcterms:modified xsi:type="dcterms:W3CDTF">2021-07-16T13:27:56Z</dcterms:modified>
</cp:coreProperties>
</file>