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6858000" cx="12192000"/>
  <p:notesSz cx="6858000" cy="9144000"/>
  <p:embeddedFontLst>
    <p:embeddedFont>
      <p:font typeface="JetBrains Mono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r:id="rId20" roundtripDataSignature="AMtx7mhFt3GSIFWqjdnTI1WshSbeF1X1d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JetBrainsMono-bold.fntdata"/><Relationship Id="rId16" Type="http://schemas.openxmlformats.org/officeDocument/2006/relationships/font" Target="fonts/JetBrainsMono-regular.fntdata"/><Relationship Id="rId5" Type="http://schemas.openxmlformats.org/officeDocument/2006/relationships/slide" Target="slides/slide1.xml"/><Relationship Id="rId19" Type="http://schemas.openxmlformats.org/officeDocument/2006/relationships/font" Target="fonts/JetBrainsMono-boldItalic.fntdata"/><Relationship Id="rId6" Type="http://schemas.openxmlformats.org/officeDocument/2006/relationships/slide" Target="slides/slide2.xml"/><Relationship Id="rId18" Type="http://schemas.openxmlformats.org/officeDocument/2006/relationships/font" Target="fonts/JetBrainsMono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" name="Google Shape;18;p13"/>
          <p:cNvSpPr txBox="1"/>
          <p:nvPr/>
        </p:nvSpPr>
        <p:spPr>
          <a:xfrm>
            <a:off x="4038600" y="6356350"/>
            <a:ext cx="41148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Marshall University Joan C. Edwards School of Medicine</a:t>
            </a:r>
            <a:endParaRPr b="0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8" name="Google Shape;28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1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9" name="Google Shape;59;p2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0" name="Google Shape;60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6" name="Google Shape;66;p2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7" name="Google Shape;67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" name="Google Shape;11;p12"/>
          <p:cNvSpPr/>
          <p:nvPr/>
        </p:nvSpPr>
        <p:spPr>
          <a:xfrm>
            <a:off x="221381" y="1184031"/>
            <a:ext cx="385011" cy="5537443"/>
          </a:xfrm>
          <a:prstGeom prst="rect">
            <a:avLst/>
          </a:prstGeom>
          <a:solidFill>
            <a:srgbClr val="00AF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12;p12"/>
          <p:cNvPicPr preferRelativeResize="0"/>
          <p:nvPr/>
        </p:nvPicPr>
        <p:blipFill rotWithShape="1">
          <a:blip r:embed="rId1">
            <a:alphaModFix/>
          </a:blip>
          <a:srcRect b="0" l="0" r="77036" t="0"/>
          <a:stretch/>
        </p:blipFill>
        <p:spPr>
          <a:xfrm>
            <a:off x="127596" y="365125"/>
            <a:ext cx="622681" cy="661377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pubmed.ncbi.nlm.nih.gov/30621750/" TargetMode="External"/><Relationship Id="rId4" Type="http://schemas.openxmlformats.org/officeDocument/2006/relationships/hyperlink" Target="https://andersen-lab.github.io/ivar/html/index.html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hyperlink" Target="http://www.htslib.org/doc/samtools.html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andersen-lab.github.io/ivar/html/manualpage.html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Introducing iVar</a:t>
            </a:r>
            <a:endParaRPr/>
          </a:p>
        </p:txBody>
      </p:sp>
      <p:sp>
        <p:nvSpPr>
          <p:cNvPr id="87" name="Google Shape;87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WV-INBRE Bioinformatics Bootcamp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Summer 2021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iVar</a:t>
            </a:r>
            <a:endParaRPr/>
          </a:p>
        </p:txBody>
      </p:sp>
      <p:sp>
        <p:nvSpPr>
          <p:cNvPr id="93" name="Google Shape;93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iVar is a set of utilities for getting information from viral amplicon sequencing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Created by the Andersen lab at the Scripps Institute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Publication: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https://pubmed.ncbi.nlm.nih.gov/30621750/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Project page: </a:t>
            </a:r>
            <a:r>
              <a:rPr lang="en-US" u="sng">
                <a:solidFill>
                  <a:schemeClr val="hlink"/>
                </a:solidFill>
                <a:hlinkClick r:id="rId4"/>
              </a:rPr>
              <a:t>https://andersen-lab.github.io/ivar/html/index.html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We will use iVar to: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Get a </a:t>
            </a:r>
            <a:r>
              <a:rPr i="1" lang="en-US"/>
              <a:t>consensus sequence </a:t>
            </a:r>
            <a:r>
              <a:rPr lang="en-US"/>
              <a:t>from our bam files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"Consensus sequence" is the sequence with the most common base calls at each location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Get a list of mutations from our bam files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By providing the GFF file, we can also get protein coding information about these mutations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samtools mpileup</a:t>
            </a:r>
            <a:endParaRPr/>
          </a:p>
        </p:txBody>
      </p:sp>
      <p:sp>
        <p:nvSpPr>
          <p:cNvPr id="99" name="Google Shape;99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Both the iVar consensus and iVar variants commands take a </a:t>
            </a:r>
            <a:r>
              <a:rPr i="1" lang="en-US"/>
              <a:t>pileup file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Pileup files give the bases called at each individual location from a set of reads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Generated by the </a:t>
            </a:r>
            <a:r>
              <a:rPr lang="en-US">
                <a:latin typeface="JetBrains Mono"/>
                <a:ea typeface="JetBrains Mono"/>
                <a:cs typeface="JetBrains Mono"/>
                <a:sym typeface="JetBrains Mono"/>
              </a:rPr>
              <a:t>samtools mpileup</a:t>
            </a:r>
            <a:r>
              <a:rPr lang="en-US"/>
              <a:t> command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Start at the samtools documentation: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http://www.htslib.org/doc/samtools.html</a:t>
            </a:r>
            <a:r>
              <a:rPr lang="en-US"/>
              <a:t>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Follow the link for "samtools mpileup"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Also see the documentation for iVar ("Calling variants" and "Consensus") at </a:t>
            </a:r>
            <a:br>
              <a:rPr lang="en-US"/>
            </a:br>
            <a:r>
              <a:rPr lang="en-US"/>
              <a:t>https://andersen-lab.github.io/ivar/html/manualpage.html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Running samtools mpileup</a:t>
            </a:r>
            <a:endParaRPr/>
          </a:p>
        </p:txBody>
      </p:sp>
      <p:sp>
        <p:nvSpPr>
          <p:cNvPr id="105" name="Google Shape;105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Choose one of the bam files you generated earlier, and run samtools mpileup on it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We will use the following parameters:</a:t>
            </a:r>
            <a:br>
              <a:rPr lang="en-US"/>
            </a:br>
            <a:r>
              <a:rPr lang="en-US" sz="1800">
                <a:latin typeface="JetBrains Mono"/>
                <a:ea typeface="JetBrains Mono"/>
                <a:cs typeface="JetBrains Mono"/>
                <a:sym typeface="JetBrains Mono"/>
              </a:rPr>
              <a:t>samtools mpileup -aa -A -d 0 -B -Q 0 --reference &lt;reference-fasta&gt; WVxxxxxx.bam &gt;WVxxxxxx.pileup</a:t>
            </a:r>
            <a:endParaRPr sz="1800"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 These options (recommended by iVar) are: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-aa Include "absolutely everything", including positions in the reference with no coverage and sequences in the reference with no alignments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-A (not relevant for single read data) include anomalous read pairs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-d 0 Do not set a maximum depth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-B Do not perform base alignment quality calling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-Q 0 Do not use a minimum base quality to include a call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Pileup file</a:t>
            </a:r>
            <a:endParaRPr/>
          </a:p>
        </p:txBody>
      </p:sp>
      <p:sp>
        <p:nvSpPr>
          <p:cNvPr id="111" name="Google Shape;111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Examine the resulting pileup file (use </a:t>
            </a:r>
            <a:r>
              <a:rPr lang="en-US" sz="2000">
                <a:latin typeface="JetBrains Mono"/>
                <a:ea typeface="JetBrains Mono"/>
                <a:cs typeface="JetBrains Mono"/>
                <a:sym typeface="JetBrains Mono"/>
              </a:rPr>
              <a:t>less</a:t>
            </a:r>
            <a:r>
              <a:rPr lang="en-US"/>
              <a:t>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fifth column can be very long (one or more characters per read, and we have very high coverage): you might want to examine only the first four columns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Running iVar variants</a:t>
            </a:r>
            <a:endParaRPr/>
          </a:p>
        </p:txBody>
      </p:sp>
      <p:sp>
        <p:nvSpPr>
          <p:cNvPr id="117" name="Google Shape;117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iVar variants will generate a tab-delimited file describing all the variants from the pileup file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Needs to have the pileup piped to it:</a:t>
            </a:r>
            <a:br>
              <a:rPr lang="en-US"/>
            </a:br>
            <a:r>
              <a:rPr lang="en-US" sz="1600">
                <a:latin typeface="JetBrains Mono"/>
                <a:ea typeface="JetBrains Mono"/>
                <a:cs typeface="JetBrains Mono"/>
                <a:sym typeface="JetBrains Mono"/>
              </a:rPr>
              <a:t>cat WVxxxxxx.pileup | /opt/miniconda3/bin/ivar variants \</a:t>
            </a:r>
            <a:br>
              <a:rPr lang="en-US" sz="1600"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600">
                <a:latin typeface="JetBrains Mono"/>
                <a:ea typeface="JetBrains Mono"/>
                <a:cs typeface="JetBrains Mono"/>
                <a:sym typeface="JetBrains Mono"/>
              </a:rPr>
              <a:t>-p WVxxxxxx.variants -t 0.3 \</a:t>
            </a:r>
            <a:br>
              <a:rPr lang="en-US" sz="1600"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600">
                <a:latin typeface="JetBrains Mono"/>
                <a:ea typeface="JetBrains Mono"/>
                <a:cs typeface="JetBrains Mono"/>
                <a:sym typeface="JetBrains Mono"/>
              </a:rPr>
              <a:t>-r /reference/SARS-CoV-2.reference.fasta \</a:t>
            </a:r>
            <a:br>
              <a:rPr lang="en-US" sz="1600"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600">
                <a:latin typeface="JetBrains Mono"/>
                <a:ea typeface="JetBrains Mono"/>
                <a:cs typeface="JetBrains Mono"/>
                <a:sym typeface="JetBrains Mono"/>
              </a:rPr>
              <a:t>-g ../../SARS/GCF_009858895.2_ASM985889v3_genomic.gff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options here are: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-p : prefix for the output file (it adds .tsv)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-t : threshold for the proportion of reads to call this a variant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-r : reference fasta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-g : reference gff (to determine protein-coding effects of variants)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Viewing the variants file</a:t>
            </a:r>
            <a:endParaRPr/>
          </a:p>
        </p:txBody>
      </p:sp>
      <p:sp>
        <p:nvSpPr>
          <p:cNvPr id="123" name="Google Shape;123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Scroll through the variants file with</a:t>
            </a:r>
            <a:br>
              <a:rPr lang="en-US"/>
            </a:br>
            <a:r>
              <a:rPr lang="en-US" sz="2000">
                <a:latin typeface="JetBrains Mono"/>
                <a:ea typeface="JetBrains Mono"/>
                <a:cs typeface="JetBrains Mono"/>
                <a:sym typeface="JetBrains Mono"/>
              </a:rPr>
              <a:t>less WVxxxxxx.variants.tsv</a:t>
            </a:r>
            <a:endParaRPr sz="2000"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Check the documentation at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https://andersen-lab.github.io/ivar/html/manualpage.html</a:t>
            </a:r>
            <a:r>
              <a:rPr lang="en-US"/>
              <a:t> to see what each column means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Examining Spike Protein mutations</a:t>
            </a:r>
            <a:endParaRPr/>
          </a:p>
        </p:txBody>
      </p:sp>
      <p:sp>
        <p:nvSpPr>
          <p:cNvPr id="129" name="Google Shape;129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We will write a python script to find the mutations in the spike protein, and list them in standard format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format is XnY, where X is the reference amino acid, Y the variant amino acid, and n the amino acid number within the spike protein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E.g. N501Y indicates the amino acid at (protein) position 501 is changed from Asparagine (N) to Tyrosine (Y)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N501Y is present in the Alpha, Beta, and Gamma variants of concern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 script to generate spike protein mutations</a:t>
            </a:r>
            <a:endParaRPr/>
          </a:p>
        </p:txBody>
      </p:sp>
      <p:sp>
        <p:nvSpPr>
          <p:cNvPr id="135" name="Google Shape;135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We'll parse the variants file in python to select mutations which are in the S gene (which translates to the spike protein) and output them in standard format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We'll write our script to read from standard input and print the results to standard output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Then we can pipe our file into the script, and redirect the output if needed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What information will we need from each line in the file?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What other information will we need?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Examining spike protein mutations</a:t>
            </a:r>
            <a:endParaRPr/>
          </a:p>
        </p:txBody>
      </p:sp>
      <p:sp>
        <p:nvSpPr>
          <p:cNvPr id="141" name="Google Shape;141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Run your script and examine the results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Look at the CDC's description of "variants of concern"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Do the set of spike protein mutations look similar to any of these variants?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Creating the consensus sequence </a:t>
            </a:r>
            <a:endParaRPr/>
          </a:p>
        </p:txBody>
      </p:sp>
      <p:sp>
        <p:nvSpPr>
          <p:cNvPr id="147" name="Google Shape;147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We can use ivar to create a consensus sequence for our samples from the pileup:</a:t>
            </a:r>
            <a:br>
              <a:rPr lang="en-US"/>
            </a:br>
            <a:r>
              <a:rPr lang="en-US" sz="1800">
                <a:latin typeface="JetBrains Mono"/>
                <a:ea typeface="JetBrains Mono"/>
                <a:cs typeface="JetBrains Mono"/>
                <a:sym typeface="JetBrains Mono"/>
              </a:rPr>
              <a:t>cat WVxxxxxx.pileup | /opt/miniconda3/bin/ivar consensus \</a:t>
            </a:r>
            <a:br>
              <a:rPr lang="en-US" sz="1800">
                <a:latin typeface="JetBrains Mono"/>
                <a:ea typeface="JetBrains Mono"/>
                <a:cs typeface="JetBrains Mono"/>
                <a:sym typeface="JetBrains Mono"/>
              </a:rPr>
            </a:br>
            <a:r>
              <a:rPr lang="en-US" sz="1800">
                <a:latin typeface="JetBrains Mono"/>
                <a:ea typeface="JetBrains Mono"/>
                <a:cs typeface="JetBrains Mono"/>
                <a:sym typeface="JetBrains Mono"/>
              </a:rPr>
              <a:t>-p WVxxxxxx.consensus -n 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-n N option specifies to use N when there is no coverage (or coverage is below the default threshold of 10 reads)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Try this and examine the resulting fasta file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USOM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2021-07-13T01:52:08Z</dcterms:created>
  <dc:creator>Denvir, James</dc:creator>
</cp:coreProperties>
</file>