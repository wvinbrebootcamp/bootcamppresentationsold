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5" r:id="rId8"/>
    <p:sldId id="264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296"/>
  </p:normalViewPr>
  <p:slideViewPr>
    <p:cSldViewPr snapToGrid="0" snapToObjects="1">
      <p:cViewPr varScale="1">
        <p:scale>
          <a:sx n="90" d="100"/>
          <a:sy n="90" d="100"/>
        </p:scale>
        <p:origin x="232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FBD0-319E-3F4D-AF95-8338AE3EF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9B053-DF2E-BE40-90BC-C0E97C638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9560-956C-534B-9B9B-F06978AB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A8E1A-85D7-4047-8319-7A123C01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CCED-0E1C-A14C-8D53-3E419B3D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8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8172-360D-084F-A238-71837DAB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B788F-B9C3-054E-A79B-73404B4C7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B2C35-5462-5E4A-9838-D3DD7C8C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7EA07-AE62-E446-A7CA-DFEF160B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6D73B-571B-3544-BD52-BBB82B5D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4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3C28-43FE-4B48-8606-747FCB192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CB9E8-337D-FD40-8050-CFCB5F294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8EEE8-7FD2-FB4E-BECA-CD243C9E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B2C67-705E-7046-A18E-7585EEF3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136F5-68E2-A349-B483-66E5BD79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6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263A-F28F-1644-B1F1-DADC6AB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F51F-A1AB-5346-B82D-83F62E586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C3CEE-4321-2A47-9DBC-E65AE8CE6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9BD6D-984F-634C-96DB-6A59A13C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D44DE-4FFD-0540-9409-0CC25C84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695E6-8DB2-404F-84B9-5F40CBE8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4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254F-BD9C-804B-ADB5-A610018A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2964F-B8F2-5D42-AC36-BAE44EE56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E4927-3A9E-D143-B21A-89AF0294F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2CC2C-2888-DB4B-9CFA-2BF5CFCFF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9DE59-FE0D-E846-988D-1FD1E242D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24957-EB5E-DB4E-A344-3DE583B0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37296-E847-F44D-A6C9-3E6D60BE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9CBDD-5B77-9140-A9CA-F6576D66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3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AC32-C440-0346-A283-96D007693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D5565-62E0-D149-AC45-0CA5C727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A34FD8-0C5D-EF4A-A632-1C430C18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DB545-D3D3-2D4B-AFAA-4DE9117D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1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D2EE7-7EFC-6C41-ACC1-8F9EEB3D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38D3F-969F-E647-9F64-81686604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62E67-23EB-7B47-A2A4-24E17E0A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4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9238-97EB-E54A-A386-40DAE2B20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3B176-9B6A-2E44-880D-E9DE6828B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FA38D-C87F-2A49-92AA-5421BA047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9B4F7-A57D-9E48-8DAF-BF38B3CB7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9228F-457C-9D47-8F07-A53547B5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62BE7-1B82-2842-B1E8-72913F1B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01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CD47-0031-A142-B17D-5D1D187E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25B300-FCB6-054E-AC40-63AD852C0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22D0D-3CB9-264C-A136-CE6695224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7ED2B-5D84-4A4A-A5C5-E7B31082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23F98-B540-2F45-8A1B-ADB8A853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EFE32-1971-F640-885B-ECE0F8EF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8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C344-4A60-884B-8C53-D0A6431D0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C675F-80DA-BA4F-B529-538817892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5EEDA-4DDF-A447-8795-7B110A84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8050-EFEF-4A47-AB8D-02FE6697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002B9-FD51-FA42-B278-567813D9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2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F535C-2B38-2545-B89C-1B8F1DB15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FEAFC-E8C3-814A-8EE8-5F3EFE4C5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B7159-F932-9045-B774-60A9520E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9DED3-9F4F-9048-B5AE-C91924AC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49B5-3161-BC4F-8714-9AD6BD89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6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2EBF5-FA7C-C841-A6FF-C2CE5A8B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DF769-9C1C-2C45-8B4E-4A079F513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CFF2B-D34E-794B-8E90-0ACE7E1FC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3C868-38A4-3141-8FFC-4353488E1EB2}" type="datetimeFigureOut">
              <a:rPr lang="en-US" smtClean="0"/>
              <a:t>7/12/21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0DF6F-2A68-3F4D-BEF6-63ABD69E8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7CB0A-3B1F-714E-9231-5A4551210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DA642-E284-9343-B8C5-107FAF95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7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24E-310A-8146-9E27-3FC7B411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err="1"/>
              <a:t>samtools</a:t>
            </a:r>
            <a:endParaRPr lang="en-US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35CD3-2DF7-D24E-B2D7-03A3C1A34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to find help just type </a:t>
            </a:r>
            <a:r>
              <a:rPr lang="en-US" dirty="0" err="1"/>
              <a:t>samtools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also: </a:t>
            </a:r>
            <a:r>
              <a:rPr lang="en-US" dirty="0" err="1"/>
              <a:t>samtools</a:t>
            </a:r>
            <a:r>
              <a:rPr lang="en-US" dirty="0"/>
              <a:t> --help</a:t>
            </a:r>
          </a:p>
          <a:p>
            <a:pPr>
              <a:lnSpc>
                <a:spcPct val="150000"/>
              </a:lnSpc>
            </a:pPr>
            <a:r>
              <a:rPr lang="en-US" dirty="0"/>
              <a:t>has a variety of subcommands…</a:t>
            </a:r>
          </a:p>
          <a:p>
            <a:pPr>
              <a:lnSpc>
                <a:spcPct val="150000"/>
              </a:lnSpc>
            </a:pPr>
            <a:r>
              <a:rPr lang="en-US" dirty="0"/>
              <a:t>to get </a:t>
            </a:r>
            <a:r>
              <a:rPr lang="en-US" dirty="0" err="1"/>
              <a:t>samtools</a:t>
            </a:r>
            <a:r>
              <a:rPr lang="en-US" dirty="0"/>
              <a:t> to work you need to give it a subcommand: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 err="1"/>
              <a:t>samtools</a:t>
            </a:r>
            <a:r>
              <a:rPr lang="en-US" b="1" dirty="0"/>
              <a:t>  </a:t>
            </a:r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subcommand  &lt;filename&gt;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25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5E52-8229-9348-8C2E-B6D0F988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/>
              <a:t>samtools</a:t>
            </a:r>
            <a:r>
              <a:rPr lang="en-US" sz="5400" b="1" dirty="0"/>
              <a:t>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7E649-5E87-6048-BFA4-3EFE8B9E9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-S -b </a:t>
            </a:r>
            <a:r>
              <a:rPr lang="en-US" dirty="0" err="1"/>
              <a:t>sample.sam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-S -b </a:t>
            </a:r>
            <a:r>
              <a:rPr lang="en-US" dirty="0" err="1"/>
              <a:t>sample.sam</a:t>
            </a:r>
            <a:r>
              <a:rPr lang="en-US" dirty="0"/>
              <a:t> &gt; </a:t>
            </a:r>
            <a:r>
              <a:rPr lang="en-US" dirty="0" err="1"/>
              <a:t>sample.bam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Now, we can use the </a:t>
            </a:r>
            <a:r>
              <a:rPr lang="en-US" dirty="0" err="1"/>
              <a:t>samtools</a:t>
            </a:r>
            <a:r>
              <a:rPr lang="en-US" dirty="0"/>
              <a:t> view command to convert the BAM to SAM so we mere mortals can read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</a:t>
            </a:r>
            <a:r>
              <a:rPr lang="en-US" dirty="0" err="1"/>
              <a:t>sample.bam</a:t>
            </a:r>
            <a:r>
              <a:rPr lang="en-US" dirty="0"/>
              <a:t> | head</a:t>
            </a:r>
          </a:p>
        </p:txBody>
      </p:sp>
    </p:spTree>
    <p:extLst>
      <p:ext uri="{BB962C8B-B14F-4D97-AF65-F5344CB8AC3E}">
        <p14:creationId xmlns:p14="http://schemas.microsoft.com/office/powerpoint/2010/main" val="94625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6189-4F63-D649-A836-543BC50E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/>
              <a:t>samtools</a:t>
            </a:r>
            <a:r>
              <a:rPr lang="en-US" sz="5400" b="1" dirty="0"/>
              <a:t>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5011A-5EFB-3849-8208-DC4AA5B4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align a </a:t>
            </a:r>
            <a:r>
              <a:rPr lang="en-US" dirty="0" err="1"/>
              <a:t>fastq</a:t>
            </a:r>
            <a:r>
              <a:rPr lang="en-US" dirty="0"/>
              <a:t> the output will be in the order of sequence input</a:t>
            </a:r>
          </a:p>
          <a:p>
            <a:r>
              <a:rPr lang="en-US" dirty="0"/>
              <a:t>if we want our sequences arranged by genomic order we must sort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</a:t>
            </a:r>
            <a:r>
              <a:rPr lang="en-US" dirty="0" err="1"/>
              <a:t>sample.bam</a:t>
            </a:r>
            <a:r>
              <a:rPr lang="en-US" dirty="0"/>
              <a:t> | head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sort </a:t>
            </a:r>
            <a:r>
              <a:rPr lang="en-US" dirty="0" err="1"/>
              <a:t>sample.bam</a:t>
            </a:r>
            <a:r>
              <a:rPr lang="en-US" dirty="0"/>
              <a:t> -o </a:t>
            </a:r>
            <a:r>
              <a:rPr lang="en-US" dirty="0" err="1"/>
              <a:t>sample.sorted.bam</a:t>
            </a:r>
            <a:r>
              <a:rPr lang="en-US" dirty="0"/>
              <a:t> </a:t>
            </a:r>
          </a:p>
          <a:p>
            <a:r>
              <a:rPr lang="en-US" dirty="0"/>
              <a:t>check the order: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</a:t>
            </a:r>
            <a:r>
              <a:rPr lang="en-US" dirty="0" err="1"/>
              <a:t>sample.sorted.bam</a:t>
            </a:r>
            <a:r>
              <a:rPr lang="en-US" dirty="0"/>
              <a:t> | head</a:t>
            </a:r>
          </a:p>
          <a:p>
            <a:r>
              <a:rPr lang="en-US" dirty="0"/>
              <a:t>Notice anything different about the coordinates of the alignments?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6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A1F9B-C4C8-044C-A792-880C1E57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err="1"/>
              <a:t>samtools</a:t>
            </a:r>
            <a:r>
              <a:rPr lang="en-US" sz="5400" b="1" dirty="0"/>
              <a:t>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2D8B-CA96-424C-B88A-0E6F2A327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indexing is required by genome viewers such as IGV so that the viewers can quickly display alignments in each genomic region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index </a:t>
            </a:r>
            <a:r>
              <a:rPr lang="en-US" dirty="0" err="1"/>
              <a:t>sample.sorted.bam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</a:t>
            </a:r>
            <a:r>
              <a:rPr lang="en-US" dirty="0" err="1"/>
              <a:t>sample.sorted.bam</a:t>
            </a:r>
            <a:r>
              <a:rPr lang="en-US" dirty="0"/>
              <a:t> 1:33000000-34000000 </a:t>
            </a:r>
          </a:p>
          <a:p>
            <a:pPr>
              <a:lnSpc>
                <a:spcPct val="150000"/>
              </a:lnSpc>
            </a:pPr>
            <a:r>
              <a:rPr lang="en-US" dirty="0"/>
              <a:t>How many alignments are there in this region?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</a:t>
            </a:r>
            <a:r>
              <a:rPr lang="en-US" dirty="0" err="1"/>
              <a:t>sample.sorted.bam</a:t>
            </a:r>
            <a:r>
              <a:rPr lang="en-US" dirty="0"/>
              <a:t> 1:33000000-34000000 | </a:t>
            </a:r>
            <a:r>
              <a:rPr lang="en-US" dirty="0" err="1"/>
              <a:t>wc</a:t>
            </a:r>
            <a:r>
              <a:rPr lang="en-US" dirty="0"/>
              <a:t> -l</a:t>
            </a:r>
          </a:p>
        </p:txBody>
      </p:sp>
    </p:spTree>
    <p:extLst>
      <p:ext uri="{BB962C8B-B14F-4D97-AF65-F5344CB8AC3E}">
        <p14:creationId xmlns:p14="http://schemas.microsoft.com/office/powerpoint/2010/main" val="202460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44CE-F85F-8141-8B01-31A352E5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BAM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CF33A-DF74-6C48-8FD0-D5D9E97EC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samtools</a:t>
            </a:r>
            <a:r>
              <a:rPr lang="en-US" dirty="0"/>
              <a:t> view -H </a:t>
            </a:r>
            <a:r>
              <a:rPr lang="en-US" dirty="0" err="1"/>
              <a:t>sample.sorted.bam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09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9DE8-AE49-5347-8154-6FEDF5C74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the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8598-1D67-1F4F-89B6-639EFAD1B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FLAG field in the BAM format encodes several key pieces of information regarding how an alignment aligned to the reference genome</a:t>
            </a:r>
          </a:p>
          <a:p>
            <a:pPr>
              <a:lnSpc>
                <a:spcPct val="170000"/>
              </a:lnSpc>
            </a:pPr>
            <a:r>
              <a:rPr lang="en-US" dirty="0"/>
              <a:t>we can use this information to filter reads based on their mapping characteristics</a:t>
            </a:r>
          </a:p>
          <a:p>
            <a:pPr>
              <a:lnSpc>
                <a:spcPct val="170000"/>
              </a:lnSpc>
            </a:pPr>
            <a:r>
              <a:rPr lang="en-US" dirty="0"/>
              <a:t>we often want to call variants solely from paired-end sequences that aligned “properly” to the reference genome…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-f 0x2 </a:t>
            </a:r>
            <a:r>
              <a:rPr lang="en-US" dirty="0" err="1"/>
              <a:t>sample.sorted.bam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2900" dirty="0"/>
              <a:t>How many </a:t>
            </a:r>
            <a:r>
              <a:rPr lang="en-US" sz="2900" i="1" dirty="0"/>
              <a:t>properly</a:t>
            </a:r>
            <a:r>
              <a:rPr lang="en-US" sz="2900" dirty="0"/>
              <a:t> paired alignments are there?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-f 0x2 </a:t>
            </a:r>
            <a:r>
              <a:rPr lang="en-US" dirty="0" err="1"/>
              <a:t>sample.sorted.bam</a:t>
            </a:r>
            <a:r>
              <a:rPr lang="en-US" dirty="0"/>
              <a:t> | </a:t>
            </a:r>
            <a:r>
              <a:rPr lang="en-US" dirty="0" err="1"/>
              <a:t>wc</a:t>
            </a:r>
            <a:r>
              <a:rPr lang="en-US" dirty="0"/>
              <a:t> –l</a:t>
            </a:r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2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9DE8-AE49-5347-8154-6FEDF5C74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the FLAG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68598-1D67-1F4F-89B6-639EFAD1B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Now, let’s ask for alignments that are NOT properly paired. To do this, we use the -F option (note the capitalization to denote “opposite”).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-F 0x2 </a:t>
            </a:r>
            <a:r>
              <a:rPr lang="en-US" dirty="0" err="1"/>
              <a:t>sample.sorted.bam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sz="2600" dirty="0"/>
              <a:t>How many </a:t>
            </a:r>
            <a:r>
              <a:rPr lang="en-US" sz="2600" i="1" dirty="0"/>
              <a:t>improperly</a:t>
            </a:r>
            <a:r>
              <a:rPr lang="en-US" sz="2600" dirty="0"/>
              <a:t> paired alignments are</a:t>
            </a:r>
            <a:r>
              <a:rPr lang="en-US" dirty="0"/>
              <a:t> </a:t>
            </a:r>
            <a:r>
              <a:rPr lang="en-US" sz="2600" dirty="0"/>
              <a:t>there?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samtools</a:t>
            </a:r>
            <a:r>
              <a:rPr lang="en-US" dirty="0"/>
              <a:t> view -F 0x2 </a:t>
            </a:r>
            <a:r>
              <a:rPr lang="en-US" dirty="0" err="1"/>
              <a:t>sample.sorted.bam</a:t>
            </a:r>
            <a:r>
              <a:rPr lang="en-US" dirty="0"/>
              <a:t> | </a:t>
            </a:r>
            <a:r>
              <a:rPr lang="en-US" dirty="0" err="1"/>
              <a:t>wc</a:t>
            </a:r>
            <a:r>
              <a:rPr lang="en-US" dirty="0"/>
              <a:t> –l</a:t>
            </a:r>
          </a:p>
          <a:p>
            <a:pPr>
              <a:lnSpc>
                <a:spcPct val="170000"/>
              </a:lnSpc>
            </a:pPr>
            <a:r>
              <a:rPr lang="en-US" sz="2600" dirty="0"/>
              <a:t>Does everything add up?</a:t>
            </a:r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C3E1-F957-9F42-90A3-32F1B574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6E6652-6A5B-3442-A60E-3C034CBBC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825413"/>
              </p:ext>
            </p:extLst>
          </p:nvPr>
        </p:nvGraphicFramePr>
        <p:xfrm>
          <a:off x="1925968" y="1825626"/>
          <a:ext cx="8340063" cy="4351336"/>
        </p:xfrm>
        <a:graphic>
          <a:graphicData uri="http://schemas.openxmlformats.org/drawingml/2006/table">
            <a:tbl>
              <a:tblPr/>
              <a:tblGrid>
                <a:gridCol w="2780021">
                  <a:extLst>
                    <a:ext uri="{9D8B030D-6E8A-4147-A177-3AD203B41FA5}">
                      <a16:colId xmlns:a16="http://schemas.microsoft.com/office/drawing/2014/main" val="2212519684"/>
                    </a:ext>
                  </a:extLst>
                </a:gridCol>
                <a:gridCol w="2780021">
                  <a:extLst>
                    <a:ext uri="{9D8B030D-6E8A-4147-A177-3AD203B41FA5}">
                      <a16:colId xmlns:a16="http://schemas.microsoft.com/office/drawing/2014/main" val="438619246"/>
                    </a:ext>
                  </a:extLst>
                </a:gridCol>
                <a:gridCol w="2780021">
                  <a:extLst>
                    <a:ext uri="{9D8B030D-6E8A-4147-A177-3AD203B41FA5}">
                      <a16:colId xmlns:a16="http://schemas.microsoft.com/office/drawing/2014/main" val="2732540596"/>
                    </a:ext>
                  </a:extLst>
                </a:gridCol>
              </a:tblGrid>
              <a:tr h="507656">
                <a:tc>
                  <a:txBody>
                    <a:bodyPr/>
                    <a:lstStyle/>
                    <a:p>
                      <a:r>
                        <a:rPr lang="en-US" sz="1400" b="1"/>
                        <a:t>0x1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PAIRED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paired-end (or multiple-segment) sequencing technology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59688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en-US" sz="1400" b="1" dirty="0"/>
                        <a:t>0x2</a:t>
                      </a:r>
                      <a:endParaRPr lang="en-US" sz="1400" dirty="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PROPER_PAIR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each segment properly aligned according to the aligner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10510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0x4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UNMAP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segment unmapped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01507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en-US" sz="1400" b="1" dirty="0"/>
                        <a:t>0x8</a:t>
                      </a:r>
                      <a:endParaRPr lang="en-US" sz="1400" dirty="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MUNMAP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next segment in the template unmapped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0306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0x10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REVERSE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SEQ is reverse complemented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9277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r>
                        <a:rPr lang="en-US" sz="1400" b="1"/>
                        <a:t>0x20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MREVERSE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SEQ of the next segment in the template is reverse complemented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49802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0x40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READ1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 first segment in the template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115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0x80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READ2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the last segment in the template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16605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0x100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SECONDARY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secondary alignment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64672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0x200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QCFAIL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not passing quality controls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173666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0x400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DUP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PCR or optical duplicate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0668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400" b="1"/>
                        <a:t>0x800</a:t>
                      </a:r>
                      <a:endParaRPr lang="en-US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SUPPLEMENTARY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supplementary alignment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103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301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B808-3688-DC43-97E9-DA81D988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CIGAR</a:t>
            </a:r>
          </a:p>
        </p:txBody>
      </p:sp>
      <p:pic>
        <p:nvPicPr>
          <p:cNvPr id="5" name="Content Placeholder 4" descr="Text&#10;&#10;Description automatically generated with medium confidence">
            <a:extLst>
              <a:ext uri="{FF2B5EF4-FFF2-40B4-BE49-F238E27FC236}">
                <a16:creationId xmlns:a16="http://schemas.microsoft.com/office/drawing/2014/main" id="{ED8D6590-5588-C541-A4DD-920FB6A31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2239" y="940122"/>
            <a:ext cx="7791561" cy="5552753"/>
          </a:xfrm>
        </p:spPr>
      </p:pic>
    </p:spTree>
    <p:extLst>
      <p:ext uri="{BB962C8B-B14F-4D97-AF65-F5344CB8AC3E}">
        <p14:creationId xmlns:p14="http://schemas.microsoft.com/office/powerpoint/2010/main" val="125990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496</Words>
  <Application>Microsoft Macintosh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samtools</vt:lpstr>
      <vt:lpstr>samtools view</vt:lpstr>
      <vt:lpstr>samtools sort</vt:lpstr>
      <vt:lpstr>samtools index</vt:lpstr>
      <vt:lpstr>the BAM header</vt:lpstr>
      <vt:lpstr>capture the FLAG</vt:lpstr>
      <vt:lpstr>capture the FLAG</vt:lpstr>
      <vt:lpstr>FLAGS:</vt:lpstr>
      <vt:lpstr>CIGAR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Garrison</dc:creator>
  <cp:lastModifiedBy>Nicole Garrison</cp:lastModifiedBy>
  <cp:revision>9</cp:revision>
  <dcterms:created xsi:type="dcterms:W3CDTF">2021-07-12T16:38:12Z</dcterms:created>
  <dcterms:modified xsi:type="dcterms:W3CDTF">2021-07-13T11:48:40Z</dcterms:modified>
</cp:coreProperties>
</file>