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73" r:id="rId8"/>
    <p:sldId id="264" r:id="rId9"/>
    <p:sldId id="258" r:id="rId10"/>
    <p:sldId id="259" r:id="rId11"/>
    <p:sldId id="265" r:id="rId12"/>
    <p:sldId id="266" r:id="rId13"/>
    <p:sldId id="268" r:id="rId14"/>
    <p:sldId id="267" r:id="rId15"/>
    <p:sldId id="269" r:id="rId16"/>
    <p:sldId id="276" r:id="rId17"/>
    <p:sldId id="274" r:id="rId18"/>
    <p:sldId id="275" r:id="rId19"/>
    <p:sldId id="270" r:id="rId20"/>
    <p:sldId id="272" r:id="rId21"/>
    <p:sldId id="271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33"/>
    <p:restoredTop sz="91427"/>
  </p:normalViewPr>
  <p:slideViewPr>
    <p:cSldViewPr snapToGrid="0" snapToObjects="1">
      <p:cViewPr>
        <p:scale>
          <a:sx n="80" d="100"/>
          <a:sy n="80" d="100"/>
        </p:scale>
        <p:origin x="201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F09A-8C20-CE46-956F-E796D0C37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49013-0C4D-D14F-87B4-53F96CEEA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7EE2C-BA0B-AC45-A431-5C8F7187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3D542-A2DF-4B47-81D8-25A6CB16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9AB7-8ABE-D646-A2BC-7626B151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9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9BD2-ABA9-8E41-831F-B5189DE5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E4990-5422-DF4A-93E6-059DC75A0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CBEB8-1121-9D44-9B0E-426A1B91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B7DD-B113-684D-9EDF-CF6B394E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0A3F7-2CE6-FA4F-BE8F-CF1C77B5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6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A212-C25C-4F49-A74C-94C6F12E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3843C-169A-4E46-881E-D35F27AB7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1EED7-6EB3-5E4F-AE88-C2C58BCF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830B0-9726-9A46-BBE1-39A1E8542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D3B9-B959-FA47-9A7B-5D960798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9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B8DB-8853-5E47-B216-AAD031538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B829A-442E-2845-A788-F7DB273EE8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6866B-668E-1542-916A-6F77B0852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54798-3858-1549-9086-FFDDEE1F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88A6A-6C90-A04D-87BE-16D1647E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50287-185E-C840-B7DE-5D6A1218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1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51FE-1215-CB47-A707-8133ABC8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ECAB7-AAA7-614D-8F17-16D91202F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22FD5-FCC2-1B48-8F94-0599DE19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78E39-48F6-B045-B398-34C4BB49D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68BCD-27C4-B446-BFA9-7984B1DEA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500F44-57A4-4F4A-BE31-E3612431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BD212-559B-BB4D-8B08-144B0A306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679C9-C550-9048-8EF8-7266ADC2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86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15B5-CD5E-9C47-BF71-918D703C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B0F3AE-BB38-2141-B410-93126172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8FB77-57EC-0144-9E6D-574539AE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369AD-08FE-C341-8ACB-83365E1A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2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FB2F9-1587-254D-8EE1-5AC212551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3AAFA-73B2-DE4C-A8DE-D970FC30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1FAD5-A675-E845-AC49-A9A3B968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3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21AF-687A-4741-899D-69A927F8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9D146-06F9-0742-9C31-03584E648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33200-A28D-B84E-952C-B4259BF61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612D9-392B-FA4E-A418-9C32E328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B04CD-0843-FC40-86F6-2E1FEBFC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70CAD-2767-754A-943D-75D20828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4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7CC4-2943-624B-A4CA-DB3D63F3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15EEE-32B7-2A4B-A12B-66531D57F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7084D-2DB0-0A49-B42C-271B06C81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EE468-D84C-1846-9358-5B6378050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DA26D-90E1-AC41-9F32-A9A53280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C46C8-6849-3448-883C-A7800C86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6886-2E34-F641-BCD4-08B8EE0E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A17E1-77CB-7847-857D-7DC80B88F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BCED3-8B49-984B-B7BC-A9381A77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EC3BD-1A0B-B94B-9037-B2734ECD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129CA-F829-BB48-8343-D11A71BF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5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5FD7F-C73E-224C-BA40-15C949623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38FFC-71F5-2745-90D2-5898A8FFB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B17BF-5D60-C942-B00F-861A19E2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0D76B-2129-8F44-B30B-49F6FA08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8B36-954B-9446-B2E4-7DCD2BA4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4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94A55-E4B0-2749-B048-1A964494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7B4AF-53BF-7643-AAB7-F6AA50E0F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7F872-52BA-F44E-83B9-3EB186BCD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66641-FD13-8A49-A3E2-6702ACC336EC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34DDB-C22D-1F41-B739-2185F0166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CE347-9A44-1D48-9532-17BAC8A5B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FA040-0A45-DC42-97E7-995B712B9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7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933E-F26C-724D-B98A-0FC7C14E81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Genome Sequencing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F8FEE-7AAA-C74D-A214-B9663DC8A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00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339E-3B99-4A42-8679-D5624165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genome?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F6EF-8D45-8148-B0D8-4EE91D365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set of genetic information (single cell in eukaryotes, single chromosome in prokaryotes, DNA/RNA of a virus)</a:t>
            </a:r>
          </a:p>
          <a:p>
            <a:r>
              <a:rPr lang="en-US" dirty="0"/>
              <a:t>heritable information encoded in DNA</a:t>
            </a:r>
          </a:p>
          <a:p>
            <a:pPr lvl="1"/>
            <a:r>
              <a:rPr lang="en-US" dirty="0"/>
              <a:t>nuclear genome</a:t>
            </a:r>
          </a:p>
          <a:p>
            <a:pPr lvl="1"/>
            <a:r>
              <a:rPr lang="en-US" dirty="0"/>
              <a:t>mitochondrial genome</a:t>
            </a:r>
          </a:p>
          <a:p>
            <a:pPr lvl="1"/>
            <a:r>
              <a:rPr lang="en-US" dirty="0"/>
              <a:t>chloroplast genome</a:t>
            </a:r>
          </a:p>
        </p:txBody>
      </p:sp>
    </p:spTree>
    <p:extLst>
      <p:ext uri="{BB962C8B-B14F-4D97-AF65-F5344CB8AC3E}">
        <p14:creationId xmlns:p14="http://schemas.microsoft.com/office/powerpoint/2010/main" val="193076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7A7D-46E6-DA4B-BB0A-0B9A29A7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Nucleic Genome (Eukaryotes)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507E-1218-EC4C-B10A-936F556F1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34389" cy="4351338"/>
          </a:xfrm>
        </p:spPr>
        <p:txBody>
          <a:bodyPr/>
          <a:lstStyle/>
          <a:p>
            <a:r>
              <a:rPr lang="en-US" dirty="0"/>
              <a:t>20-30,000 genes</a:t>
            </a:r>
          </a:p>
          <a:p>
            <a:r>
              <a:rPr lang="en-US" dirty="0"/>
              <a:t>introns!</a:t>
            </a:r>
          </a:p>
          <a:p>
            <a:r>
              <a:rPr lang="en-US" dirty="0"/>
              <a:t>repetitive non-coding DNA</a:t>
            </a:r>
          </a:p>
          <a:p>
            <a:r>
              <a:rPr lang="en-US" dirty="0"/>
              <a:t>not all ”junk” DNA is junk</a:t>
            </a:r>
          </a:p>
        </p:txBody>
      </p:sp>
      <p:pic>
        <p:nvPicPr>
          <p:cNvPr id="10242" name="Picture 2" descr="Lecture 3. Gene Finding and Sequence Annotation - ppt download">
            <a:extLst>
              <a:ext uri="{FF2B5EF4-FFF2-40B4-BE49-F238E27FC236}">
                <a16:creationId xmlns:a16="http://schemas.microsoft.com/office/drawing/2014/main" id="{1678F8EB-5BC4-7B4E-8ADF-E039065F0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1"/>
          <a:stretch/>
        </p:blipFill>
        <p:spPr bwMode="auto">
          <a:xfrm>
            <a:off x="3048000" y="1395663"/>
            <a:ext cx="9144000" cy="546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03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379C-7968-0440-ADD7-09AB99BC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Mitochondrial Genome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2FC0-557D-0E42-BDF8-34D4BFDB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2200" cy="4351338"/>
          </a:xfrm>
        </p:spPr>
        <p:txBody>
          <a:bodyPr/>
          <a:lstStyle/>
          <a:p>
            <a:r>
              <a:rPr lang="en-US" dirty="0"/>
              <a:t>~15000bp</a:t>
            </a:r>
          </a:p>
          <a:p>
            <a:r>
              <a:rPr lang="en-US" dirty="0"/>
              <a:t>13 protein coding genes</a:t>
            </a:r>
          </a:p>
          <a:p>
            <a:r>
              <a:rPr lang="en-US" dirty="0"/>
              <a:t>2 rRNA</a:t>
            </a:r>
          </a:p>
          <a:p>
            <a:r>
              <a:rPr lang="en-US" dirty="0"/>
              <a:t>21 tRNA genes</a:t>
            </a:r>
          </a:p>
          <a:p>
            <a:r>
              <a:rPr lang="en-US" dirty="0"/>
              <a:t>control region</a:t>
            </a:r>
          </a:p>
          <a:p>
            <a:r>
              <a:rPr lang="en-US" dirty="0"/>
              <a:t>Different genetic code than </a:t>
            </a:r>
            <a:r>
              <a:rPr lang="en-US" dirty="0" err="1"/>
              <a:t>nuc</a:t>
            </a:r>
            <a:r>
              <a:rPr lang="en-US" dirty="0"/>
              <a:t>.</a:t>
            </a:r>
          </a:p>
          <a:p>
            <a:r>
              <a:rPr lang="en-US" dirty="0"/>
              <a:t>Highly conserved at the protein level, third nucleotide positions variable</a:t>
            </a:r>
          </a:p>
        </p:txBody>
      </p:sp>
      <p:pic>
        <p:nvPicPr>
          <p:cNvPr id="9218" name="Picture 2" descr="The human mitochondrial genome consists of 16,569 bp encoding 13... |  Download Scientific Diagram">
            <a:extLst>
              <a:ext uri="{FF2B5EF4-FFF2-40B4-BE49-F238E27FC236}">
                <a16:creationId xmlns:a16="http://schemas.microsoft.com/office/drawing/2014/main" id="{09607F85-3D2B-2D4A-BA2A-8AFFFCDDE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0"/>
            <a:ext cx="5534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823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7D5D-2699-6740-BB6B-49DAA46E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Chloroplast Genome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F726-D670-1C44-BE1F-1E2B8FA31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1236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“small”</a:t>
            </a:r>
          </a:p>
          <a:p>
            <a:pPr>
              <a:lnSpc>
                <a:spcPct val="150000"/>
              </a:lnSpc>
            </a:pPr>
            <a:r>
              <a:rPr lang="en-US" dirty="0"/>
              <a:t>circular</a:t>
            </a:r>
          </a:p>
          <a:p>
            <a:pPr>
              <a:lnSpc>
                <a:spcPct val="150000"/>
              </a:lnSpc>
            </a:pPr>
            <a:r>
              <a:rPr lang="en-US" dirty="0"/>
              <a:t>stable, more stable than mt in plants!</a:t>
            </a:r>
          </a:p>
        </p:txBody>
      </p:sp>
      <p:pic>
        <p:nvPicPr>
          <p:cNvPr id="8194" name="Picture 2" descr="Structural organization of the chloroplast genome of Nicotiana tabacum....  | Download Scientific Diagram">
            <a:extLst>
              <a:ext uri="{FF2B5EF4-FFF2-40B4-BE49-F238E27FC236}">
                <a16:creationId xmlns:a16="http://schemas.microsoft.com/office/drawing/2014/main" id="{EEC3AD0D-8227-004B-A7A3-7FA9B95E1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150" y="0"/>
            <a:ext cx="6292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89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Plasmid - Wikipedia">
            <a:extLst>
              <a:ext uri="{FF2B5EF4-FFF2-40B4-BE49-F238E27FC236}">
                <a16:creationId xmlns:a16="http://schemas.microsoft.com/office/drawing/2014/main" id="{8BF46882-B694-2845-891D-4E1D7BD26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9118"/>
            <a:ext cx="12192000" cy="571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309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23BE-1544-1240-97D7-7F822A45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55963" cy="1325563"/>
          </a:xfrm>
        </p:spPr>
        <p:txBody>
          <a:bodyPr/>
          <a:lstStyle/>
          <a:p>
            <a:r>
              <a:rPr lang="en-US" dirty="0"/>
              <a:t>Prokaryotic Genomes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BA877-FA95-8748-BDFD-3272F8FFF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255963" cy="4351338"/>
          </a:xfrm>
        </p:spPr>
        <p:txBody>
          <a:bodyPr/>
          <a:lstStyle/>
          <a:p>
            <a:r>
              <a:rPr lang="en-US" dirty="0"/>
              <a:t>size and organization correlated with life history</a:t>
            </a:r>
          </a:p>
        </p:txBody>
      </p:sp>
      <p:pic>
        <p:nvPicPr>
          <p:cNvPr id="6146" name="Picture 2" descr="The Nature and Dynamics of Bacterial Genomes | Science">
            <a:extLst>
              <a:ext uri="{FF2B5EF4-FFF2-40B4-BE49-F238E27FC236}">
                <a16:creationId xmlns:a16="http://schemas.microsoft.com/office/drawing/2014/main" id="{1C691718-B411-0844-AAEC-8FF7E784B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163" y="0"/>
            <a:ext cx="8097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14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7F407C9-28E1-6F42-9F0E-969F1D736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59" y="789720"/>
            <a:ext cx="10370082" cy="5278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076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A9C3-C29E-A947-9034-06F02DFB6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D8012-B0B8-D844-B40F-10D902A2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Structure and function of genomes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study complete sets of genes/proteins and their interactions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study the organization of the genome</a:t>
            </a:r>
          </a:p>
          <a:p>
            <a:pPr>
              <a:lnSpc>
                <a:spcPct val="150000"/>
              </a:lnSpc>
            </a:pPr>
            <a:r>
              <a:rPr lang="en-US" dirty="0"/>
              <a:t>Looks at the big picture of genetic landscape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need to develop a map of relative physical locations of different genes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understand how the different parts function and interact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figure out evolutionary relationships using genomic information</a:t>
            </a:r>
          </a:p>
        </p:txBody>
      </p:sp>
    </p:spTree>
    <p:extLst>
      <p:ext uri="{BB962C8B-B14F-4D97-AF65-F5344CB8AC3E}">
        <p14:creationId xmlns:p14="http://schemas.microsoft.com/office/powerpoint/2010/main" val="320256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2327-D608-3E4E-B532-DA99E3FB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AB3B5-C75B-8F4C-8589-0B1D8DA4F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talked about many different sequencing methods last time…</a:t>
            </a:r>
          </a:p>
          <a:p>
            <a:r>
              <a:rPr lang="en-US" dirty="0"/>
              <a:t>many ways to figure out the sequence of bases in fragments of DNA (50bp – 10,000bp)</a:t>
            </a:r>
          </a:p>
          <a:p>
            <a:r>
              <a:rPr lang="en-US" dirty="0"/>
              <a:t>to span a 3,000,000 bp genome how many 100bp fragments?</a:t>
            </a:r>
          </a:p>
          <a:p>
            <a:pPr lvl="1"/>
            <a:r>
              <a:rPr lang="en-US" dirty="0"/>
              <a:t>sequencing must be deep enough to account for errors, contamination, sequencing artifacts, repetitive regions…</a:t>
            </a:r>
          </a:p>
          <a:p>
            <a:r>
              <a:rPr lang="en-US" dirty="0"/>
              <a:t>giant panda genome (~3Gb) required 50x coverage of 75bp reads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9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4A60-8E5D-EF4A-B1E9-30E69BA5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8B17-CE9A-F442-9A20-08611C3E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library preparation will be different for WGS than for exome or transcriptome</a:t>
            </a:r>
          </a:p>
        </p:txBody>
      </p:sp>
      <p:pic>
        <p:nvPicPr>
          <p:cNvPr id="1026" name="Picture 2" descr="Difference Between Exome and Transcriptome">
            <a:extLst>
              <a:ext uri="{FF2B5EF4-FFF2-40B4-BE49-F238E27FC236}">
                <a16:creationId xmlns:a16="http://schemas.microsoft.com/office/drawing/2014/main" id="{713518C2-A1F3-4E4F-BD1E-CAFECC7AA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04" y="2878221"/>
            <a:ext cx="10944392" cy="397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617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4A60-8E5D-EF4A-B1E9-30E69BA5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8B17-CE9A-F442-9A20-08611C3E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library preparation will be different for WGS than for exome or transcriptome</a:t>
            </a:r>
          </a:p>
          <a:p>
            <a:pPr>
              <a:lnSpc>
                <a:spcPct val="150000"/>
              </a:lnSpc>
            </a:pPr>
            <a:r>
              <a:rPr lang="en-US" dirty="0"/>
              <a:t>it is important to know how the library was prepared (paired end, single end, mate pair etc.) – this will determine which bioinformatic analyses are appropriate!</a:t>
            </a:r>
          </a:p>
          <a:p>
            <a:pPr>
              <a:lnSpc>
                <a:spcPct val="150000"/>
              </a:lnSpc>
            </a:pPr>
            <a:r>
              <a:rPr lang="en-US" dirty="0"/>
              <a:t>different assemblers for different assembly problems…</a:t>
            </a:r>
          </a:p>
        </p:txBody>
      </p:sp>
    </p:spTree>
    <p:extLst>
      <p:ext uri="{BB962C8B-B14F-4D97-AF65-F5344CB8AC3E}">
        <p14:creationId xmlns:p14="http://schemas.microsoft.com/office/powerpoint/2010/main" val="38121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4A60-8E5D-EF4A-B1E9-30E69BA5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8B17-CE9A-F442-9A20-08611C3EA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reference genome already exists – reference guided/mapping assembly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ELSE a </a:t>
            </a:r>
            <a:r>
              <a:rPr lang="en-US" i="1" dirty="0"/>
              <a:t>de-novo </a:t>
            </a:r>
            <a:r>
              <a:rPr lang="en-US" dirty="0"/>
              <a:t>assembly is needed</a:t>
            </a:r>
          </a:p>
          <a:p>
            <a:pPr lvl="1"/>
            <a:r>
              <a:rPr lang="en-US" dirty="0"/>
              <a:t>uses only the information contained in the sequence reads </a:t>
            </a:r>
          </a:p>
          <a:p>
            <a:pPr lvl="1"/>
            <a:endParaRPr lang="en-US" dirty="0"/>
          </a:p>
          <a:p>
            <a:r>
              <a:rPr lang="en-US" dirty="0"/>
              <a:t>Genome size may determine which program you go with</a:t>
            </a:r>
          </a:p>
          <a:p>
            <a:endParaRPr lang="en-US" dirty="0"/>
          </a:p>
          <a:p>
            <a:r>
              <a:rPr lang="en-US" dirty="0"/>
              <a:t>Different long read and short read assemblers</a:t>
            </a:r>
          </a:p>
        </p:txBody>
      </p:sp>
    </p:spTree>
    <p:extLst>
      <p:ext uri="{BB962C8B-B14F-4D97-AF65-F5344CB8AC3E}">
        <p14:creationId xmlns:p14="http://schemas.microsoft.com/office/powerpoint/2010/main" val="401355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38680A0F-B9C3-4D47-82F4-0CA5F56C0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4769"/>
            <a:ext cx="9807270" cy="65084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42C3B5-F233-AD44-B461-6F62EF82A3ED}"/>
              </a:ext>
            </a:extLst>
          </p:cNvPr>
          <p:cNvSpPr txBox="1"/>
          <p:nvPr/>
        </p:nvSpPr>
        <p:spPr>
          <a:xfrm>
            <a:off x="9433296" y="802105"/>
            <a:ext cx="2758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FastQC</a:t>
            </a:r>
            <a:r>
              <a:rPr lang="en-US" sz="2400" b="1" dirty="0"/>
              <a:t>, </a:t>
            </a:r>
            <a:r>
              <a:rPr lang="en-US" sz="2400" b="1" dirty="0" err="1"/>
              <a:t>fastx</a:t>
            </a:r>
            <a:r>
              <a:rPr lang="en-US" sz="2400" b="1" dirty="0"/>
              <a:t>-toolkit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207F7-67E1-A441-9772-463BCF738F9D}"/>
              </a:ext>
            </a:extLst>
          </p:cNvPr>
          <p:cNvSpPr txBox="1"/>
          <p:nvPr/>
        </p:nvSpPr>
        <p:spPr>
          <a:xfrm>
            <a:off x="9052101" y="2318084"/>
            <a:ext cx="313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trimmomatic</a:t>
            </a:r>
            <a:r>
              <a:rPr lang="en-US" sz="2400" b="1" dirty="0"/>
              <a:t>, </a:t>
            </a:r>
            <a:r>
              <a:rPr lang="en-US" sz="2400" b="1" dirty="0" err="1"/>
              <a:t>cutadapt</a:t>
            </a:r>
            <a:endParaRPr lang="en-US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BE9386-9DA7-2D41-9A9F-6CEC6B52EE9D}"/>
              </a:ext>
            </a:extLst>
          </p:cNvPr>
          <p:cNvSpPr txBox="1"/>
          <p:nvPr/>
        </p:nvSpPr>
        <p:spPr>
          <a:xfrm>
            <a:off x="10006221" y="4006908"/>
            <a:ext cx="993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many!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1DC8A-2337-5D46-BE54-21EBB7EE2CC9}"/>
              </a:ext>
            </a:extLst>
          </p:cNvPr>
          <p:cNvSpPr txBox="1"/>
          <p:nvPr/>
        </p:nvSpPr>
        <p:spPr>
          <a:xfrm>
            <a:off x="9395427" y="5113571"/>
            <a:ext cx="2453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compare btw methods, look for completeness</a:t>
            </a:r>
          </a:p>
        </p:txBody>
      </p:sp>
    </p:spTree>
    <p:extLst>
      <p:ext uri="{BB962C8B-B14F-4D97-AF65-F5344CB8AC3E}">
        <p14:creationId xmlns:p14="http://schemas.microsoft.com/office/powerpoint/2010/main" val="3174084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1147-EF3B-9747-9C7A-7B40E4EC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23329-0E5E-9947-85E8-17105F7F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Whole genome – </a:t>
            </a:r>
            <a:r>
              <a:rPr lang="en-US" dirty="0" err="1"/>
              <a:t>ABySS</a:t>
            </a:r>
            <a:r>
              <a:rPr lang="en-US" dirty="0"/>
              <a:t> ,Velvet ,</a:t>
            </a:r>
            <a:r>
              <a:rPr lang="en-US" dirty="0" err="1"/>
              <a:t>SOAPdenovo</a:t>
            </a:r>
            <a:r>
              <a:rPr lang="en-US" dirty="0"/>
              <a:t> ,Ray ,</a:t>
            </a:r>
            <a:r>
              <a:rPr lang="en-US" dirty="0" err="1"/>
              <a:t>SPAdes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Transcriptome – Trinity, salmon</a:t>
            </a:r>
          </a:p>
          <a:p>
            <a:pPr>
              <a:lnSpc>
                <a:spcPct val="150000"/>
              </a:lnSpc>
            </a:pPr>
            <a:r>
              <a:rPr lang="en-US" dirty="0"/>
              <a:t>Long read – </a:t>
            </a:r>
            <a:r>
              <a:rPr lang="en-US" dirty="0" err="1"/>
              <a:t>Canu</a:t>
            </a:r>
            <a:r>
              <a:rPr lang="en-US" dirty="0"/>
              <a:t>, </a:t>
            </a:r>
            <a:r>
              <a:rPr lang="en-US" dirty="0" err="1"/>
              <a:t>Flye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5F46-3BF4-E940-B828-25A1F9BA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99F26-679D-4545-BB94-C97F8334B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you have just been handed several garbage bags full multiple copies of a shredded book….</a:t>
            </a:r>
          </a:p>
          <a:p>
            <a:pPr>
              <a:lnSpc>
                <a:spcPct val="150000"/>
              </a:lnSpc>
            </a:pPr>
            <a:r>
              <a:rPr lang="en-US" dirty="0"/>
              <a:t>reassemble each sentence of the book in the correct order using only observed overlap between fragments</a:t>
            </a:r>
          </a:p>
          <a:p>
            <a:pPr>
              <a:lnSpc>
                <a:spcPct val="150000"/>
              </a:lnSpc>
            </a:pPr>
            <a:r>
              <a:rPr lang="en-US" dirty="0"/>
              <a:t>someone has systematically removed parts of the book and created typos in some of the copies…</a:t>
            </a:r>
          </a:p>
        </p:txBody>
      </p:sp>
    </p:spTree>
    <p:extLst>
      <p:ext uri="{BB962C8B-B14F-4D97-AF65-F5344CB8AC3E}">
        <p14:creationId xmlns:p14="http://schemas.microsoft.com/office/powerpoint/2010/main" val="125934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8D14-B6E5-3546-B81E-9D0F0619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FD232-F657-9A42-896A-5B273C263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That Sam-I-am! I do not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</a:t>
            </a:r>
            <a:r>
              <a:rPr lang="en-US" dirty="0"/>
              <a:t>I-am! I do not like tha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Sam-I-am! Do you like green eggs 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</a:t>
            </a:r>
            <a:r>
              <a:rPr lang="en-US" dirty="0"/>
              <a:t>ke that Sam-I-am! Do yo</a:t>
            </a: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like green eggs 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like that Sam-</a:t>
            </a:r>
            <a:r>
              <a:rPr lang="en-US" dirty="0"/>
              <a:t>I-am! Do you like green eggs </a:t>
            </a:r>
            <a:r>
              <a:rPr lang="en-US" dirty="0">
                <a:solidFill>
                  <a:schemeClr val="bg1"/>
                </a:solidFill>
              </a:rPr>
              <a:t>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like that Sam-I-am! Do you </a:t>
            </a:r>
            <a:r>
              <a:rPr lang="en-US" dirty="0"/>
              <a:t>like green eggs and ham?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Sam-I-am! I do not like that Sam-I-am! Do you like green eggs and ham?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11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F8D14-B6E5-3546-B81E-9D0F0619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Problem – sequencing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FD232-F657-9A42-896A-5B273C263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am-I-am! I do not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</a:t>
            </a:r>
            <a:r>
              <a:rPr lang="en-US" dirty="0" err="1">
                <a:solidFill>
                  <a:schemeClr val="bg1"/>
                </a:solidFill>
              </a:rPr>
              <a:t>Sam-</a:t>
            </a:r>
            <a:r>
              <a:rPr lang="en-US" dirty="0" err="1"/>
              <a:t>I</a:t>
            </a:r>
            <a:r>
              <a:rPr lang="en-US" dirty="0" err="1">
                <a:solidFill>
                  <a:srgbClr val="FF0000"/>
                </a:solidFill>
              </a:rPr>
              <a:t>!</a:t>
            </a:r>
            <a:r>
              <a:rPr lang="en-US" dirty="0" err="1"/>
              <a:t>am</a:t>
            </a:r>
            <a:r>
              <a:rPr lang="en-US" dirty="0"/>
              <a:t>! I do not like tha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Sam-I-am! Do you like green eggs 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</a:t>
            </a:r>
            <a:r>
              <a:rPr lang="en-US" dirty="0"/>
              <a:t>ke that Sam-I-am! Do yo</a:t>
            </a:r>
            <a:r>
              <a:rPr lang="en-US" dirty="0">
                <a:solidFill>
                  <a:schemeClr val="bg1"/>
                </a:solidFill>
              </a:rPr>
              <a:t>u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like green eggs 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like that Sam-</a:t>
            </a:r>
            <a:r>
              <a:rPr lang="en-US" dirty="0"/>
              <a:t>I-am! Do you like green eggs </a:t>
            </a:r>
            <a:r>
              <a:rPr lang="en-US" dirty="0">
                <a:solidFill>
                  <a:schemeClr val="bg1"/>
                </a:solidFill>
              </a:rPr>
              <a:t>and ham?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That Sam-I-am! I do not like that Sam-I-am! Do you </a:t>
            </a:r>
            <a:r>
              <a:rPr lang="en-US" dirty="0"/>
              <a:t>like</a:t>
            </a:r>
            <a:r>
              <a:rPr lang="en-US" dirty="0">
                <a:solidFill>
                  <a:srgbClr val="FF0000"/>
                </a:solidFill>
              </a:rPr>
              <a:t> p</a:t>
            </a:r>
            <a:r>
              <a:rPr lang="en-US" dirty="0"/>
              <a:t>reen eggs and ham?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</a:t>
            </a:r>
            <a:r>
              <a:rPr lang="en-US" dirty="0" err="1">
                <a:solidFill>
                  <a:srgbClr val="FF0000"/>
                </a:solidFill>
              </a:rPr>
              <a:t>P</a:t>
            </a:r>
            <a:r>
              <a:rPr lang="en-US" dirty="0" err="1"/>
              <a:t>am-I</a:t>
            </a:r>
            <a:r>
              <a:rPr lang="en-US" dirty="0" err="1">
                <a:solidFill>
                  <a:srgbClr val="FF0000"/>
                </a:solidFill>
              </a:rPr>
              <a:t>?</a:t>
            </a:r>
            <a:r>
              <a:rPr lang="en-US" dirty="0" err="1"/>
              <a:t>am</a:t>
            </a:r>
            <a:r>
              <a:rPr lang="en-US" dirty="0"/>
              <a:t>! I do not like that Sam-I-am! Do you like </a:t>
            </a:r>
            <a:r>
              <a:rPr lang="en-US" dirty="0">
                <a:solidFill>
                  <a:srgbClr val="FF0000"/>
                </a:solidFill>
              </a:rPr>
              <a:t>?</a:t>
            </a:r>
            <a:r>
              <a:rPr lang="en-US" dirty="0" err="1"/>
              <a:t>reen</a:t>
            </a:r>
            <a:r>
              <a:rPr lang="en-US" dirty="0"/>
              <a:t> eggs and ham?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75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1989-35BB-1547-9450-7CF02E4C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15CEA-3A11-D84F-86E7-8D488AFEC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EC63FD1-8CBD-2A47-8885-355E27A44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1" r="24231" b="53215"/>
          <a:stretch/>
        </p:blipFill>
        <p:spPr bwMode="auto">
          <a:xfrm>
            <a:off x="838199" y="365125"/>
            <a:ext cx="10515601" cy="61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7544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FC0F4D0A-F857-9C47-AE19-3700E4FEE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944" y="106594"/>
            <a:ext cx="7060111" cy="6644811"/>
          </a:xfrm>
        </p:spPr>
      </p:pic>
    </p:spTree>
    <p:extLst>
      <p:ext uri="{BB962C8B-B14F-4D97-AF65-F5344CB8AC3E}">
        <p14:creationId xmlns:p14="http://schemas.microsoft.com/office/powerpoint/2010/main" val="447758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ABF0B-5AF9-1B49-B7EB-BC17C997C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Sequencing and Assembly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A18F-52D0-8143-8997-885457B3C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contamination: apples and oranges</a:t>
            </a:r>
          </a:p>
          <a:p>
            <a:pPr>
              <a:lnSpc>
                <a:spcPct val="150000"/>
              </a:lnSpc>
            </a:pPr>
            <a:r>
              <a:rPr lang="en-US" dirty="0"/>
              <a:t>component mis-assemblies: lower level organization</a:t>
            </a:r>
          </a:p>
          <a:p>
            <a:pPr>
              <a:lnSpc>
                <a:spcPct val="150000"/>
              </a:lnSpc>
            </a:pPr>
            <a:r>
              <a:rPr lang="en-US" dirty="0"/>
              <a:t>path level mis-assemblies: higher level organization </a:t>
            </a:r>
          </a:p>
          <a:p>
            <a:pPr>
              <a:lnSpc>
                <a:spcPct val="150000"/>
              </a:lnSpc>
            </a:pPr>
            <a:r>
              <a:rPr lang="en-US" dirty="0"/>
              <a:t>large-scale duplication: multi-mapping </a:t>
            </a:r>
          </a:p>
          <a:p>
            <a:pPr>
              <a:lnSpc>
                <a:spcPct val="150000"/>
              </a:lnSpc>
            </a:pPr>
            <a:r>
              <a:rPr lang="en-US" dirty="0"/>
              <a:t>genome polymorphism: haplotype expansion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3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C666-B296-DC41-B4F2-6AAD625E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8C7C-D08A-B14D-98CA-905F90249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Many genomes are at different “life stages”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some are large scaffolds that cannot be placed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some have well developed maps corresponding to chromosomes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some may be well assembled but lacking proper annotation…</a:t>
            </a:r>
          </a:p>
        </p:txBody>
      </p:sp>
    </p:spTree>
    <p:extLst>
      <p:ext uri="{BB962C8B-B14F-4D97-AF65-F5344CB8AC3E}">
        <p14:creationId xmlns:p14="http://schemas.microsoft.com/office/powerpoint/2010/main" val="382771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CF11-EE9E-A542-A3EA-8F8E52A37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Genome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351E9-9C0D-ED46-A526-823D2FA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068"/>
            <a:ext cx="10515600" cy="481580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Putting labels on all of the parts of the genome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gene names, functions, pathways etc.</a:t>
            </a:r>
          </a:p>
          <a:p>
            <a:pPr>
              <a:lnSpc>
                <a:spcPct val="150000"/>
              </a:lnSpc>
            </a:pPr>
            <a:r>
              <a:rPr lang="en-US" dirty="0"/>
              <a:t>Information needed to make conclusions or develop hypotheses about </a:t>
            </a:r>
            <a:r>
              <a:rPr lang="en-US" u="sng" dirty="0"/>
              <a:t>biological function</a:t>
            </a:r>
          </a:p>
          <a:p>
            <a:pPr>
              <a:lnSpc>
                <a:spcPct val="150000"/>
              </a:lnSpc>
            </a:pPr>
            <a:r>
              <a:rPr lang="en-US" dirty="0"/>
              <a:t>Allows us to put all of our bioinformatic information into biological context…</a:t>
            </a:r>
          </a:p>
          <a:p>
            <a:pPr>
              <a:lnSpc>
                <a:spcPct val="150000"/>
              </a:lnSpc>
            </a:pPr>
            <a:r>
              <a:rPr lang="en-US" dirty="0"/>
              <a:t>Plenty of wet lab validation yet to be done; classical genetics, molecular biology, biochemistry</a:t>
            </a:r>
          </a:p>
        </p:txBody>
      </p:sp>
    </p:spTree>
    <p:extLst>
      <p:ext uri="{BB962C8B-B14F-4D97-AF65-F5344CB8AC3E}">
        <p14:creationId xmlns:p14="http://schemas.microsoft.com/office/powerpoint/2010/main" val="42090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6693</TotalTime>
  <Words>783</Words>
  <Application>Microsoft Macintosh PowerPoint</Application>
  <PresentationFormat>Widescreen</PresentationFormat>
  <Paragraphs>102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Genome Sequencing</vt:lpstr>
      <vt:lpstr>What is a genome?</vt:lpstr>
      <vt:lpstr>Nucleic Genome (Eukaryotes)</vt:lpstr>
      <vt:lpstr>Mitochondrial Genome</vt:lpstr>
      <vt:lpstr>Chloroplast Genome</vt:lpstr>
      <vt:lpstr>PowerPoint Presentation</vt:lpstr>
      <vt:lpstr>Prokaryotic Genomes</vt:lpstr>
      <vt:lpstr>PowerPoint Presentation</vt:lpstr>
      <vt:lpstr>What is genomics?</vt:lpstr>
      <vt:lpstr>Genome Sequencing</vt:lpstr>
      <vt:lpstr>Genome Sequencing</vt:lpstr>
      <vt:lpstr>Genome Sequencing</vt:lpstr>
      <vt:lpstr>Genome Assembly</vt:lpstr>
      <vt:lpstr>PowerPoint Presentation</vt:lpstr>
      <vt:lpstr>Assembly</vt:lpstr>
      <vt:lpstr>Assembly Problem</vt:lpstr>
      <vt:lpstr>Assembly Problem</vt:lpstr>
      <vt:lpstr>Assembly Problem – sequencing errors</vt:lpstr>
      <vt:lpstr>PowerPoint Presentation</vt:lpstr>
      <vt:lpstr>PowerPoint Presentation</vt:lpstr>
      <vt:lpstr>Sequencing and Assembly Challenges</vt:lpstr>
      <vt:lpstr>Genome Assembly</vt:lpstr>
      <vt:lpstr>Genome Annotation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 Sequencing</dc:title>
  <dc:creator>Nicole Garrison</dc:creator>
  <cp:lastModifiedBy>Nicole Garrison</cp:lastModifiedBy>
  <cp:revision>24</cp:revision>
  <dcterms:created xsi:type="dcterms:W3CDTF">2021-07-12T00:24:27Z</dcterms:created>
  <dcterms:modified xsi:type="dcterms:W3CDTF">2021-07-16T15:57:36Z</dcterms:modified>
</cp:coreProperties>
</file>