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86" r:id="rId25"/>
    <p:sldId id="287" r:id="rId26"/>
    <p:sldId id="288" r:id="rId27"/>
    <p:sldId id="289" r:id="rId28"/>
    <p:sldId id="290" r:id="rId29"/>
    <p:sldId id="291" r:id="rId30"/>
    <p:sldId id="292" r:id="rId31"/>
    <p:sldId id="293" r:id="rId32"/>
    <p:sldId id="294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5853"/>
  </p:normalViewPr>
  <p:slideViewPr>
    <p:cSldViewPr snapToGrid="0" snapToObjects="1">
      <p:cViewPr varScale="1">
        <p:scale>
          <a:sx n="113" d="100"/>
          <a:sy n="113" d="100"/>
        </p:scale>
        <p:origin x="52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5F22B9-9678-164C-B2AC-E1D0E9A598B5}" type="datetimeFigureOut">
              <a:rPr lang="en-US" smtClean="0"/>
              <a:t>7/8/21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084F24-D2B7-324C-92E0-19B6D5A49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240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`` = command substitution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${} = parameter (variable) expansion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`` = command substitution</a:t>
            </a:r>
            <a:endParaRPr/>
          </a:p>
        </p:txBody>
      </p:sp>
      <p:sp>
        <p:nvSpPr>
          <p:cNvPr id="213" name="Google Shape;21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1ED66-F1A1-6E4D-965A-BBA070998A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FEDB2E-A8FA-284A-A834-A2F775D3D9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DCE4E-1625-6643-AC7A-BA5C458C2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10A97-4191-1B40-8FF8-530F14524B61}" type="datetimeFigureOut">
              <a:rPr lang="en-US" smtClean="0"/>
              <a:t>7/8/21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721427-6B60-8442-BACE-28B62F47A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A2C9C-4B10-574A-B348-6E8105160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04E21-960A-7D4E-A743-ADE4AD3D6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241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D6F17-C9B7-4B43-A611-E7E547FE3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FF112-6006-4E42-A020-6DA092B5D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891E1-A45E-9547-AC45-C40A14B16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10A97-4191-1B40-8FF8-530F14524B61}" type="datetimeFigureOut">
              <a:rPr lang="en-US" smtClean="0"/>
              <a:t>7/8/21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2BA440-AFBA-1E4A-A895-9247F68E7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36ADBE-1EE2-1C49-8766-4287AA425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04E21-960A-7D4E-A743-ADE4AD3D6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816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0C185-F465-6443-B19C-EEA05520A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F83D9D-17E3-9D47-B2D8-59481317B4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9FC11E-8D03-C442-A97D-A875ED0E8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10A97-4191-1B40-8FF8-530F14524B61}" type="datetimeFigureOut">
              <a:rPr lang="en-US" smtClean="0"/>
              <a:t>7/8/21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C0B1D2-A6A3-884E-B395-3621337BA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CA016E-83EB-9346-9EB9-B0C532B7D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04E21-960A-7D4E-A743-ADE4AD3D6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746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6F958-61A5-9141-95F4-AAD935B0E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961F5-2521-3E4E-8C03-A34985A0BE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2668FD-5CFA-A04F-8EED-F7DCCDF0E2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B0AE33-9A4B-2049-B8E1-4B695F98F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10A97-4191-1B40-8FF8-530F14524B61}" type="datetimeFigureOut">
              <a:rPr lang="en-US" smtClean="0"/>
              <a:t>7/8/21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075B16-7CF4-0F45-860E-F0B136C5E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5EA008-3C9B-A940-9688-CD2F3CD32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04E21-960A-7D4E-A743-ADE4AD3D6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867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68B60-1D7B-7348-8EA7-603226A64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0AA171-ABC1-074A-B2D0-9C706082FB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B93F86-E7A3-9B47-AEB4-38D98AB5CA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1B7BBE-E0CD-0446-A129-D84D4FAB90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8745A5-83B5-0B4D-9E1F-21434096AB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386222-592F-B643-85EA-90016CA82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10A97-4191-1B40-8FF8-530F14524B61}" type="datetimeFigureOut">
              <a:rPr lang="en-US" smtClean="0"/>
              <a:t>7/8/21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0B4FA9-6D6E-2540-8495-746C03CB1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00A9E4-3E5C-174E-9ABA-E6279EFF5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04E21-960A-7D4E-A743-ADE4AD3D6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057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660E0-AA53-9646-9019-442C9EAF5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9B45C5-9CC8-124E-8C3E-811FDDA3E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10A97-4191-1B40-8FF8-530F14524B61}" type="datetimeFigureOut">
              <a:rPr lang="en-US" smtClean="0"/>
              <a:t>7/8/21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B85285-7FC8-9640-8263-448D46467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4FB235-FA2E-1A4D-9753-06AB675A2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04E21-960A-7D4E-A743-ADE4AD3D6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339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459EFC-6847-4447-83C8-0872509A9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10A97-4191-1B40-8FF8-530F14524B61}" type="datetimeFigureOut">
              <a:rPr lang="en-US" smtClean="0"/>
              <a:t>7/8/21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EB4D4B-BDC3-194C-9117-18109C36D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D71FF9-C324-C54A-96E0-94927CD8C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04E21-960A-7D4E-A743-ADE4AD3D6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502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932ED-BB60-E144-92EF-B1B08ADEF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5969D-C14E-9548-8BDD-C7E49C8F81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184A65-F8DA-2C4D-A227-6D2EB762DC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71009F-C890-6142-AB83-BBC4F2C4C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10A97-4191-1B40-8FF8-530F14524B61}" type="datetimeFigureOut">
              <a:rPr lang="en-US" smtClean="0"/>
              <a:t>7/8/21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848CFC-2C47-7945-A589-F1DD10E70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C839CC-9D63-984C-8C7B-EDD6079FC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04E21-960A-7D4E-A743-ADE4AD3D6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659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9AAAA-88A6-7248-97D7-4155E09BE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C63B4E-04D0-6341-94CB-07A2BA3F0A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A35B58-FF13-694D-85BC-E81A12CDDA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A5C68F-3610-4B40-82E8-5BD149F9F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10A97-4191-1B40-8FF8-530F14524B61}" type="datetimeFigureOut">
              <a:rPr lang="en-US" smtClean="0"/>
              <a:t>7/8/21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8401CE-D76F-3747-AFA3-2DA39FEBC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5E8088-695E-8248-82ED-4FF070D06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04E21-960A-7D4E-A743-ADE4AD3D6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757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70AA6-7A14-5E47-A79F-50A69FFA5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54C1A0-9286-8946-9D78-D2D1777CDB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466A74-41CA-F841-A686-078EF6809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10A97-4191-1B40-8FF8-530F14524B61}" type="datetimeFigureOut">
              <a:rPr lang="en-US" smtClean="0"/>
              <a:t>7/8/21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68B7F1-E954-754D-B899-7089FE459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D852E7-C583-0744-B91F-A6CDD9028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04E21-960A-7D4E-A743-ADE4AD3D6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319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350700-2CE0-704A-AF08-15CB9856FA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4F469A-9535-5C4A-9EB3-FE72B3045C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9A045-98AD-BB4F-A0DA-AC763C18C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10A97-4191-1B40-8FF8-530F14524B61}" type="datetimeFigureOut">
              <a:rPr lang="en-US" smtClean="0"/>
              <a:t>7/8/21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6A8A19-23E6-3449-BBE5-8E2FB8112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5984CC-0F75-7A45-904F-A7EE797BF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04E21-960A-7D4E-A743-ADE4AD3D6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349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FC9F02-E701-424B-95DC-BF0AD2AE4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7DA401-E2DA-624E-9DF6-511C6749F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046BE2-C58A-FE45-B536-77933C1316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010A97-4191-1B40-8FF8-530F14524B61}" type="datetimeFigureOut">
              <a:rPr lang="en-US" smtClean="0"/>
              <a:t>7/8/21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2664D7-8B98-C94C-9ACB-3725B95FC7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B2B335-970C-414D-8AB8-59394631D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004E21-960A-7D4E-A743-ADE4AD3D6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691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/>
          <p:cNvSpPr txBox="1">
            <a:spLocks noGrp="1"/>
          </p:cNvSpPr>
          <p:nvPr>
            <p:ph type="title"/>
          </p:nvPr>
        </p:nvSpPr>
        <p:spPr>
          <a:xfrm>
            <a:off x="1981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Basic Bash scripting</a:t>
            </a:r>
            <a:endParaRPr/>
          </a:p>
        </p:txBody>
      </p:sp>
      <p:sp>
        <p:nvSpPr>
          <p:cNvPr id="138" name="Google Shape;138;p20"/>
          <p:cNvSpPr txBox="1">
            <a:spLocks noGrp="1"/>
          </p:cNvSpPr>
          <p:nvPr>
            <p:ph type="body" idx="1"/>
          </p:nvPr>
        </p:nvSpPr>
        <p:spPr>
          <a:xfrm>
            <a:off x="1981200" y="1600201"/>
            <a:ext cx="8229600" cy="49879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script</a:t>
            </a:r>
            <a:endParaRPr/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Def: the written text of a play, movie, or broadcast</a:t>
            </a:r>
            <a:endParaRPr/>
          </a:p>
          <a:p>
            <a:pPr marL="742950" lvl="1" indent="-107950"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Utilized by interpreted computer languages</a:t>
            </a:r>
            <a:endParaRPr/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Instruction set executed at run-time by program	</a:t>
            </a:r>
            <a:endParaRPr/>
          </a:p>
          <a:p>
            <a:pPr lvl="2">
              <a:lnSpc>
                <a:spcPct val="100000"/>
              </a:lnSpc>
              <a:spcBef>
                <a:spcPts val="480"/>
              </a:spcBef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Shells (i.e., Bash), Julia, Lua, Perl, Python, R, Ruby</a:t>
            </a:r>
            <a:endParaRPr/>
          </a:p>
          <a:p>
            <a:pPr lvl="2" indent="-76200">
              <a:lnSpc>
                <a:spcPct val="100000"/>
              </a:lnSpc>
              <a:spcBef>
                <a:spcPts val="480"/>
              </a:spcBef>
              <a:buClr>
                <a:schemeClr val="dk1"/>
              </a:buClr>
              <a:buSzPts val="2400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Human-readable </a:t>
            </a:r>
            <a:endParaRPr/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Allows one to dissect the “action”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"/>
          <p:cNvSpPr txBox="1">
            <a:spLocks noGrp="1"/>
          </p:cNvSpPr>
          <p:nvPr>
            <p:ph type="title"/>
          </p:nvPr>
        </p:nvSpPr>
        <p:spPr>
          <a:xfrm>
            <a:off x="1981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Anatomy of a script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>
            <a:spLocks noGrp="1"/>
          </p:cNvSpPr>
          <p:nvPr>
            <p:ph type="title"/>
          </p:nvPr>
        </p:nvSpPr>
        <p:spPr>
          <a:xfrm>
            <a:off x="1981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Anatomy of a script</a:t>
            </a:r>
            <a:endParaRPr/>
          </a:p>
        </p:txBody>
      </p:sp>
      <p:cxnSp>
        <p:nvCxnSpPr>
          <p:cNvPr id="149" name="Google Shape;149;p22"/>
          <p:cNvCxnSpPr/>
          <p:nvPr/>
        </p:nvCxnSpPr>
        <p:spPr>
          <a:xfrm flipH="1">
            <a:off x="2809876" y="1417638"/>
            <a:ext cx="15875" cy="4979987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med" len="med"/>
            <a:tailEnd type="stealth" w="med" len="med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</p:cxnSp>
      <p:sp>
        <p:nvSpPr>
          <p:cNvPr id="150" name="Google Shape;150;p22"/>
          <p:cNvSpPr txBox="1"/>
          <p:nvPr/>
        </p:nvSpPr>
        <p:spPr>
          <a:xfrm>
            <a:off x="2943225" y="3382962"/>
            <a:ext cx="5764212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chemeClr val="dk1"/>
              </a:buClr>
              <a:buSzPts val="2400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Execution in top-&gt;bottom, left-&gt;right fashion</a:t>
            </a:r>
            <a:endParaRPr/>
          </a:p>
        </p:txBody>
      </p:sp>
      <p:cxnSp>
        <p:nvCxnSpPr>
          <p:cNvPr id="151" name="Google Shape;151;p22"/>
          <p:cNvCxnSpPr/>
          <p:nvPr/>
        </p:nvCxnSpPr>
        <p:spPr>
          <a:xfrm rot="-5400000" flipH="1">
            <a:off x="5363369" y="-905668"/>
            <a:ext cx="15875" cy="4979987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med" len="med"/>
            <a:tailEnd type="stealth" w="med" len="med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</p:cxnSp>
      <p:cxnSp>
        <p:nvCxnSpPr>
          <p:cNvPr id="152" name="Google Shape;152;p22"/>
          <p:cNvCxnSpPr/>
          <p:nvPr/>
        </p:nvCxnSpPr>
        <p:spPr>
          <a:xfrm rot="-5400000" flipH="1">
            <a:off x="5363369" y="-551656"/>
            <a:ext cx="15875" cy="4979987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med" len="med"/>
            <a:tailEnd type="stealth" w="med" len="med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</p:cxnSp>
      <p:cxnSp>
        <p:nvCxnSpPr>
          <p:cNvPr id="153" name="Google Shape;153;p22"/>
          <p:cNvCxnSpPr/>
          <p:nvPr/>
        </p:nvCxnSpPr>
        <p:spPr>
          <a:xfrm rot="-5400000" flipH="1">
            <a:off x="5363369" y="-211931"/>
            <a:ext cx="15875" cy="4979987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med" len="med"/>
            <a:tailEnd type="stealth" w="med" len="med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3"/>
          <p:cNvSpPr txBox="1">
            <a:spLocks noGrp="1"/>
          </p:cNvSpPr>
          <p:nvPr>
            <p:ph type="title"/>
          </p:nvPr>
        </p:nvSpPr>
        <p:spPr>
          <a:xfrm>
            <a:off x="1981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Anatomy of a script</a:t>
            </a:r>
            <a:endParaRPr/>
          </a:p>
        </p:txBody>
      </p:sp>
      <p:cxnSp>
        <p:nvCxnSpPr>
          <p:cNvPr id="159" name="Google Shape;159;p23"/>
          <p:cNvCxnSpPr/>
          <p:nvPr/>
        </p:nvCxnSpPr>
        <p:spPr>
          <a:xfrm flipH="1">
            <a:off x="2809876" y="1417638"/>
            <a:ext cx="15875" cy="4979987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med" len="med"/>
            <a:tailEnd type="stealth" w="med" len="med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</p:cxnSp>
      <p:sp>
        <p:nvSpPr>
          <p:cNvPr id="160" name="Google Shape;160;p23"/>
          <p:cNvSpPr txBox="1"/>
          <p:nvPr/>
        </p:nvSpPr>
        <p:spPr>
          <a:xfrm>
            <a:off x="2500297" y="1347775"/>
            <a:ext cx="2838900" cy="9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buClr>
                <a:schemeClr val="dk1"/>
              </a:buClr>
              <a:buSzPts val="1800"/>
              <a:buFont typeface="Courier New"/>
              <a:buAutoNum type="arabicPlain"/>
            </a:pPr>
            <a:r>
              <a:rPr lang="en-US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#!/bin/bash</a:t>
            </a:r>
            <a:endParaRPr/>
          </a:p>
          <a:p>
            <a:pPr marL="342900" indent="-228600">
              <a:buClr>
                <a:schemeClr val="dk1"/>
              </a:buClr>
              <a:buSzPts val="1800"/>
            </a:pP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/>
          <p:cNvSpPr txBox="1">
            <a:spLocks noGrp="1"/>
          </p:cNvSpPr>
          <p:nvPr>
            <p:ph type="title"/>
          </p:nvPr>
        </p:nvSpPr>
        <p:spPr>
          <a:xfrm>
            <a:off x="1981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Anatomy of a script</a:t>
            </a:r>
            <a:endParaRPr/>
          </a:p>
        </p:txBody>
      </p:sp>
      <p:cxnSp>
        <p:nvCxnSpPr>
          <p:cNvPr id="166" name="Google Shape;166;p24"/>
          <p:cNvCxnSpPr/>
          <p:nvPr/>
        </p:nvCxnSpPr>
        <p:spPr>
          <a:xfrm flipH="1">
            <a:off x="2809876" y="1417638"/>
            <a:ext cx="15875" cy="4979987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med" len="med"/>
            <a:tailEnd type="stealth" w="med" len="med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</p:cxnSp>
      <p:cxnSp>
        <p:nvCxnSpPr>
          <p:cNvPr id="167" name="Google Shape;167;p24"/>
          <p:cNvCxnSpPr/>
          <p:nvPr/>
        </p:nvCxnSpPr>
        <p:spPr>
          <a:xfrm rot="10800000">
            <a:off x="4278313" y="1717676"/>
            <a:ext cx="808037" cy="871537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stealth" w="med" len="med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</p:cxnSp>
      <p:sp>
        <p:nvSpPr>
          <p:cNvPr id="168" name="Google Shape;168;p24"/>
          <p:cNvSpPr txBox="1"/>
          <p:nvPr/>
        </p:nvSpPr>
        <p:spPr>
          <a:xfrm>
            <a:off x="4278312" y="2589212"/>
            <a:ext cx="6088062" cy="22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chemeClr val="dk1"/>
              </a:buClr>
              <a:buSzPts val="2800"/>
            </a:pPr>
            <a:r>
              <a:rPr lang="en-US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“shebang” line:</a:t>
            </a:r>
            <a:endParaRPr/>
          </a:p>
          <a:p>
            <a:pPr>
              <a:buClr>
                <a:schemeClr val="dk1"/>
              </a:buClr>
              <a:buSzPts val="2800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tells the shell the absolute </a:t>
            </a:r>
            <a:endParaRPr/>
          </a:p>
          <a:p>
            <a:pPr>
              <a:buClr>
                <a:schemeClr val="dk1"/>
              </a:buClr>
              <a:buSzPts val="2800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path to the interpreted language binary</a:t>
            </a:r>
            <a:endParaRPr/>
          </a:p>
          <a:p>
            <a:pPr>
              <a:buClr>
                <a:schemeClr val="dk1"/>
              </a:buClr>
              <a:buSzPts val="2800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that should be utilized to read the script</a:t>
            </a:r>
            <a:endParaRPr/>
          </a:p>
          <a:p>
            <a:pPr>
              <a:buClr>
                <a:schemeClr val="dk1"/>
              </a:buClr>
              <a:buSzPts val="2800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execute its actions</a:t>
            </a:r>
            <a:endParaRPr/>
          </a:p>
        </p:txBody>
      </p:sp>
      <p:sp>
        <p:nvSpPr>
          <p:cNvPr id="169" name="Google Shape;169;p24"/>
          <p:cNvSpPr txBox="1"/>
          <p:nvPr/>
        </p:nvSpPr>
        <p:spPr>
          <a:xfrm>
            <a:off x="2500297" y="1347775"/>
            <a:ext cx="2838900" cy="9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buClr>
                <a:schemeClr val="dk1"/>
              </a:buClr>
              <a:buSzPts val="1800"/>
              <a:buFont typeface="Courier New"/>
              <a:buAutoNum type="arabicPlain"/>
            </a:pPr>
            <a:r>
              <a:rPr lang="en-US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#!/bin/bash</a:t>
            </a:r>
            <a:endParaRPr/>
          </a:p>
          <a:p>
            <a:pPr marL="342900" indent="-228600">
              <a:buClr>
                <a:schemeClr val="dk1"/>
              </a:buClr>
              <a:buSzPts val="1800"/>
            </a:pP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5"/>
          <p:cNvSpPr txBox="1">
            <a:spLocks noGrp="1"/>
          </p:cNvSpPr>
          <p:nvPr>
            <p:ph type="title"/>
          </p:nvPr>
        </p:nvSpPr>
        <p:spPr>
          <a:xfrm>
            <a:off x="1981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Anatomy of a script</a:t>
            </a:r>
            <a:endParaRPr/>
          </a:p>
        </p:txBody>
      </p:sp>
      <p:cxnSp>
        <p:nvCxnSpPr>
          <p:cNvPr id="175" name="Google Shape;175;p25"/>
          <p:cNvCxnSpPr/>
          <p:nvPr/>
        </p:nvCxnSpPr>
        <p:spPr>
          <a:xfrm flipH="1">
            <a:off x="2809876" y="1417638"/>
            <a:ext cx="15875" cy="4979987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med" len="med"/>
            <a:tailEnd type="stealth" w="med" len="med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</p:cxnSp>
      <p:sp>
        <p:nvSpPr>
          <p:cNvPr id="176" name="Google Shape;176;p25"/>
          <p:cNvSpPr txBox="1"/>
          <p:nvPr/>
        </p:nvSpPr>
        <p:spPr>
          <a:xfrm>
            <a:off x="2500297" y="1347775"/>
            <a:ext cx="3358636" cy="9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buClr>
                <a:schemeClr val="dk1"/>
              </a:buClr>
              <a:buSzPts val="1800"/>
              <a:buFont typeface="Courier New"/>
              <a:buAutoNum type="arabicPlain"/>
            </a:pPr>
            <a:r>
              <a:rPr lang="en-US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#!/bin/bash</a:t>
            </a:r>
            <a:endParaRPr dirty="0"/>
          </a:p>
          <a:p>
            <a:pPr marL="342900" indent="-228600">
              <a:buClr>
                <a:schemeClr val="dk1"/>
              </a:buClr>
              <a:buSzPts val="1800"/>
            </a:pPr>
            <a:endParaRPr b="1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42900" indent="-342900">
              <a:buClr>
                <a:schemeClr val="dk1"/>
              </a:buClr>
              <a:buSzPts val="1800"/>
              <a:buFont typeface="Courier New"/>
              <a:buAutoNum type="arabicPlain"/>
            </a:pPr>
            <a:r>
              <a:rPr lang="en-US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my_name</a:t>
            </a:r>
            <a:r>
              <a:rPr lang="en-US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drgarrison</a:t>
            </a:r>
            <a:endParaRPr dirty="0"/>
          </a:p>
        </p:txBody>
      </p:sp>
      <p:cxnSp>
        <p:nvCxnSpPr>
          <p:cNvPr id="177" name="Google Shape;177;p25"/>
          <p:cNvCxnSpPr/>
          <p:nvPr/>
        </p:nvCxnSpPr>
        <p:spPr>
          <a:xfrm rot="10800000">
            <a:off x="4435476" y="2282826"/>
            <a:ext cx="642937" cy="757237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stealth" w="med" len="med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</p:cxnSp>
      <p:sp>
        <p:nvSpPr>
          <p:cNvPr id="178" name="Google Shape;178;p25"/>
          <p:cNvSpPr txBox="1"/>
          <p:nvPr/>
        </p:nvSpPr>
        <p:spPr>
          <a:xfrm>
            <a:off x="3529012" y="3155950"/>
            <a:ext cx="6818312" cy="18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chemeClr val="dk1"/>
              </a:buClr>
              <a:buSzPts val="2800"/>
            </a:pPr>
            <a:r>
              <a:rPr lang="en-US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Declare variable(s) early since you want them</a:t>
            </a:r>
            <a:endParaRPr/>
          </a:p>
          <a:p>
            <a:pPr>
              <a:buClr>
                <a:schemeClr val="dk1"/>
              </a:buClr>
              <a:buSzPts val="2800"/>
            </a:pPr>
            <a:r>
              <a:rPr lang="en-US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prior to being calling, same for other</a:t>
            </a:r>
            <a:endParaRPr/>
          </a:p>
          <a:p>
            <a:pPr>
              <a:buClr>
                <a:schemeClr val="dk1"/>
              </a:buClr>
              <a:buSzPts val="2800"/>
            </a:pPr>
            <a:r>
              <a:rPr lang="en-US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essential commands </a:t>
            </a:r>
            <a:endParaRPr/>
          </a:p>
          <a:p>
            <a:pPr>
              <a:buClr>
                <a:schemeClr val="dk1"/>
              </a:buClr>
              <a:buSzPts val="2800"/>
            </a:pPr>
            <a:r>
              <a:rPr lang="en-US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(i.e., </a:t>
            </a:r>
            <a:r>
              <a:rPr lang="en-US" sz="2800" b="1" u="sng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module load XXXXX</a:t>
            </a:r>
            <a:r>
              <a:rPr lang="en-US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6"/>
          <p:cNvSpPr txBox="1">
            <a:spLocks noGrp="1"/>
          </p:cNvSpPr>
          <p:nvPr>
            <p:ph type="title"/>
          </p:nvPr>
        </p:nvSpPr>
        <p:spPr>
          <a:xfrm>
            <a:off x="1981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 of variables</a:t>
            </a:r>
            <a:endParaRPr/>
          </a:p>
        </p:txBody>
      </p:sp>
      <p:sp>
        <p:nvSpPr>
          <p:cNvPr id="184" name="Google Shape;184;p26"/>
          <p:cNvSpPr txBox="1">
            <a:spLocks noGrp="1"/>
          </p:cNvSpPr>
          <p:nvPr>
            <p:ph type="body" idx="1"/>
          </p:nvPr>
        </p:nvSpPr>
        <p:spPr>
          <a:xfrm>
            <a:off x="1981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Environmental variables</a:t>
            </a:r>
            <a:endParaRPr/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Named object containing data used by one or more applications</a:t>
            </a:r>
            <a:endParaRPr/>
          </a:p>
          <a:p>
            <a:pPr lvl="2">
              <a:lnSpc>
                <a:spcPct val="100000"/>
              </a:lnSpc>
              <a:spcBef>
                <a:spcPts val="480"/>
              </a:spcBef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$HOME,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$PATH,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$SHELL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etc.</a:t>
            </a:r>
            <a:endParaRPr/>
          </a:p>
          <a:p>
            <a:pPr lvl="2">
              <a:lnSpc>
                <a:spcPct val="100000"/>
              </a:lnSpc>
              <a:spcBef>
                <a:spcPts val="480"/>
              </a:spcBef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printenv</a:t>
            </a:r>
            <a:endParaRPr/>
          </a:p>
          <a:p>
            <a:pPr lvl="2" indent="-76200">
              <a:lnSpc>
                <a:spcPct val="100000"/>
              </a:lnSpc>
              <a:spcBef>
                <a:spcPts val="480"/>
              </a:spcBef>
              <a:buClr>
                <a:schemeClr val="dk1"/>
              </a:buClr>
              <a:buSzPts val="2400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User-set variables</a:t>
            </a:r>
            <a:endParaRPr/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be anything, but best to not use names associated with env variables</a:t>
            </a:r>
            <a:endParaRPr/>
          </a:p>
          <a:p>
            <a:pPr lvl="2">
              <a:lnSpc>
                <a:spcPct val="100000"/>
              </a:lnSpc>
              <a:spcBef>
                <a:spcPts val="480"/>
              </a:spcBef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Convention is typically use UPPER CASE letters</a:t>
            </a:r>
            <a:endParaRPr/>
          </a:p>
        </p:txBody>
      </p:sp>
      <p:sp>
        <p:nvSpPr>
          <p:cNvPr id="185" name="Google Shape;185;p26"/>
          <p:cNvSpPr txBox="1"/>
          <p:nvPr/>
        </p:nvSpPr>
        <p:spPr>
          <a:xfrm>
            <a:off x="1804987" y="3925887"/>
            <a:ext cx="8405812" cy="245745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7"/>
          <p:cNvSpPr txBox="1">
            <a:spLocks noGrp="1"/>
          </p:cNvSpPr>
          <p:nvPr>
            <p:ph type="title"/>
          </p:nvPr>
        </p:nvSpPr>
        <p:spPr>
          <a:xfrm>
            <a:off x="1981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 of variables</a:t>
            </a:r>
            <a:endParaRPr/>
          </a:p>
        </p:txBody>
      </p:sp>
      <p:sp>
        <p:nvSpPr>
          <p:cNvPr id="191" name="Google Shape;191;p27"/>
          <p:cNvSpPr txBox="1">
            <a:spLocks noGrp="1"/>
          </p:cNvSpPr>
          <p:nvPr>
            <p:ph type="body" idx="1"/>
          </p:nvPr>
        </p:nvSpPr>
        <p:spPr>
          <a:xfrm>
            <a:off x="1981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Environmental variables</a:t>
            </a:r>
            <a:endParaRPr/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Named object containing data used by one or more applications</a:t>
            </a:r>
            <a:endParaRPr/>
          </a:p>
          <a:p>
            <a:pPr lvl="2">
              <a:lnSpc>
                <a:spcPct val="100000"/>
              </a:lnSpc>
              <a:spcBef>
                <a:spcPts val="480"/>
              </a:spcBef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$HOME, $PATH, $SHELL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etc.</a:t>
            </a:r>
            <a:endParaRPr/>
          </a:p>
          <a:p>
            <a:pPr lvl="2">
              <a:lnSpc>
                <a:spcPct val="100000"/>
              </a:lnSpc>
              <a:spcBef>
                <a:spcPts val="480"/>
              </a:spcBef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printenv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User-set variables</a:t>
            </a:r>
            <a:endParaRPr/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be anything, but DO NOT use names associated with </a:t>
            </a:r>
            <a:r>
              <a:rPr lang="en-US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env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variables</a:t>
            </a:r>
            <a:endParaRPr/>
          </a:p>
          <a:p>
            <a:pPr lvl="2">
              <a:lnSpc>
                <a:spcPct val="100000"/>
              </a:lnSpc>
              <a:spcBef>
                <a:spcPts val="480"/>
              </a:spcBef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do you think this is the case?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8"/>
          <p:cNvSpPr txBox="1">
            <a:spLocks noGrp="1"/>
          </p:cNvSpPr>
          <p:nvPr>
            <p:ph type="title"/>
          </p:nvPr>
        </p:nvSpPr>
        <p:spPr>
          <a:xfrm>
            <a:off x="1981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“Rules” when creating variables</a:t>
            </a:r>
            <a:endParaRPr/>
          </a:p>
        </p:txBody>
      </p:sp>
      <p:sp>
        <p:nvSpPr>
          <p:cNvPr id="197" name="Google Shape;197;p28"/>
          <p:cNvSpPr txBox="1">
            <a:spLocks noGrp="1"/>
          </p:cNvSpPr>
          <p:nvPr>
            <p:ph type="body" idx="1"/>
          </p:nvPr>
        </p:nvSpPr>
        <p:spPr>
          <a:xfrm>
            <a:off x="1981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Avoid using all UPPERCASE</a:t>
            </a:r>
            <a:endParaRPr/>
          </a:p>
          <a:p>
            <a:pPr lvl="2">
              <a:lnSpc>
                <a:spcPct val="100000"/>
              </a:lnSpc>
              <a:spcBef>
                <a:spcPts val="480"/>
              </a:spcBef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HOME, PATH, SHELL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etc.</a:t>
            </a:r>
            <a:endParaRPr/>
          </a:p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Never start variables with numbers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(i.e., 1, 2, etc)</a:t>
            </a:r>
            <a:endParaRPr/>
          </a:p>
          <a:p>
            <a:pPr lvl="2">
              <a:lnSpc>
                <a:spcPct val="100000"/>
              </a:lnSpc>
              <a:spcBef>
                <a:spcPts val="480"/>
              </a:spcBef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onetime vs. 1time</a:t>
            </a:r>
            <a:endParaRPr/>
          </a:p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Avoid special characters other than </a:t>
            </a:r>
            <a:r>
              <a:rPr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_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2">
              <a:lnSpc>
                <a:spcPct val="100000"/>
              </a:lnSpc>
              <a:spcBef>
                <a:spcPts val="480"/>
              </a:spcBef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$, @, %, &amp;, *</a:t>
            </a:r>
            <a:endParaRPr/>
          </a:p>
          <a:p>
            <a:pPr lvl="2">
              <a:lnSpc>
                <a:spcPct val="100000"/>
              </a:lnSpc>
              <a:spcBef>
                <a:spcPts val="480"/>
              </a:spcBef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Special characters have language-specific meanings</a:t>
            </a:r>
            <a:endParaRPr/>
          </a:p>
          <a:p>
            <a:pPr marL="342900" indent="-215900">
              <a:lnSpc>
                <a:spcPct val="100000"/>
              </a:lnSpc>
              <a:spcBef>
                <a:spcPts val="400"/>
              </a:spcBef>
              <a:buClr>
                <a:schemeClr val="dk1"/>
              </a:buClr>
              <a:buSzPts val="2000"/>
              <a:buNone/>
            </a:pP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https://google.github.io/styleguide/shell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9"/>
          <p:cNvSpPr txBox="1">
            <a:spLocks noGrp="1"/>
          </p:cNvSpPr>
          <p:nvPr>
            <p:ph type="title"/>
          </p:nvPr>
        </p:nvSpPr>
        <p:spPr>
          <a:xfrm>
            <a:off x="1981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Creating a variable</a:t>
            </a:r>
            <a:endParaRPr/>
          </a:p>
        </p:txBody>
      </p:sp>
      <p:sp>
        <p:nvSpPr>
          <p:cNvPr id="203" name="Google Shape;203;p29"/>
          <p:cNvSpPr txBox="1">
            <a:spLocks noGrp="1"/>
          </p:cNvSpPr>
          <p:nvPr>
            <p:ph type="body" idx="1"/>
          </p:nvPr>
        </p:nvSpPr>
        <p:spPr>
          <a:xfrm>
            <a:off x="1787525" y="1600200"/>
            <a:ext cx="8659812" cy="452596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directly (i.e., </a:t>
            </a:r>
            <a:r>
              <a:rPr lang="en-US"/>
              <a:t>static variable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project</a:t>
            </a:r>
            <a:r>
              <a:rPr lang="en-US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_dir=/blah/blah/blah</a:t>
            </a:r>
            <a:endParaRPr/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cd $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project</a:t>
            </a:r>
            <a:r>
              <a:rPr lang="en-US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_dir</a:t>
            </a:r>
            <a:endParaRPr/>
          </a:p>
          <a:p>
            <a:pPr marL="742950" lvl="1" indent="-107950"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dynamically</a:t>
            </a:r>
            <a:endParaRPr/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MTHYR=`date | awk '{print ($2$6)}'`</a:t>
            </a:r>
            <a:endParaRPr/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filename_${MTHYR}.tab</a:t>
            </a:r>
            <a:endParaRPr/>
          </a:p>
        </p:txBody>
      </p:sp>
      <p:sp>
        <p:nvSpPr>
          <p:cNvPr id="204" name="Google Shape;204;p29"/>
          <p:cNvSpPr txBox="1"/>
          <p:nvPr/>
        </p:nvSpPr>
        <p:spPr>
          <a:xfrm>
            <a:off x="1809750" y="3394076"/>
            <a:ext cx="8636000" cy="3317875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0"/>
          <p:cNvSpPr txBox="1">
            <a:spLocks noGrp="1"/>
          </p:cNvSpPr>
          <p:nvPr>
            <p:ph type="title"/>
          </p:nvPr>
        </p:nvSpPr>
        <p:spPr>
          <a:xfrm>
            <a:off x="1981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Creating a variable</a:t>
            </a:r>
            <a:endParaRPr/>
          </a:p>
        </p:txBody>
      </p:sp>
      <p:sp>
        <p:nvSpPr>
          <p:cNvPr id="210" name="Google Shape;210;p30"/>
          <p:cNvSpPr txBox="1">
            <a:spLocks noGrp="1"/>
          </p:cNvSpPr>
          <p:nvPr>
            <p:ph type="body" idx="1"/>
          </p:nvPr>
        </p:nvSpPr>
        <p:spPr>
          <a:xfrm>
            <a:off x="1787525" y="1600200"/>
            <a:ext cx="8659812" cy="452596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directly (i.e., </a:t>
            </a:r>
            <a:r>
              <a:rPr lang="en-US"/>
              <a:t>static variable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project</a:t>
            </a:r>
            <a:r>
              <a:rPr lang="en-US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_dir=/blah/blah/blah</a:t>
            </a:r>
            <a:endParaRPr/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cd $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project</a:t>
            </a:r>
            <a:r>
              <a:rPr lang="en-US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_dir</a:t>
            </a:r>
            <a:endParaRPr/>
          </a:p>
          <a:p>
            <a:pPr marL="742950" lvl="1" indent="-107950"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Dynamically set</a:t>
            </a:r>
            <a:endParaRPr/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mthyr=`date | awk '{print ($2$6)}'`</a:t>
            </a:r>
            <a:endParaRPr/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echo</a:t>
            </a:r>
            <a:r>
              <a:rPr lang="en-US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filename_${mthyr}.t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xt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1"/>
          <p:cNvSpPr txBox="1">
            <a:spLocks noGrp="1"/>
          </p:cNvSpPr>
          <p:nvPr>
            <p:ph type="title"/>
          </p:nvPr>
        </p:nvSpPr>
        <p:spPr>
          <a:xfrm>
            <a:off x="1981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Creating a variable</a:t>
            </a:r>
            <a:endParaRPr/>
          </a:p>
        </p:txBody>
      </p:sp>
      <p:sp>
        <p:nvSpPr>
          <p:cNvPr id="216" name="Google Shape;216;p31"/>
          <p:cNvSpPr txBox="1">
            <a:spLocks noGrp="1"/>
          </p:cNvSpPr>
          <p:nvPr>
            <p:ph type="body" idx="1"/>
          </p:nvPr>
        </p:nvSpPr>
        <p:spPr>
          <a:xfrm>
            <a:off x="1787525" y="1600200"/>
            <a:ext cx="8659812" cy="452596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directly (i.e., </a:t>
            </a:r>
            <a:r>
              <a:rPr lang="en-US"/>
              <a:t>static variable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project</a:t>
            </a:r>
            <a:r>
              <a:rPr lang="en-US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_dir=/blah/blah/blah</a:t>
            </a:r>
            <a:endParaRPr/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cd </a:t>
            </a:r>
            <a:r>
              <a:rPr lang="en-US" sz="28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project</a:t>
            </a:r>
            <a:r>
              <a:rPr lang="en-US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_dir</a:t>
            </a:r>
            <a:endParaRPr/>
          </a:p>
          <a:p>
            <a:pPr marL="742950" lvl="1" indent="-107950"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Dynamically set</a:t>
            </a:r>
            <a:endParaRPr/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mthyr=`date | awk '{print ($2$6)}'`</a:t>
            </a:r>
            <a:endParaRPr/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echo</a:t>
            </a:r>
            <a:r>
              <a:rPr lang="en-US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filename_</a:t>
            </a:r>
            <a:r>
              <a:rPr lang="en-US" sz="28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lang="en-US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{mthyr}.t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xt</a:t>
            </a:r>
            <a:endParaRPr/>
          </a:p>
          <a:p>
            <a:pPr marL="742950" lvl="1" indent="-107950"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  <a:buNone/>
            </a:pPr>
            <a:endParaRPr sz="2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indent="0">
              <a:lnSpc>
                <a:spcPct val="100000"/>
              </a:lnSpc>
              <a:spcBef>
                <a:spcPts val="560"/>
              </a:spcBef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2"/>
          <p:cNvSpPr txBox="1">
            <a:spLocks noGrp="1"/>
          </p:cNvSpPr>
          <p:nvPr>
            <p:ph type="title"/>
          </p:nvPr>
        </p:nvSpPr>
        <p:spPr>
          <a:xfrm>
            <a:off x="1981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Anatomy of a script</a:t>
            </a:r>
            <a:endParaRPr/>
          </a:p>
        </p:txBody>
      </p:sp>
      <p:cxnSp>
        <p:nvCxnSpPr>
          <p:cNvPr id="222" name="Google Shape;222;p32"/>
          <p:cNvCxnSpPr/>
          <p:nvPr/>
        </p:nvCxnSpPr>
        <p:spPr>
          <a:xfrm flipH="1">
            <a:off x="2809876" y="1417638"/>
            <a:ext cx="15875" cy="4979987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med" len="med"/>
            <a:tailEnd type="stealth" w="med" len="med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</p:cxnSp>
      <p:cxnSp>
        <p:nvCxnSpPr>
          <p:cNvPr id="223" name="Google Shape;223;p32"/>
          <p:cNvCxnSpPr/>
          <p:nvPr/>
        </p:nvCxnSpPr>
        <p:spPr>
          <a:xfrm rot="10800000">
            <a:off x="3376612" y="2771776"/>
            <a:ext cx="1701800" cy="1754187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stealth" w="med" len="med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</p:cxnSp>
      <p:sp>
        <p:nvSpPr>
          <p:cNvPr id="224" name="Google Shape;224;p32"/>
          <p:cNvSpPr txBox="1"/>
          <p:nvPr/>
        </p:nvSpPr>
        <p:spPr>
          <a:xfrm>
            <a:off x="3529013" y="4640262"/>
            <a:ext cx="7286625" cy="1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chemeClr val="dk1"/>
              </a:buClr>
              <a:buSzPts val="2800"/>
            </a:pPr>
            <a:r>
              <a:rPr lang="en-US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Sequential command calls to be executed:</a:t>
            </a:r>
            <a:endParaRPr/>
          </a:p>
          <a:p>
            <a:pPr>
              <a:buClr>
                <a:schemeClr val="dk1"/>
              </a:buClr>
              <a:buSzPts val="2800"/>
            </a:pPr>
            <a:r>
              <a:rPr lang="en-US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nearly anything you’ve been running line-by-line</a:t>
            </a:r>
            <a:endParaRPr/>
          </a:p>
          <a:p>
            <a:pPr>
              <a:buClr>
                <a:schemeClr val="dk1"/>
              </a:buClr>
              <a:buSzPts val="2800"/>
            </a:pPr>
            <a:r>
              <a:rPr lang="en-US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be added as-is</a:t>
            </a:r>
            <a:endParaRPr/>
          </a:p>
        </p:txBody>
      </p:sp>
      <p:sp>
        <p:nvSpPr>
          <p:cNvPr id="225" name="Google Shape;225;p32"/>
          <p:cNvSpPr txBox="1"/>
          <p:nvPr/>
        </p:nvSpPr>
        <p:spPr>
          <a:xfrm>
            <a:off x="2500291" y="2401875"/>
            <a:ext cx="1621800" cy="4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chemeClr val="dk1"/>
              </a:buClr>
              <a:buSzPts val="1800"/>
            </a:pPr>
            <a:r>
              <a:rPr lang="en-US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3 ...</a:t>
            </a:r>
            <a:endParaRPr/>
          </a:p>
        </p:txBody>
      </p:sp>
      <p:sp>
        <p:nvSpPr>
          <p:cNvPr id="226" name="Google Shape;226;p32"/>
          <p:cNvSpPr txBox="1"/>
          <p:nvPr/>
        </p:nvSpPr>
        <p:spPr>
          <a:xfrm>
            <a:off x="2500297" y="1347775"/>
            <a:ext cx="3358636" cy="9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buClr>
                <a:schemeClr val="dk1"/>
              </a:buClr>
              <a:buSzPts val="1800"/>
              <a:buFont typeface="Courier New"/>
              <a:buAutoNum type="arabicPlain"/>
            </a:pPr>
            <a:r>
              <a:rPr lang="en-US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#!/bin/bash</a:t>
            </a:r>
            <a:endParaRPr dirty="0"/>
          </a:p>
          <a:p>
            <a:pPr marL="342900" indent="-228600">
              <a:buClr>
                <a:schemeClr val="dk1"/>
              </a:buClr>
              <a:buSzPts val="1800"/>
            </a:pPr>
            <a:endParaRPr b="1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42900" indent="-342900">
              <a:buClr>
                <a:schemeClr val="dk1"/>
              </a:buClr>
              <a:buSzPts val="1800"/>
              <a:buFont typeface="Courier New"/>
              <a:buAutoNum type="arabicPlain"/>
            </a:pPr>
            <a:r>
              <a:rPr lang="en-US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my_name</a:t>
            </a:r>
            <a:r>
              <a:rPr lang="en-US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drgarrison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3"/>
          <p:cNvSpPr txBox="1">
            <a:spLocks noGrp="1"/>
          </p:cNvSpPr>
          <p:nvPr>
            <p:ph type="title"/>
          </p:nvPr>
        </p:nvSpPr>
        <p:spPr>
          <a:xfrm>
            <a:off x="1981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Anatomy of a script</a:t>
            </a:r>
            <a:endParaRPr/>
          </a:p>
        </p:txBody>
      </p:sp>
      <p:cxnSp>
        <p:nvCxnSpPr>
          <p:cNvPr id="232" name="Google Shape;232;p33"/>
          <p:cNvCxnSpPr/>
          <p:nvPr/>
        </p:nvCxnSpPr>
        <p:spPr>
          <a:xfrm flipH="1">
            <a:off x="2809876" y="1417638"/>
            <a:ext cx="15875" cy="4979987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med" len="med"/>
            <a:tailEnd type="stealth" w="med" len="med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</p:cxnSp>
      <p:sp>
        <p:nvSpPr>
          <p:cNvPr id="233" name="Google Shape;233;p33"/>
          <p:cNvSpPr txBox="1"/>
          <p:nvPr/>
        </p:nvSpPr>
        <p:spPr>
          <a:xfrm>
            <a:off x="2500293" y="2401875"/>
            <a:ext cx="1469700" cy="4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chemeClr val="dk1"/>
              </a:buClr>
              <a:buSzPts val="1800"/>
            </a:pPr>
            <a:r>
              <a:rPr lang="en-US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3 ...</a:t>
            </a:r>
            <a:endParaRPr/>
          </a:p>
        </p:txBody>
      </p:sp>
      <p:sp>
        <p:nvSpPr>
          <p:cNvPr id="234" name="Google Shape;234;p33"/>
          <p:cNvSpPr txBox="1"/>
          <p:nvPr/>
        </p:nvSpPr>
        <p:spPr>
          <a:xfrm>
            <a:off x="2503488" y="3429001"/>
            <a:ext cx="6002337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chemeClr val="dk1"/>
              </a:buClr>
              <a:buSzPts val="1800"/>
            </a:pPr>
            <a:r>
              <a:rPr lang="en-US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4 # comments to someone reading the script</a:t>
            </a:r>
            <a:endParaRPr/>
          </a:p>
        </p:txBody>
      </p:sp>
      <p:sp>
        <p:nvSpPr>
          <p:cNvPr id="235" name="Google Shape;235;p33"/>
          <p:cNvSpPr txBox="1"/>
          <p:nvPr/>
        </p:nvSpPr>
        <p:spPr>
          <a:xfrm>
            <a:off x="2500297" y="1347775"/>
            <a:ext cx="3426370" cy="9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buClr>
                <a:schemeClr val="dk1"/>
              </a:buClr>
              <a:buSzPts val="1800"/>
              <a:buFont typeface="Courier New"/>
              <a:buAutoNum type="arabicPlain"/>
            </a:pPr>
            <a:r>
              <a:rPr lang="en-US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#!/bin/bash</a:t>
            </a:r>
            <a:endParaRPr dirty="0"/>
          </a:p>
          <a:p>
            <a:pPr marL="342900" indent="-228600">
              <a:buClr>
                <a:schemeClr val="dk1"/>
              </a:buClr>
              <a:buSzPts val="1800"/>
            </a:pPr>
            <a:endParaRPr b="1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42900" indent="-342900">
              <a:buClr>
                <a:schemeClr val="dk1"/>
              </a:buClr>
              <a:buSzPts val="1800"/>
              <a:buFont typeface="Courier New"/>
              <a:buAutoNum type="arabicPlain"/>
            </a:pPr>
            <a:r>
              <a:rPr lang="en-US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my_name</a:t>
            </a:r>
            <a:r>
              <a:rPr lang="en-US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drgarrison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4"/>
          <p:cNvSpPr txBox="1">
            <a:spLocks noGrp="1"/>
          </p:cNvSpPr>
          <p:nvPr>
            <p:ph type="title"/>
          </p:nvPr>
        </p:nvSpPr>
        <p:spPr>
          <a:xfrm>
            <a:off x="1981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script - time.sh</a:t>
            </a:r>
            <a:endParaRPr/>
          </a:p>
        </p:txBody>
      </p:sp>
      <p:cxnSp>
        <p:nvCxnSpPr>
          <p:cNvPr id="241" name="Google Shape;241;p34"/>
          <p:cNvCxnSpPr/>
          <p:nvPr/>
        </p:nvCxnSpPr>
        <p:spPr>
          <a:xfrm flipH="1">
            <a:off x="2809876" y="1384300"/>
            <a:ext cx="15875" cy="2474912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med" len="med"/>
            <a:tailEnd type="stealth" w="med" len="med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</p:cxnSp>
      <p:sp>
        <p:nvSpPr>
          <p:cNvPr id="242" name="Google Shape;242;p34"/>
          <p:cNvSpPr txBox="1"/>
          <p:nvPr/>
        </p:nvSpPr>
        <p:spPr>
          <a:xfrm>
            <a:off x="2500312" y="1347788"/>
            <a:ext cx="4667250" cy="92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buClr>
                <a:schemeClr val="dk1"/>
              </a:buClr>
              <a:buSzPts val="1800"/>
              <a:buFont typeface="Courier New"/>
              <a:buAutoNum type="arabicPlain"/>
            </a:pPr>
            <a:r>
              <a:rPr lang="en-US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#!/bin/bash</a:t>
            </a:r>
            <a:endParaRPr dirty="0"/>
          </a:p>
          <a:p>
            <a:pPr marL="342900" indent="-228600">
              <a:buClr>
                <a:schemeClr val="dk1"/>
              </a:buClr>
              <a:buSzPts val="1800"/>
            </a:pPr>
            <a:endParaRPr b="1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Clr>
                <a:schemeClr val="dk1"/>
              </a:buClr>
              <a:buSzPts val="1800"/>
            </a:pPr>
            <a:r>
              <a:rPr lang="en-US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time=`date | awk '{print $4}'`</a:t>
            </a:r>
            <a:endParaRPr dirty="0"/>
          </a:p>
        </p:txBody>
      </p:sp>
      <p:sp>
        <p:nvSpPr>
          <p:cNvPr id="243" name="Google Shape;243;p34"/>
          <p:cNvSpPr txBox="1"/>
          <p:nvPr/>
        </p:nvSpPr>
        <p:spPr>
          <a:xfrm>
            <a:off x="2500312" y="2401888"/>
            <a:ext cx="5561012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chemeClr val="dk1"/>
              </a:buClr>
              <a:buSzPts val="1800"/>
            </a:pPr>
            <a:r>
              <a:rPr lang="en-US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3 printf “The time is ${time}. Bye.\n”</a:t>
            </a:r>
            <a:endParaRPr/>
          </a:p>
        </p:txBody>
      </p:sp>
      <p:sp>
        <p:nvSpPr>
          <p:cNvPr id="244" name="Google Shape;244;p34"/>
          <p:cNvSpPr txBox="1"/>
          <p:nvPr/>
        </p:nvSpPr>
        <p:spPr>
          <a:xfrm>
            <a:off x="2503488" y="2917825"/>
            <a:ext cx="7388225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chemeClr val="dk1"/>
              </a:buClr>
              <a:buSzPts val="1800"/>
            </a:pPr>
            <a:r>
              <a:rPr lang="en-US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4 # Is this the real life? Is this just fantasy?</a:t>
            </a:r>
            <a:endParaRPr/>
          </a:p>
          <a:p>
            <a:pPr>
              <a:buClr>
                <a:schemeClr val="dk1"/>
              </a:buClr>
              <a:buSzPts val="1800"/>
            </a:pPr>
            <a:r>
              <a:rPr lang="en-US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5 # Caught in a landslide. No escape from reality.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5"/>
          <p:cNvSpPr txBox="1"/>
          <p:nvPr/>
        </p:nvSpPr>
        <p:spPr>
          <a:xfrm>
            <a:off x="2832101" y="4718050"/>
            <a:ext cx="6708775" cy="830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2400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Save script, </a:t>
            </a:r>
            <a:r>
              <a:rPr lang="en-US"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chmod +x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script and execute with:</a:t>
            </a:r>
            <a:endParaRPr/>
          </a:p>
          <a:p>
            <a:pPr algn="ctr">
              <a:buClr>
                <a:schemeClr val="dk1"/>
              </a:buClr>
              <a:buSzPts val="2400"/>
            </a:pPr>
            <a:r>
              <a:rPr lang="en-US"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./script_name.sh</a:t>
            </a:r>
            <a:endParaRPr/>
          </a:p>
        </p:txBody>
      </p:sp>
      <p:sp>
        <p:nvSpPr>
          <p:cNvPr id="250" name="Google Shape;250;p35"/>
          <p:cNvSpPr txBox="1">
            <a:spLocks noGrp="1"/>
          </p:cNvSpPr>
          <p:nvPr>
            <p:ph type="title"/>
          </p:nvPr>
        </p:nvSpPr>
        <p:spPr>
          <a:xfrm>
            <a:off x="1981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script - time.sh</a:t>
            </a:r>
            <a:endParaRPr/>
          </a:p>
        </p:txBody>
      </p:sp>
      <p:cxnSp>
        <p:nvCxnSpPr>
          <p:cNvPr id="251" name="Google Shape;251;p35"/>
          <p:cNvCxnSpPr/>
          <p:nvPr/>
        </p:nvCxnSpPr>
        <p:spPr>
          <a:xfrm flipH="1">
            <a:off x="2809850" y="1384300"/>
            <a:ext cx="15900" cy="24750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med" len="med"/>
            <a:tailEnd type="stealth" w="med" len="med"/>
          </a:ln>
          <a:effectLst>
            <a:outerShdw blurRad="63500" dist="20000" dir="5400000">
              <a:srgbClr val="808080">
                <a:alpha val="37650"/>
              </a:srgbClr>
            </a:outerShdw>
          </a:effectLst>
        </p:spPr>
      </p:cxnSp>
      <p:sp>
        <p:nvSpPr>
          <p:cNvPr id="252" name="Google Shape;252;p35"/>
          <p:cNvSpPr txBox="1"/>
          <p:nvPr/>
        </p:nvSpPr>
        <p:spPr>
          <a:xfrm>
            <a:off x="2500312" y="1347787"/>
            <a:ext cx="4667400" cy="9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buClr>
                <a:schemeClr val="dk1"/>
              </a:buClr>
              <a:buSzPts val="1800"/>
              <a:buFont typeface="Courier New"/>
              <a:buAutoNum type="arabicPlain"/>
            </a:pPr>
            <a:r>
              <a:rPr lang="en-US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#!/bin/bash</a:t>
            </a:r>
            <a:endParaRPr dirty="0"/>
          </a:p>
          <a:p>
            <a:pPr marL="342900" indent="-228600">
              <a:buClr>
                <a:schemeClr val="dk1"/>
              </a:buClr>
              <a:buSzPts val="1800"/>
            </a:pPr>
            <a:endParaRPr b="1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Clr>
                <a:schemeClr val="dk1"/>
              </a:buClr>
              <a:buSzPts val="1800"/>
            </a:pPr>
            <a:r>
              <a:rPr lang="en-US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time=`date | awk '{print $4}'`</a:t>
            </a:r>
            <a:endParaRPr dirty="0"/>
          </a:p>
        </p:txBody>
      </p:sp>
      <p:sp>
        <p:nvSpPr>
          <p:cNvPr id="253" name="Google Shape;253;p35"/>
          <p:cNvSpPr txBox="1"/>
          <p:nvPr/>
        </p:nvSpPr>
        <p:spPr>
          <a:xfrm>
            <a:off x="2500312" y="2401887"/>
            <a:ext cx="55611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chemeClr val="dk1"/>
              </a:buClr>
              <a:buSzPts val="1800"/>
            </a:pPr>
            <a:r>
              <a:rPr lang="en-US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3 printf “The time is ${time}. Bye.\n”</a:t>
            </a:r>
            <a:endParaRPr/>
          </a:p>
        </p:txBody>
      </p:sp>
      <p:sp>
        <p:nvSpPr>
          <p:cNvPr id="254" name="Google Shape;254;p35"/>
          <p:cNvSpPr txBox="1"/>
          <p:nvPr/>
        </p:nvSpPr>
        <p:spPr>
          <a:xfrm>
            <a:off x="2503487" y="2917825"/>
            <a:ext cx="73881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chemeClr val="dk1"/>
              </a:buClr>
              <a:buSzPts val="1800"/>
            </a:pPr>
            <a:r>
              <a:rPr lang="en-US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4 # Is this the real life? Is this just fantasy?</a:t>
            </a:r>
            <a:endParaRPr/>
          </a:p>
          <a:p>
            <a:pPr>
              <a:buClr>
                <a:schemeClr val="dk1"/>
              </a:buClr>
              <a:buSzPts val="1800"/>
            </a:pPr>
            <a:r>
              <a:rPr lang="en-US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5 # Caught in a landslide. No escape from reality.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6"/>
          <p:cNvSpPr txBox="1">
            <a:spLocks noGrp="1"/>
          </p:cNvSpPr>
          <p:nvPr>
            <p:ph type="title"/>
          </p:nvPr>
        </p:nvSpPr>
        <p:spPr>
          <a:xfrm>
            <a:off x="1666876" y="274637"/>
            <a:ext cx="8842375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4000"/>
            </a:pPr>
            <a:r>
              <a:rPr lang="en-US" sz="4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Bracket, ticks and quote use in scripts</a:t>
            </a:r>
            <a:endParaRPr/>
          </a:p>
        </p:txBody>
      </p:sp>
      <p:sp>
        <p:nvSpPr>
          <p:cNvPr id="260" name="Google Shape;260;p36"/>
          <p:cNvSpPr txBox="1">
            <a:spLocks noGrp="1"/>
          </p:cNvSpPr>
          <p:nvPr>
            <p:ph type="body" idx="1"/>
          </p:nvPr>
        </p:nvSpPr>
        <p:spPr>
          <a:xfrm>
            <a:off x="1981200" y="1600200"/>
            <a:ext cx="83319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time=`date | awk '{print $4}'`</a:t>
            </a:r>
            <a:endParaRPr sz="3000"/>
          </a:p>
          <a:p>
            <a:pPr marL="0" lvl="1" indent="0">
              <a:lnSpc>
                <a:spcPct val="100000"/>
              </a:lnSpc>
              <a:spcBef>
                <a:spcPts val="320"/>
              </a:spcBef>
              <a:buClr>
                <a:schemeClr val="dk1"/>
              </a:buClr>
              <a:buSzPts val="1600"/>
              <a:buNone/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chemeClr val="dk1"/>
              </a:buClr>
              <a:buSzPts val="3200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Above is a dynamic example since it will change at runtime.  In contrast, below is static:</a:t>
            </a:r>
            <a:endParaRPr/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  <a:buNone/>
            </a:pPr>
            <a:endParaRPr sz="2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indent="0">
              <a:lnSpc>
                <a:spcPct val="100000"/>
              </a:lnSpc>
              <a:spcBef>
                <a:spcPts val="440"/>
              </a:spcBef>
              <a:buNone/>
            </a:pPr>
            <a:r>
              <a:rPr lang="en-US" sz="2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trinity_home=</a:t>
            </a:r>
            <a:r>
              <a:rPr lang="en-US" sz="2300">
                <a:latin typeface="Courier New"/>
                <a:ea typeface="Courier New"/>
                <a:cs typeface="Courier New"/>
                <a:sym typeface="Courier New"/>
              </a:rPr>
              <a:t>'</a:t>
            </a:r>
            <a:r>
              <a:rPr lang="en-US" sz="2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/usr/local/genome/trinityrnaseq</a:t>
            </a:r>
            <a:r>
              <a:rPr lang="en-US" sz="2300">
                <a:latin typeface="Courier New"/>
                <a:ea typeface="Courier New"/>
                <a:cs typeface="Courier New"/>
                <a:sym typeface="Courier New"/>
              </a:rPr>
              <a:t>'</a:t>
            </a:r>
            <a:endParaRPr sz="23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7"/>
          <p:cNvSpPr txBox="1"/>
          <p:nvPr/>
        </p:nvSpPr>
        <p:spPr>
          <a:xfrm>
            <a:off x="1712912" y="5772151"/>
            <a:ext cx="8845550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chemeClr val="dk1"/>
              </a:buClr>
              <a:buSzPts val="4000"/>
            </a:pPr>
            <a:r>
              <a:rPr lang="en-US" sz="4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Are dynamic or static variables “better”? </a:t>
            </a:r>
            <a:endParaRPr/>
          </a:p>
        </p:txBody>
      </p:sp>
      <p:sp>
        <p:nvSpPr>
          <p:cNvPr id="266" name="Google Shape;266;p37"/>
          <p:cNvSpPr txBox="1">
            <a:spLocks noGrp="1"/>
          </p:cNvSpPr>
          <p:nvPr>
            <p:ph type="title"/>
          </p:nvPr>
        </p:nvSpPr>
        <p:spPr>
          <a:xfrm>
            <a:off x="1666875" y="274637"/>
            <a:ext cx="88425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4000"/>
            </a:pPr>
            <a:r>
              <a:rPr lang="en-US" sz="4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Bracket, ticks and quote use in scripts</a:t>
            </a:r>
            <a:endParaRPr/>
          </a:p>
        </p:txBody>
      </p:sp>
      <p:sp>
        <p:nvSpPr>
          <p:cNvPr id="267" name="Google Shape;267;p37"/>
          <p:cNvSpPr txBox="1">
            <a:spLocks noGrp="1"/>
          </p:cNvSpPr>
          <p:nvPr>
            <p:ph type="body" idx="1"/>
          </p:nvPr>
        </p:nvSpPr>
        <p:spPr>
          <a:xfrm>
            <a:off x="1981200" y="1600200"/>
            <a:ext cx="83319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time=`date | awk '{print $4}'`</a:t>
            </a:r>
            <a:endParaRPr sz="3000"/>
          </a:p>
          <a:p>
            <a:pPr marL="0" lvl="1" indent="0">
              <a:lnSpc>
                <a:spcPct val="100000"/>
              </a:lnSpc>
              <a:spcBef>
                <a:spcPts val="320"/>
              </a:spcBef>
              <a:buClr>
                <a:schemeClr val="dk1"/>
              </a:buClr>
              <a:buSzPts val="1600"/>
              <a:buNone/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chemeClr val="dk1"/>
              </a:buClr>
              <a:buSzPts val="3200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Above is a dynamic example since it will change at runtime.  In contrast, below is static:</a:t>
            </a:r>
            <a:endParaRPr/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  <a:buNone/>
            </a:pPr>
            <a:endParaRPr sz="2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indent="0">
              <a:lnSpc>
                <a:spcPct val="100000"/>
              </a:lnSpc>
              <a:spcBef>
                <a:spcPts val="440"/>
              </a:spcBef>
              <a:buNone/>
            </a:pPr>
            <a:r>
              <a:rPr lang="en-US" sz="2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trinity_home=</a:t>
            </a:r>
            <a:r>
              <a:rPr lang="en-US" sz="2300">
                <a:latin typeface="Courier New"/>
                <a:ea typeface="Courier New"/>
                <a:cs typeface="Courier New"/>
                <a:sym typeface="Courier New"/>
              </a:rPr>
              <a:t>'</a:t>
            </a:r>
            <a:r>
              <a:rPr lang="en-US" sz="2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/usr/local/genome/trinityrnaseq</a:t>
            </a:r>
            <a:r>
              <a:rPr lang="en-US" sz="2300">
                <a:latin typeface="Courier New"/>
                <a:ea typeface="Courier New"/>
                <a:cs typeface="Courier New"/>
                <a:sym typeface="Courier New"/>
              </a:rPr>
              <a:t>'</a:t>
            </a:r>
            <a:endParaRPr sz="23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8"/>
          <p:cNvSpPr txBox="1">
            <a:spLocks noGrp="1"/>
          </p:cNvSpPr>
          <p:nvPr>
            <p:ph type="title"/>
          </p:nvPr>
        </p:nvSpPr>
        <p:spPr>
          <a:xfrm>
            <a:off x="1666876" y="274637"/>
            <a:ext cx="8842375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4000"/>
            </a:pPr>
            <a:r>
              <a:rPr lang="en-US" sz="4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Bracket, ticks and quote use in scripts</a:t>
            </a:r>
            <a:endParaRPr/>
          </a:p>
        </p:txBody>
      </p:sp>
      <p:sp>
        <p:nvSpPr>
          <p:cNvPr id="273" name="Google Shape;273;p38"/>
          <p:cNvSpPr txBox="1">
            <a:spLocks noGrp="1"/>
          </p:cNvSpPr>
          <p:nvPr>
            <p:ph type="body" idx="1"/>
          </p:nvPr>
        </p:nvSpPr>
        <p:spPr>
          <a:xfrm>
            <a:off x="1981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printf “some text to screen”</a:t>
            </a:r>
            <a:endParaRPr sz="3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chemeClr val="dk1"/>
              </a:buClr>
              <a:buSzPts val="3200"/>
              <a:buNone/>
            </a:pPr>
            <a:endParaRPr sz="32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printf ‘some text to screen’</a:t>
            </a:r>
            <a:endParaRPr sz="3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chemeClr val="dk1"/>
              </a:buClr>
              <a:buSzPts val="3200"/>
              <a:buNone/>
            </a:pPr>
            <a:endParaRPr sz="3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chemeClr val="dk1"/>
              </a:buClr>
              <a:buSzPts val="3200"/>
              <a:buNone/>
            </a:pPr>
            <a:r>
              <a:rPr lang="en-US" sz="3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Either double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 single quote behave the same in the above context, but that’s not always the case…</a:t>
            </a:r>
            <a:endParaRPr/>
          </a:p>
        </p:txBody>
      </p:sp>
      <p:sp>
        <p:nvSpPr>
          <p:cNvPr id="274" name="Google Shape;274;p38"/>
          <p:cNvSpPr txBox="1"/>
          <p:nvPr/>
        </p:nvSpPr>
        <p:spPr>
          <a:xfrm>
            <a:off x="1666876" y="3760787"/>
            <a:ext cx="8543925" cy="264001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9"/>
          <p:cNvSpPr txBox="1">
            <a:spLocks noGrp="1"/>
          </p:cNvSpPr>
          <p:nvPr>
            <p:ph type="title"/>
          </p:nvPr>
        </p:nvSpPr>
        <p:spPr>
          <a:xfrm>
            <a:off x="1666876" y="274637"/>
            <a:ext cx="8842375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4000"/>
            </a:pPr>
            <a:r>
              <a:rPr lang="en-US" sz="4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Bracket, ticks and quote use in scripts</a:t>
            </a:r>
            <a:endParaRPr/>
          </a:p>
        </p:txBody>
      </p:sp>
      <p:sp>
        <p:nvSpPr>
          <p:cNvPr id="280" name="Google Shape;280;p39"/>
          <p:cNvSpPr txBox="1">
            <a:spLocks noGrp="1"/>
          </p:cNvSpPr>
          <p:nvPr>
            <p:ph type="body" idx="1"/>
          </p:nvPr>
        </p:nvSpPr>
        <p:spPr>
          <a:xfrm>
            <a:off x="1981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printf “some text to screen”</a:t>
            </a:r>
            <a:endParaRPr sz="3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chemeClr val="dk1"/>
              </a:buClr>
              <a:buSzPts val="3200"/>
              <a:buNone/>
            </a:pPr>
            <a:endParaRPr sz="3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printf ‘some text to screen’</a:t>
            </a:r>
            <a:endParaRPr sz="3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chemeClr val="dk1"/>
              </a:buClr>
              <a:buSzPts val="3200"/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chemeClr val="dk1"/>
              </a:buClr>
              <a:buSzPts val="3200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Either double OR single quote behave the same in the above context, but that’s not always the case…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0"/>
          <p:cNvSpPr txBox="1">
            <a:spLocks noGrp="1"/>
          </p:cNvSpPr>
          <p:nvPr>
            <p:ph type="title"/>
          </p:nvPr>
        </p:nvSpPr>
        <p:spPr>
          <a:xfrm>
            <a:off x="1981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script - time.sh</a:t>
            </a:r>
            <a:endParaRPr/>
          </a:p>
        </p:txBody>
      </p:sp>
      <p:cxnSp>
        <p:nvCxnSpPr>
          <p:cNvPr id="286" name="Google Shape;286;p40"/>
          <p:cNvCxnSpPr/>
          <p:nvPr/>
        </p:nvCxnSpPr>
        <p:spPr>
          <a:xfrm flipH="1">
            <a:off x="2809850" y="1384300"/>
            <a:ext cx="15900" cy="24750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med" len="med"/>
            <a:tailEnd type="stealth" w="med" len="med"/>
          </a:ln>
          <a:effectLst>
            <a:outerShdw blurRad="63500" dist="20000" dir="5400000">
              <a:srgbClr val="808080">
                <a:alpha val="37650"/>
              </a:srgbClr>
            </a:outerShdw>
          </a:effectLst>
        </p:spPr>
      </p:cxnSp>
      <p:sp>
        <p:nvSpPr>
          <p:cNvPr id="287" name="Google Shape;287;p40"/>
          <p:cNvSpPr txBox="1"/>
          <p:nvPr/>
        </p:nvSpPr>
        <p:spPr>
          <a:xfrm>
            <a:off x="2500312" y="1347787"/>
            <a:ext cx="4667400" cy="9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buClr>
                <a:schemeClr val="dk1"/>
              </a:buClr>
              <a:buSzPts val="1800"/>
              <a:buFont typeface="Courier New"/>
              <a:buAutoNum type="arabicPlain"/>
            </a:pPr>
            <a:r>
              <a:rPr lang="en-US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#!/bin/bash</a:t>
            </a:r>
            <a:endParaRPr/>
          </a:p>
          <a:p>
            <a:pPr marL="342900" indent="-228600">
              <a:buClr>
                <a:schemeClr val="dk1"/>
              </a:buClr>
              <a:buSzPts val="1800"/>
            </a:pP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42900" indent="-342900">
              <a:buClr>
                <a:schemeClr val="dk1"/>
              </a:buClr>
              <a:buSzPts val="1800"/>
              <a:buFont typeface="Courier New"/>
              <a:buAutoNum type="arabicPlain"/>
            </a:pPr>
            <a:r>
              <a:rPr lang="en-US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time=`date | awk '{print $4}'`</a:t>
            </a:r>
            <a:endParaRPr/>
          </a:p>
        </p:txBody>
      </p:sp>
      <p:sp>
        <p:nvSpPr>
          <p:cNvPr id="288" name="Google Shape;288;p40"/>
          <p:cNvSpPr txBox="1"/>
          <p:nvPr/>
        </p:nvSpPr>
        <p:spPr>
          <a:xfrm>
            <a:off x="2500312" y="2401887"/>
            <a:ext cx="55611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chemeClr val="dk1"/>
              </a:buClr>
              <a:buSzPts val="1800"/>
            </a:pPr>
            <a:r>
              <a:rPr lang="en-US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3 printf “The time is ${time}. Bye.\n”</a:t>
            </a:r>
            <a:endParaRPr/>
          </a:p>
        </p:txBody>
      </p:sp>
      <p:sp>
        <p:nvSpPr>
          <p:cNvPr id="289" name="Google Shape;289;p40"/>
          <p:cNvSpPr txBox="1"/>
          <p:nvPr/>
        </p:nvSpPr>
        <p:spPr>
          <a:xfrm>
            <a:off x="2503487" y="2917825"/>
            <a:ext cx="73881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chemeClr val="dk1"/>
              </a:buClr>
              <a:buSzPts val="1800"/>
            </a:pPr>
            <a:r>
              <a:rPr lang="en-US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4 # Is this the real life? Is this just fantasy?</a:t>
            </a:r>
            <a:endParaRPr/>
          </a:p>
          <a:p>
            <a:pPr>
              <a:buClr>
                <a:schemeClr val="dk1"/>
              </a:buClr>
              <a:buSzPts val="1800"/>
            </a:pPr>
            <a:r>
              <a:rPr lang="en-US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5 # Caught in a landslide. No escape from reality.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1"/>
          <p:cNvSpPr txBox="1">
            <a:spLocks noGrp="1"/>
          </p:cNvSpPr>
          <p:nvPr>
            <p:ph type="title"/>
          </p:nvPr>
        </p:nvSpPr>
        <p:spPr>
          <a:xfrm>
            <a:off x="1981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script - time.sh</a:t>
            </a:r>
            <a:endParaRPr/>
          </a:p>
        </p:txBody>
      </p:sp>
      <p:cxnSp>
        <p:nvCxnSpPr>
          <p:cNvPr id="295" name="Google Shape;295;p41"/>
          <p:cNvCxnSpPr/>
          <p:nvPr/>
        </p:nvCxnSpPr>
        <p:spPr>
          <a:xfrm flipH="1">
            <a:off x="2809876" y="1384301"/>
            <a:ext cx="15875" cy="3019425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med" len="med"/>
            <a:tailEnd type="stealth" w="med" len="med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</p:cxnSp>
      <p:sp>
        <p:nvSpPr>
          <p:cNvPr id="296" name="Google Shape;296;p41"/>
          <p:cNvSpPr txBox="1"/>
          <p:nvPr/>
        </p:nvSpPr>
        <p:spPr>
          <a:xfrm>
            <a:off x="2500313" y="1347788"/>
            <a:ext cx="4803775" cy="92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buClr>
                <a:schemeClr val="dk1"/>
              </a:buClr>
              <a:buSzPts val="1800"/>
              <a:buFont typeface="Courier New"/>
              <a:buAutoNum type="arabicPlain"/>
            </a:pPr>
            <a:r>
              <a:rPr lang="en-US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#!/bin/bash</a:t>
            </a:r>
            <a:endParaRPr/>
          </a:p>
          <a:p>
            <a:pPr marL="342900" indent="-228600">
              <a:buClr>
                <a:schemeClr val="dk1"/>
              </a:buClr>
              <a:buSzPts val="1800"/>
            </a:pP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42900" indent="-342900">
              <a:buClr>
                <a:schemeClr val="dk1"/>
              </a:buClr>
              <a:buSzPts val="1800"/>
              <a:buFont typeface="Courier New"/>
              <a:buAutoNum type="arabicPlain"/>
            </a:pPr>
            <a:r>
              <a:rPr lang="en-US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time=`date | awk '{print $4}'`</a:t>
            </a:r>
            <a:endParaRPr/>
          </a:p>
        </p:txBody>
      </p:sp>
      <p:sp>
        <p:nvSpPr>
          <p:cNvPr id="297" name="Google Shape;297;p41"/>
          <p:cNvSpPr txBox="1"/>
          <p:nvPr/>
        </p:nvSpPr>
        <p:spPr>
          <a:xfrm>
            <a:off x="2500312" y="2401888"/>
            <a:ext cx="542290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chemeClr val="dk1"/>
              </a:buClr>
              <a:buSzPts val="1800"/>
            </a:pPr>
            <a:r>
              <a:rPr lang="en-US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3 printf “The time is ${time}. Bye.\n”</a:t>
            </a:r>
            <a:endParaRPr/>
          </a:p>
        </p:txBody>
      </p:sp>
      <p:sp>
        <p:nvSpPr>
          <p:cNvPr id="298" name="Google Shape;298;p41"/>
          <p:cNvSpPr txBox="1"/>
          <p:nvPr/>
        </p:nvSpPr>
        <p:spPr>
          <a:xfrm>
            <a:off x="2503487" y="3594101"/>
            <a:ext cx="542290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chemeClr val="dk1"/>
              </a:buClr>
              <a:buSzPts val="1800"/>
            </a:pPr>
            <a:r>
              <a:rPr lang="en-US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6 printf 'The time is ${time}. Bye.\n'</a:t>
            </a:r>
            <a:endParaRPr/>
          </a:p>
        </p:txBody>
      </p:sp>
      <p:cxnSp>
        <p:nvCxnSpPr>
          <p:cNvPr id="299" name="Google Shape;299;p41"/>
          <p:cNvCxnSpPr/>
          <p:nvPr/>
        </p:nvCxnSpPr>
        <p:spPr>
          <a:xfrm rot="10800000">
            <a:off x="3090862" y="4059238"/>
            <a:ext cx="792162" cy="688975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med" len="med"/>
            <a:tailEnd type="stealth" w="med" len="med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</p:cxnSp>
      <p:sp>
        <p:nvSpPr>
          <p:cNvPr id="300" name="Google Shape;300;p41"/>
          <p:cNvSpPr txBox="1"/>
          <p:nvPr/>
        </p:nvSpPr>
        <p:spPr>
          <a:xfrm>
            <a:off x="3816351" y="4635500"/>
            <a:ext cx="5775325" cy="18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chemeClr val="dk1"/>
              </a:buClr>
              <a:buSzPts val="2800"/>
            </a:pP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Now add this 6</a:t>
            </a:r>
            <a:r>
              <a:rPr lang="en-US" sz="2800" b="1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line to your script;</a:t>
            </a:r>
            <a:endParaRPr/>
          </a:p>
          <a:p>
            <a:pPr>
              <a:buClr>
                <a:schemeClr val="dk1"/>
              </a:buClr>
              <a:buSzPts val="2800"/>
            </a:pP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the line is nearly the same as</a:t>
            </a:r>
            <a:endParaRPr/>
          </a:p>
          <a:p>
            <a:pPr>
              <a:buClr>
                <a:schemeClr val="dk1"/>
              </a:buClr>
              <a:buSzPts val="2800"/>
            </a:pP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3</a:t>
            </a:r>
            <a:r>
              <a:rPr lang="en-US" sz="2800" b="1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rd</a:t>
            </a: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line EXCEPT double quotes are</a:t>
            </a:r>
            <a:endParaRPr/>
          </a:p>
          <a:p>
            <a:pPr>
              <a:buClr>
                <a:schemeClr val="dk1"/>
              </a:buClr>
              <a:buSzPts val="2800"/>
            </a:pP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now SINGLE QUOTE</a:t>
            </a:r>
            <a:endParaRPr/>
          </a:p>
        </p:txBody>
      </p:sp>
      <p:sp>
        <p:nvSpPr>
          <p:cNvPr id="301" name="Google Shape;301;p41"/>
          <p:cNvSpPr txBox="1"/>
          <p:nvPr/>
        </p:nvSpPr>
        <p:spPr>
          <a:xfrm>
            <a:off x="2503487" y="2917825"/>
            <a:ext cx="73881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chemeClr val="dk1"/>
              </a:buClr>
              <a:buSzPts val="1800"/>
            </a:pPr>
            <a:r>
              <a:rPr lang="en-US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4 # Is this the real life? Is this just fantasy?</a:t>
            </a:r>
            <a:endParaRPr/>
          </a:p>
          <a:p>
            <a:pPr>
              <a:buClr>
                <a:schemeClr val="dk1"/>
              </a:buClr>
              <a:buSzPts val="1800"/>
            </a:pPr>
            <a:r>
              <a:rPr lang="en-US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5 # Caught in a landslide. No escape from reality.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2"/>
          <p:cNvSpPr txBox="1">
            <a:spLocks noGrp="1"/>
          </p:cNvSpPr>
          <p:nvPr>
            <p:ph type="title"/>
          </p:nvPr>
        </p:nvSpPr>
        <p:spPr>
          <a:xfrm>
            <a:off x="1981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script - time.sh</a:t>
            </a:r>
            <a:endParaRPr/>
          </a:p>
        </p:txBody>
      </p:sp>
      <p:cxnSp>
        <p:nvCxnSpPr>
          <p:cNvPr id="307" name="Google Shape;307;p42"/>
          <p:cNvCxnSpPr/>
          <p:nvPr/>
        </p:nvCxnSpPr>
        <p:spPr>
          <a:xfrm flipH="1">
            <a:off x="2809876" y="1384301"/>
            <a:ext cx="15875" cy="3019425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med" len="med"/>
            <a:tailEnd type="stealth" w="med" len="med"/>
          </a:ln>
          <a:effectLst>
            <a:outerShdw blurRad="63500" dist="20000" dir="5400000">
              <a:srgbClr val="808080">
                <a:alpha val="37647"/>
              </a:srgbClr>
            </a:outerShdw>
          </a:effectLst>
        </p:spPr>
      </p:cxnSp>
      <p:sp>
        <p:nvSpPr>
          <p:cNvPr id="308" name="Google Shape;308;p42"/>
          <p:cNvSpPr txBox="1"/>
          <p:nvPr/>
        </p:nvSpPr>
        <p:spPr>
          <a:xfrm>
            <a:off x="2500312" y="1347788"/>
            <a:ext cx="4667250" cy="92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buClr>
                <a:schemeClr val="dk1"/>
              </a:buClr>
              <a:buSzPts val="1800"/>
              <a:buFont typeface="Courier New"/>
              <a:buAutoNum type="arabicPlain"/>
            </a:pPr>
            <a:r>
              <a:rPr lang="en-US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#!/bin/bash</a:t>
            </a:r>
            <a:endParaRPr dirty="0"/>
          </a:p>
          <a:p>
            <a:pPr marL="342900" indent="-228600">
              <a:buClr>
                <a:schemeClr val="dk1"/>
              </a:buClr>
              <a:buSzPts val="1800"/>
            </a:pPr>
            <a:endParaRPr b="1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42900" indent="-342900">
              <a:buClr>
                <a:schemeClr val="dk1"/>
              </a:buClr>
              <a:buSzPts val="1800"/>
              <a:buFont typeface="Courier New"/>
              <a:buAutoNum type="arabicPlain"/>
            </a:pPr>
            <a:r>
              <a:rPr lang="en-US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time=`date | awk '{print $4}'`</a:t>
            </a:r>
            <a:endParaRPr dirty="0"/>
          </a:p>
        </p:txBody>
      </p:sp>
      <p:sp>
        <p:nvSpPr>
          <p:cNvPr id="309" name="Google Shape;309;p42"/>
          <p:cNvSpPr txBox="1"/>
          <p:nvPr/>
        </p:nvSpPr>
        <p:spPr>
          <a:xfrm>
            <a:off x="2500312" y="2401888"/>
            <a:ext cx="542290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chemeClr val="dk1"/>
              </a:buClr>
              <a:buSzPts val="1800"/>
            </a:pPr>
            <a:r>
              <a:rPr lang="en-US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3 printf “The time is ${time}. Bye.\n”</a:t>
            </a:r>
            <a:endParaRPr/>
          </a:p>
        </p:txBody>
      </p:sp>
      <p:sp>
        <p:nvSpPr>
          <p:cNvPr id="310" name="Google Shape;310;p42"/>
          <p:cNvSpPr txBox="1"/>
          <p:nvPr/>
        </p:nvSpPr>
        <p:spPr>
          <a:xfrm>
            <a:off x="2503487" y="3594101"/>
            <a:ext cx="542290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chemeClr val="dk1"/>
              </a:buClr>
              <a:buSzPts val="1800"/>
            </a:pPr>
            <a:r>
              <a:rPr lang="en-US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5 </a:t>
            </a:r>
            <a:r>
              <a:rPr lang="en-US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printf</a:t>
            </a:r>
            <a:r>
              <a:rPr lang="en-US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'The time is ${time}. Bye.\n'</a:t>
            </a:r>
            <a:endParaRPr dirty="0"/>
          </a:p>
        </p:txBody>
      </p:sp>
      <p:sp>
        <p:nvSpPr>
          <p:cNvPr id="311" name="Google Shape;311;p42"/>
          <p:cNvSpPr txBox="1"/>
          <p:nvPr/>
        </p:nvSpPr>
        <p:spPr>
          <a:xfrm>
            <a:off x="4230687" y="4718050"/>
            <a:ext cx="3911600" cy="830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2400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Save script and execute with:</a:t>
            </a:r>
            <a:endParaRPr/>
          </a:p>
          <a:p>
            <a:pPr algn="ctr">
              <a:buClr>
                <a:schemeClr val="dk1"/>
              </a:buClr>
              <a:buSzPts val="2400"/>
            </a:pPr>
            <a:r>
              <a:rPr lang="en-US"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./script_name.sh</a:t>
            </a:r>
            <a:endParaRPr/>
          </a:p>
        </p:txBody>
      </p:sp>
      <p:sp>
        <p:nvSpPr>
          <p:cNvPr id="312" name="Google Shape;312;p42"/>
          <p:cNvSpPr txBox="1"/>
          <p:nvPr/>
        </p:nvSpPr>
        <p:spPr>
          <a:xfrm>
            <a:off x="1898650" y="5791200"/>
            <a:ext cx="8386762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chemeClr val="dk1"/>
              </a:buClr>
              <a:buSzPts val="3600"/>
            </a:pPr>
            <a:r>
              <a:rPr lang="en-US" sz="3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What’s the big difference between “ and ‘? </a:t>
            </a:r>
            <a:endParaRPr/>
          </a:p>
        </p:txBody>
      </p:sp>
      <p:sp>
        <p:nvSpPr>
          <p:cNvPr id="313" name="Google Shape;313;p42"/>
          <p:cNvSpPr txBox="1"/>
          <p:nvPr/>
        </p:nvSpPr>
        <p:spPr>
          <a:xfrm>
            <a:off x="2503487" y="2917825"/>
            <a:ext cx="73881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chemeClr val="dk1"/>
              </a:buClr>
              <a:buSzPts val="1800"/>
            </a:pPr>
            <a:r>
              <a:rPr lang="en-US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4 # Is this the real life? Is this just fantasy?</a:t>
            </a:r>
            <a:endParaRPr/>
          </a:p>
          <a:p>
            <a:pPr>
              <a:buClr>
                <a:schemeClr val="dk1"/>
              </a:buClr>
              <a:buSzPts val="1800"/>
            </a:pPr>
            <a:r>
              <a:rPr lang="en-US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5 # Caught in a landslide. No escape from reality.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3"/>
          <p:cNvSpPr txBox="1">
            <a:spLocks noGrp="1"/>
          </p:cNvSpPr>
          <p:nvPr>
            <p:ph type="title"/>
          </p:nvPr>
        </p:nvSpPr>
        <p:spPr>
          <a:xfrm>
            <a:off x="1666876" y="274637"/>
            <a:ext cx="8842375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4000"/>
            </a:pPr>
            <a:r>
              <a:rPr lang="en-US" sz="4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Bracket, ticks and quote use in scripts</a:t>
            </a:r>
            <a:endParaRPr/>
          </a:p>
        </p:txBody>
      </p:sp>
      <p:sp>
        <p:nvSpPr>
          <p:cNvPr id="319" name="Google Shape;319;p43"/>
          <p:cNvSpPr txBox="1">
            <a:spLocks noGrp="1"/>
          </p:cNvSpPr>
          <p:nvPr>
            <p:ph type="body" idx="1"/>
          </p:nvPr>
        </p:nvSpPr>
        <p:spPr>
          <a:xfrm>
            <a:off x="1981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printf “some text to screen”</a:t>
            </a:r>
            <a:endParaRPr/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Preserves the literal value of </a:t>
            </a:r>
            <a:r>
              <a:rPr lang="en-US" sz="2800" b="1" i="1">
                <a:solidFill>
                  <a:schemeClr val="dk1"/>
                </a:solidFill>
              </a:rPr>
              <a:t>almost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all characters</a:t>
            </a:r>
            <a:endParaRPr/>
          </a:p>
          <a:p>
            <a:pPr lvl="2"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EXCEPTIONS: </a:t>
            </a:r>
            <a:r>
              <a:rPr lang="en-US" sz="2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$, `, \</a:t>
            </a:r>
            <a:endParaRPr/>
          </a:p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chemeClr val="dk1"/>
              </a:buClr>
              <a:buSzPts val="3200"/>
              <a:buNone/>
            </a:pPr>
            <a:endParaRPr sz="3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printf ‘some text to screen’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Preserves the literal value of all characters</a:t>
            </a:r>
            <a:endParaRPr/>
          </a:p>
          <a:p>
            <a:pPr lvl="2">
              <a:lnSpc>
                <a:spcPct val="100000"/>
              </a:lnSpc>
              <a:spcBef>
                <a:spcPts val="480"/>
              </a:spcBef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LITERALLY</a:t>
            </a:r>
            <a:endParaRPr/>
          </a:p>
          <a:p>
            <a:pPr marL="342900" indent="-190500">
              <a:spcBef>
                <a:spcPts val="480"/>
              </a:spcBef>
              <a:buClr>
                <a:schemeClr val="dk1"/>
              </a:buClr>
              <a:buSzPts val="2400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43"/>
          <p:cNvSpPr txBox="1"/>
          <p:nvPr/>
        </p:nvSpPr>
        <p:spPr>
          <a:xfrm>
            <a:off x="1787526" y="2803526"/>
            <a:ext cx="8231187" cy="354647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4"/>
          <p:cNvSpPr txBox="1">
            <a:spLocks noGrp="1"/>
          </p:cNvSpPr>
          <p:nvPr>
            <p:ph type="title"/>
          </p:nvPr>
        </p:nvSpPr>
        <p:spPr>
          <a:xfrm>
            <a:off x="1666876" y="274637"/>
            <a:ext cx="8842375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4000"/>
            </a:pPr>
            <a:r>
              <a:rPr lang="en-US" sz="4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Bracket, ticks and quote use in scripts</a:t>
            </a:r>
            <a:endParaRPr/>
          </a:p>
        </p:txBody>
      </p:sp>
      <p:sp>
        <p:nvSpPr>
          <p:cNvPr id="326" name="Google Shape;326;p44"/>
          <p:cNvSpPr txBox="1">
            <a:spLocks noGrp="1"/>
          </p:cNvSpPr>
          <p:nvPr>
            <p:ph type="body" idx="1"/>
          </p:nvPr>
        </p:nvSpPr>
        <p:spPr>
          <a:xfrm>
            <a:off x="1981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printf “some text to screen”</a:t>
            </a:r>
            <a:endParaRPr/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Preserves the literal value of </a:t>
            </a:r>
            <a:r>
              <a:rPr lang="en-US" sz="2800" b="1" i="1">
                <a:solidFill>
                  <a:schemeClr val="dk1"/>
                </a:solidFill>
              </a:rPr>
              <a:t>almost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all characters</a:t>
            </a:r>
            <a:endParaRPr/>
          </a:p>
          <a:p>
            <a:pPr lvl="2"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EXCEPTIONS: </a:t>
            </a:r>
            <a:r>
              <a:rPr lang="en-US" sz="28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lang="en-US" sz="2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28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`</a:t>
            </a:r>
            <a:r>
              <a:rPr lang="en-US" sz="2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28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\</a:t>
            </a:r>
            <a:endParaRPr/>
          </a:p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chemeClr val="dk1"/>
              </a:buClr>
              <a:buSzPts val="3200"/>
              <a:buNone/>
            </a:pPr>
            <a:endParaRPr sz="3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printf ‘some text to screen’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Preserves the literal value of all characters</a:t>
            </a:r>
            <a:endParaRPr/>
          </a:p>
          <a:p>
            <a:pPr lvl="2">
              <a:lnSpc>
                <a:spcPct val="100000"/>
              </a:lnSpc>
              <a:spcBef>
                <a:spcPts val="480"/>
              </a:spcBef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LITERALLY</a:t>
            </a:r>
            <a:endParaRPr/>
          </a:p>
          <a:p>
            <a:pPr marL="342900" indent="-190500">
              <a:spcBef>
                <a:spcPts val="480"/>
              </a:spcBef>
              <a:buClr>
                <a:schemeClr val="dk1"/>
              </a:buClr>
              <a:buSzPts val="2400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44"/>
          <p:cNvSpPr txBox="1"/>
          <p:nvPr/>
        </p:nvSpPr>
        <p:spPr>
          <a:xfrm>
            <a:off x="1787526" y="3644900"/>
            <a:ext cx="8231187" cy="27051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5"/>
          <p:cNvSpPr txBox="1">
            <a:spLocks noGrp="1"/>
          </p:cNvSpPr>
          <p:nvPr>
            <p:ph type="title"/>
          </p:nvPr>
        </p:nvSpPr>
        <p:spPr>
          <a:xfrm>
            <a:off x="1666876" y="274637"/>
            <a:ext cx="8842375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4000"/>
            </a:pPr>
            <a:r>
              <a:rPr lang="en-US" sz="4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Bracket, ticks and quote use in scripts</a:t>
            </a:r>
            <a:endParaRPr/>
          </a:p>
        </p:txBody>
      </p:sp>
      <p:sp>
        <p:nvSpPr>
          <p:cNvPr id="333" name="Google Shape;333;p45"/>
          <p:cNvSpPr txBox="1">
            <a:spLocks noGrp="1"/>
          </p:cNvSpPr>
          <p:nvPr>
            <p:ph type="body" idx="1"/>
          </p:nvPr>
        </p:nvSpPr>
        <p:spPr>
          <a:xfrm>
            <a:off x="1981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printf “some text to screen”</a:t>
            </a:r>
            <a:endParaRPr/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Preserves the literal value of </a:t>
            </a:r>
            <a:r>
              <a:rPr lang="en-US" sz="2800" b="1" i="1">
                <a:solidFill>
                  <a:schemeClr val="dk1"/>
                </a:solidFill>
              </a:rPr>
              <a:t>almost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all characters</a:t>
            </a:r>
            <a:endParaRPr/>
          </a:p>
          <a:p>
            <a:pPr lvl="2"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EXCEPTIONS: </a:t>
            </a:r>
            <a:r>
              <a:rPr lang="en-US" sz="28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lang="en-US" sz="2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28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`</a:t>
            </a:r>
            <a:r>
              <a:rPr lang="en-US" sz="2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28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\</a:t>
            </a:r>
            <a:endParaRPr/>
          </a:p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chemeClr val="dk1"/>
              </a:buClr>
              <a:buSzPts val="3200"/>
              <a:buNone/>
            </a:pPr>
            <a:endParaRPr sz="3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printf ‘some text to screen’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Preserves the literal value of all characters</a:t>
            </a:r>
            <a:endParaRPr/>
          </a:p>
          <a:p>
            <a:pPr lvl="2">
              <a:lnSpc>
                <a:spcPct val="100000"/>
              </a:lnSpc>
              <a:spcBef>
                <a:spcPts val="480"/>
              </a:spcBef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LITERALLY</a:t>
            </a:r>
            <a:endParaRPr/>
          </a:p>
          <a:p>
            <a:pPr marL="342900" indent="-190500">
              <a:spcBef>
                <a:spcPts val="480"/>
              </a:spcBef>
              <a:buClr>
                <a:schemeClr val="dk1"/>
              </a:buClr>
              <a:buSzPts val="2400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6"/>
          <p:cNvSpPr txBox="1">
            <a:spLocks noGrp="1"/>
          </p:cNvSpPr>
          <p:nvPr>
            <p:ph type="title"/>
          </p:nvPr>
        </p:nvSpPr>
        <p:spPr>
          <a:xfrm>
            <a:off x="1981200" y="-13811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Scripting good practices</a:t>
            </a:r>
            <a:endParaRPr/>
          </a:p>
        </p:txBody>
      </p:sp>
      <p:sp>
        <p:nvSpPr>
          <p:cNvPr id="339" name="Google Shape;339;p46"/>
          <p:cNvSpPr txBox="1">
            <a:spLocks noGrp="1"/>
          </p:cNvSpPr>
          <p:nvPr>
            <p:ph type="body" idx="1"/>
          </p:nvPr>
        </p:nvSpPr>
        <p:spPr>
          <a:xfrm>
            <a:off x="1981200" y="90805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Map out your script before coding it</a:t>
            </a:r>
            <a:endParaRPr/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 you are -&gt; where you want to go</a:t>
            </a:r>
            <a:endParaRPr/>
          </a:p>
          <a:p>
            <a:pPr marL="342900" indent="-139700">
              <a:lnSpc>
                <a:spcPct val="100000"/>
              </a:lnSpc>
              <a:spcBef>
                <a:spcPts val="640"/>
              </a:spcBef>
              <a:buClr>
                <a:schemeClr val="dk1"/>
              </a:buClr>
              <a:buSzPts val="3200"/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Remember to add comments &amp; good names</a:t>
            </a:r>
            <a:endParaRPr/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Gives a “play-by-play” of what script is doing</a:t>
            </a:r>
            <a:endParaRPr/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comments like notebook/data management</a:t>
            </a:r>
            <a:endParaRPr/>
          </a:p>
          <a:p>
            <a:pPr marL="742950" lvl="1" indent="-107950"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Shorter rather than longer scripts</a:t>
            </a:r>
            <a:endParaRPr/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Easier to dissect, especially troubleshooting</a:t>
            </a:r>
            <a:endParaRPr/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Modular; link together with another script</a:t>
            </a:r>
            <a:endParaRPr/>
          </a:p>
          <a:p>
            <a:pPr lvl="2">
              <a:lnSpc>
                <a:spcPct val="100000"/>
              </a:lnSpc>
              <a:spcBef>
                <a:spcPts val="480"/>
              </a:spcBef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LEGOS</a:t>
            </a:r>
            <a:endParaRPr/>
          </a:p>
          <a:p>
            <a:pPr lvl="2" indent="-76200">
              <a:lnSpc>
                <a:spcPct val="100000"/>
              </a:lnSpc>
              <a:spcBef>
                <a:spcPts val="480"/>
              </a:spcBef>
              <a:buClr>
                <a:schemeClr val="dk1"/>
              </a:buClr>
              <a:buSzPts val="2400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190500">
              <a:spcBef>
                <a:spcPts val="480"/>
              </a:spcBef>
              <a:buClr>
                <a:schemeClr val="dk1"/>
              </a:buClr>
              <a:buSzPts val="2400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46"/>
          <p:cNvSpPr txBox="1"/>
          <p:nvPr/>
        </p:nvSpPr>
        <p:spPr>
          <a:xfrm>
            <a:off x="1836737" y="908050"/>
            <a:ext cx="8247062" cy="582136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7"/>
          <p:cNvSpPr txBox="1">
            <a:spLocks noGrp="1"/>
          </p:cNvSpPr>
          <p:nvPr>
            <p:ph type="title"/>
          </p:nvPr>
        </p:nvSpPr>
        <p:spPr>
          <a:xfrm>
            <a:off x="1981200" y="-13811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Scripting good practices</a:t>
            </a:r>
            <a:endParaRPr/>
          </a:p>
        </p:txBody>
      </p:sp>
      <p:sp>
        <p:nvSpPr>
          <p:cNvPr id="346" name="Google Shape;346;p47"/>
          <p:cNvSpPr txBox="1">
            <a:spLocks noGrp="1"/>
          </p:cNvSpPr>
          <p:nvPr>
            <p:ph type="body" idx="1"/>
          </p:nvPr>
        </p:nvSpPr>
        <p:spPr>
          <a:xfrm>
            <a:off x="1981200" y="90805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Map out your script before coding it</a:t>
            </a:r>
            <a:endParaRPr/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 you are -&gt; where you want to go</a:t>
            </a:r>
            <a:endParaRPr/>
          </a:p>
          <a:p>
            <a:pPr marL="342900" indent="-139700">
              <a:lnSpc>
                <a:spcPct val="100000"/>
              </a:lnSpc>
              <a:spcBef>
                <a:spcPts val="640"/>
              </a:spcBef>
              <a:buClr>
                <a:schemeClr val="dk1"/>
              </a:buClr>
              <a:buSzPts val="3200"/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Remember to add comments &amp; good names</a:t>
            </a:r>
            <a:endParaRPr/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Gives a “play-by-play” of what script is doing</a:t>
            </a:r>
            <a:endParaRPr/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comments like notebook/data management</a:t>
            </a:r>
            <a:endParaRPr/>
          </a:p>
          <a:p>
            <a:pPr marL="742950" lvl="1" indent="-107950"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Shorter rather than longer scripts</a:t>
            </a:r>
            <a:endParaRPr/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Easier to dissect, especially troubleshooting</a:t>
            </a:r>
            <a:endParaRPr/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Modular; link together with another script</a:t>
            </a:r>
            <a:endParaRPr/>
          </a:p>
          <a:p>
            <a:pPr lvl="2">
              <a:lnSpc>
                <a:spcPct val="100000"/>
              </a:lnSpc>
              <a:spcBef>
                <a:spcPts val="480"/>
              </a:spcBef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LEGOS</a:t>
            </a:r>
            <a:endParaRPr/>
          </a:p>
          <a:p>
            <a:pPr lvl="2" indent="-76200">
              <a:lnSpc>
                <a:spcPct val="100000"/>
              </a:lnSpc>
              <a:spcBef>
                <a:spcPts val="480"/>
              </a:spcBef>
              <a:buClr>
                <a:schemeClr val="dk1"/>
              </a:buClr>
              <a:buSzPts val="2400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190500">
              <a:spcBef>
                <a:spcPts val="480"/>
              </a:spcBef>
              <a:buClr>
                <a:schemeClr val="dk1"/>
              </a:buClr>
              <a:buSzPts val="2400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47"/>
          <p:cNvSpPr txBox="1"/>
          <p:nvPr/>
        </p:nvSpPr>
        <p:spPr>
          <a:xfrm>
            <a:off x="1836737" y="2374900"/>
            <a:ext cx="8247062" cy="435451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8"/>
          <p:cNvSpPr txBox="1">
            <a:spLocks noGrp="1"/>
          </p:cNvSpPr>
          <p:nvPr>
            <p:ph type="title"/>
          </p:nvPr>
        </p:nvSpPr>
        <p:spPr>
          <a:xfrm>
            <a:off x="1981200" y="-13811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Scripting good practices</a:t>
            </a:r>
            <a:endParaRPr/>
          </a:p>
        </p:txBody>
      </p:sp>
      <p:sp>
        <p:nvSpPr>
          <p:cNvPr id="353" name="Google Shape;353;p48"/>
          <p:cNvSpPr txBox="1">
            <a:spLocks noGrp="1"/>
          </p:cNvSpPr>
          <p:nvPr>
            <p:ph type="body" idx="1"/>
          </p:nvPr>
        </p:nvSpPr>
        <p:spPr>
          <a:xfrm>
            <a:off x="1981200" y="90805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Map out your script before coding it</a:t>
            </a:r>
            <a:endParaRPr/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 you are -&gt; where you want to go</a:t>
            </a:r>
            <a:endParaRPr/>
          </a:p>
          <a:p>
            <a:pPr marL="342900" indent="-139700">
              <a:lnSpc>
                <a:spcPct val="100000"/>
              </a:lnSpc>
              <a:spcBef>
                <a:spcPts val="640"/>
              </a:spcBef>
              <a:buClr>
                <a:schemeClr val="dk1"/>
              </a:buClr>
              <a:buSzPts val="3200"/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/>
              <a:t>A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dd comments/use good variable names</a:t>
            </a:r>
            <a:endParaRPr/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Gives a “play-by-play” of what script is doing</a:t>
            </a:r>
            <a:endParaRPr/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comments like notebook/data management</a:t>
            </a:r>
            <a:endParaRPr/>
          </a:p>
          <a:p>
            <a:pPr marL="742950" lvl="1" indent="-107950"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Shorter rather than longer scripts</a:t>
            </a:r>
            <a:endParaRPr/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Easier to dissect, especially when troubleshooting</a:t>
            </a:r>
            <a:endParaRPr/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Modular; link together with another script</a:t>
            </a:r>
            <a:endParaRPr/>
          </a:p>
          <a:p>
            <a:pPr lvl="2">
              <a:lnSpc>
                <a:spcPct val="100000"/>
              </a:lnSpc>
              <a:spcBef>
                <a:spcPts val="480"/>
              </a:spcBef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LEGOS</a:t>
            </a:r>
            <a:endParaRPr/>
          </a:p>
          <a:p>
            <a:pPr lvl="2" indent="-76200">
              <a:lnSpc>
                <a:spcPct val="100000"/>
              </a:lnSpc>
              <a:spcBef>
                <a:spcPts val="480"/>
              </a:spcBef>
              <a:buClr>
                <a:schemeClr val="dk1"/>
              </a:buClr>
              <a:buSzPts val="2400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190500">
              <a:spcBef>
                <a:spcPts val="480"/>
              </a:spcBef>
              <a:buClr>
                <a:schemeClr val="dk1"/>
              </a:buClr>
              <a:buSzPts val="2400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48"/>
          <p:cNvSpPr txBox="1"/>
          <p:nvPr/>
        </p:nvSpPr>
        <p:spPr>
          <a:xfrm>
            <a:off x="1836737" y="4568825"/>
            <a:ext cx="8247000" cy="2160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9"/>
          <p:cNvSpPr txBox="1">
            <a:spLocks noGrp="1"/>
          </p:cNvSpPr>
          <p:nvPr>
            <p:ph type="title"/>
          </p:nvPr>
        </p:nvSpPr>
        <p:spPr>
          <a:xfrm>
            <a:off x="1981200" y="-13811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Scripting good practices</a:t>
            </a:r>
            <a:endParaRPr/>
          </a:p>
        </p:txBody>
      </p:sp>
      <p:sp>
        <p:nvSpPr>
          <p:cNvPr id="360" name="Google Shape;360;p49"/>
          <p:cNvSpPr txBox="1">
            <a:spLocks noGrp="1"/>
          </p:cNvSpPr>
          <p:nvPr>
            <p:ph type="body" idx="1"/>
          </p:nvPr>
        </p:nvSpPr>
        <p:spPr>
          <a:xfrm>
            <a:off x="1981200" y="90805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Map out your script before coding it</a:t>
            </a:r>
            <a:endParaRPr/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 you are -&gt; where you want to go</a:t>
            </a:r>
            <a:endParaRPr/>
          </a:p>
          <a:p>
            <a:pPr marL="342900" indent="-139700">
              <a:lnSpc>
                <a:spcPct val="100000"/>
              </a:lnSpc>
              <a:spcBef>
                <a:spcPts val="640"/>
              </a:spcBef>
              <a:buClr>
                <a:schemeClr val="dk1"/>
              </a:buClr>
              <a:buSzPts val="3200"/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/>
              <a:t>A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dd comments/use good variable names</a:t>
            </a:r>
            <a:endParaRPr/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Gives a “play-by-play” of what script is doing</a:t>
            </a:r>
            <a:endParaRPr/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comments like notebook/data management</a:t>
            </a:r>
            <a:endParaRPr/>
          </a:p>
          <a:p>
            <a:pPr marL="742950" lvl="1" indent="-107950"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Short</a:t>
            </a:r>
            <a:r>
              <a:rPr lang="en-US"/>
              <a:t> scripts are good</a:t>
            </a:r>
            <a:endParaRPr/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Easier to dissect, especially when troubleshooting</a:t>
            </a:r>
            <a:endParaRPr/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Modular; link together with another script</a:t>
            </a:r>
            <a:endParaRPr/>
          </a:p>
          <a:p>
            <a:pPr lvl="2">
              <a:lnSpc>
                <a:spcPct val="100000"/>
              </a:lnSpc>
              <a:spcBef>
                <a:spcPts val="480"/>
              </a:spcBef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LEGOS</a:t>
            </a:r>
            <a:endParaRPr/>
          </a:p>
          <a:p>
            <a:pPr lvl="2" indent="-76200">
              <a:lnSpc>
                <a:spcPct val="100000"/>
              </a:lnSpc>
              <a:spcBef>
                <a:spcPts val="480"/>
              </a:spcBef>
              <a:buClr>
                <a:schemeClr val="dk1"/>
              </a:buClr>
              <a:buSzPts val="2400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190500">
              <a:spcBef>
                <a:spcPts val="480"/>
              </a:spcBef>
              <a:buClr>
                <a:schemeClr val="dk1"/>
              </a:buClr>
              <a:buSzPts val="2400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0"/>
          <p:cNvSpPr txBox="1">
            <a:spLocks noGrp="1"/>
          </p:cNvSpPr>
          <p:nvPr>
            <p:ph type="title"/>
          </p:nvPr>
        </p:nvSpPr>
        <p:spPr>
          <a:xfrm>
            <a:off x="1981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Scripting good practices</a:t>
            </a:r>
            <a:endParaRPr/>
          </a:p>
        </p:txBody>
      </p:sp>
      <p:sp>
        <p:nvSpPr>
          <p:cNvPr id="366" name="Google Shape;366;p50"/>
          <p:cNvSpPr txBox="1">
            <a:spLocks noGrp="1"/>
          </p:cNvSpPr>
          <p:nvPr>
            <p:ph type="body" idx="1"/>
          </p:nvPr>
        </p:nvSpPr>
        <p:spPr>
          <a:xfrm>
            <a:off x="1981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Google is your friend….</a:t>
            </a:r>
            <a:endParaRPr/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Lots of scripts already out there</a:t>
            </a:r>
            <a:endParaRPr/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BUT:</a:t>
            </a:r>
            <a:endParaRPr/>
          </a:p>
          <a:p>
            <a:pPr lvl="2">
              <a:lnSpc>
                <a:spcPct val="100000"/>
              </a:lnSpc>
              <a:spcBef>
                <a:spcPts val="480"/>
              </a:spcBef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READ/UNDERSTAND HOW THEY WORK BEFORE EXECUTING THEM!!!!! (Why?)</a:t>
            </a:r>
            <a:endParaRPr/>
          </a:p>
          <a:p>
            <a:pPr marL="742950" lvl="1" indent="-107950"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your biologist training when scripting</a:t>
            </a:r>
            <a:endParaRPr/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Modify -&gt; test -&gt; modify -&gt; test</a:t>
            </a:r>
            <a:endParaRPr/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Change only a single variable at a time</a:t>
            </a:r>
            <a:endParaRPr/>
          </a:p>
          <a:p>
            <a:pPr lvl="2" indent="-76200">
              <a:lnSpc>
                <a:spcPct val="100000"/>
              </a:lnSpc>
              <a:spcBef>
                <a:spcPts val="480"/>
              </a:spcBef>
              <a:buClr>
                <a:schemeClr val="dk1"/>
              </a:buClr>
              <a:buSzPts val="2400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190500">
              <a:spcBef>
                <a:spcPts val="480"/>
              </a:spcBef>
              <a:buClr>
                <a:schemeClr val="dk1"/>
              </a:buClr>
              <a:buSzPts val="2400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50"/>
          <p:cNvSpPr txBox="1"/>
          <p:nvPr/>
        </p:nvSpPr>
        <p:spPr>
          <a:xfrm>
            <a:off x="1787526" y="4222750"/>
            <a:ext cx="8231187" cy="212725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1"/>
          <p:cNvSpPr txBox="1">
            <a:spLocks noGrp="1"/>
          </p:cNvSpPr>
          <p:nvPr>
            <p:ph type="title"/>
          </p:nvPr>
        </p:nvSpPr>
        <p:spPr>
          <a:xfrm>
            <a:off x="1981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Scripting good practices</a:t>
            </a:r>
            <a:endParaRPr/>
          </a:p>
        </p:txBody>
      </p:sp>
      <p:sp>
        <p:nvSpPr>
          <p:cNvPr id="373" name="Google Shape;373;p51"/>
          <p:cNvSpPr txBox="1">
            <a:spLocks noGrp="1"/>
          </p:cNvSpPr>
          <p:nvPr>
            <p:ph type="body" idx="1"/>
          </p:nvPr>
        </p:nvSpPr>
        <p:spPr>
          <a:xfrm>
            <a:off x="1981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Google is your friend….</a:t>
            </a:r>
            <a:endParaRPr/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Lots of scripts already out there</a:t>
            </a:r>
            <a:endParaRPr/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BUT:</a:t>
            </a:r>
            <a:endParaRPr/>
          </a:p>
          <a:p>
            <a:pPr lvl="2">
              <a:lnSpc>
                <a:spcPct val="100000"/>
              </a:lnSpc>
              <a:spcBef>
                <a:spcPts val="480"/>
              </a:spcBef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READ/UNDERSTAND HOW THEY WORK BEFORE EXECUTING THEM!!!!! (Why?)</a:t>
            </a:r>
            <a:endParaRPr/>
          </a:p>
          <a:p>
            <a:pPr marL="742950" lvl="1" indent="-107950"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your biologist training when scripting</a:t>
            </a:r>
            <a:endParaRPr/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Modify -&gt; test -&gt; modify -&gt; test</a:t>
            </a:r>
            <a:endParaRPr/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Change only a single facet of a script at a time</a:t>
            </a:r>
            <a:endParaRPr/>
          </a:p>
          <a:p>
            <a:pPr lvl="2" indent="-76200">
              <a:lnSpc>
                <a:spcPct val="100000"/>
              </a:lnSpc>
              <a:spcBef>
                <a:spcPts val="480"/>
              </a:spcBef>
              <a:buClr>
                <a:schemeClr val="dk1"/>
              </a:buClr>
              <a:buSzPts val="2400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190500">
              <a:spcBef>
                <a:spcPts val="480"/>
              </a:spcBef>
              <a:buClr>
                <a:schemeClr val="dk1"/>
              </a:buClr>
              <a:buSzPts val="2400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1587</Words>
  <Application>Microsoft Macintosh PowerPoint</Application>
  <PresentationFormat>Widescreen</PresentationFormat>
  <Paragraphs>259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Calibri</vt:lpstr>
      <vt:lpstr>Calibri Light</vt:lpstr>
      <vt:lpstr>Courier New</vt:lpstr>
      <vt:lpstr>Office Theme</vt:lpstr>
      <vt:lpstr>Basic Bash scripting</vt:lpstr>
      <vt:lpstr>Anatomy of a script</vt:lpstr>
      <vt:lpstr>Anatomy of a script</vt:lpstr>
      <vt:lpstr>Anatomy of a script</vt:lpstr>
      <vt:lpstr>Anatomy of a script</vt:lpstr>
      <vt:lpstr>Anatomy of a script</vt:lpstr>
      <vt:lpstr>Examples of variables</vt:lpstr>
      <vt:lpstr>Examples of variables</vt:lpstr>
      <vt:lpstr>“Rules” when creating variables</vt:lpstr>
      <vt:lpstr>Creating a variable</vt:lpstr>
      <vt:lpstr>Creating a variable</vt:lpstr>
      <vt:lpstr>Creating a variable</vt:lpstr>
      <vt:lpstr>Anatomy of a script</vt:lpstr>
      <vt:lpstr>Anatomy of a script</vt:lpstr>
      <vt:lpstr>Example script - time.sh</vt:lpstr>
      <vt:lpstr>Example script - time.sh</vt:lpstr>
      <vt:lpstr>Bracket, ticks and quote use in scripts</vt:lpstr>
      <vt:lpstr>Bracket, ticks and quote use in scripts</vt:lpstr>
      <vt:lpstr>Bracket, ticks and quote use in scripts</vt:lpstr>
      <vt:lpstr>Bracket, ticks and quote use in scripts</vt:lpstr>
      <vt:lpstr>Example script - time.sh</vt:lpstr>
      <vt:lpstr>Example script - time.sh</vt:lpstr>
      <vt:lpstr>Example script - time.sh</vt:lpstr>
      <vt:lpstr>Bracket, ticks and quote use in scripts</vt:lpstr>
      <vt:lpstr>Bracket, ticks and quote use in scripts</vt:lpstr>
      <vt:lpstr>Bracket, ticks and quote use in scripts</vt:lpstr>
      <vt:lpstr>Scripting good practices</vt:lpstr>
      <vt:lpstr>Scripting good practices</vt:lpstr>
      <vt:lpstr>Scripting good practices</vt:lpstr>
      <vt:lpstr>Scripting good practices</vt:lpstr>
      <vt:lpstr>Scripting good practices</vt:lpstr>
      <vt:lpstr>Scripting good practices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Nicole Garrison</dc:creator>
  <cp:lastModifiedBy>Nicole Garrison</cp:lastModifiedBy>
  <cp:revision>3</cp:revision>
  <dcterms:created xsi:type="dcterms:W3CDTF">2021-07-08T11:20:08Z</dcterms:created>
  <dcterms:modified xsi:type="dcterms:W3CDTF">2021-07-08T11:34:03Z</dcterms:modified>
</cp:coreProperties>
</file>