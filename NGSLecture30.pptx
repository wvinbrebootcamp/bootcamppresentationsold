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88">
          <p15:clr>
            <a:srgbClr val="A4A3A4"/>
          </p15:clr>
        </p15:guide>
      </p15:sldGuideLst>
    </p:ext>
    <p:ext uri="http://customooxmlschemas.google.com/">
      <go:slidesCustomData xmlns:go="http://customooxmlschemas.google.com/" r:id="rId25" roundtripDataSignature="AMtx7mjnuMDz3DSfLd/CFraE9kzZHJ8j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8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for coming, today I want to give you all some background information on the concept of next generation sequencing. Some things I want you to take away from this presentation include...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very briefly, Sanger sequencing uses a method called chain termination, where special fluorescently tagged nucleotides are incorporated into growing DNA strands, each time one of these dideoxy nucleotides is added extension of that strand stops. This method generated fragments of target dna of varying length with fluorescent labels attached to the last nuclotide. Capilary electrophoresis is used to separate the fragments by size and a laser is used to excite the fluorescent tag. If we order these fragements by size and look at the sequence of fluorescent signals we can reconstruct the sequence of our target DNA. This information is organized on a chromatogram, pictured here.</a:t>
            </a:r>
            <a:endParaRP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this method of pyrosequencing, fragmented dna is isolated on beads and amplified on that bead using a special variation of PCR, single dna covered beads and all the ingredients needed for dna synthesis are then placed in wells, many wells in this plate, as nucleotides are washed across the wells they may become incorporated onto a dna strand...this releases pyrophosphate which sets on a chain reaction ultimately leading to the production of light by luciferase in this case firefly luciferase, so the same enzyme that is responsible for the glowing abdomen...each time you see fireflies I want you to think of pyrosequencing...</a:t>
            </a:r>
            <a:endParaRPr/>
          </a:p>
        </p:txBody>
      </p:sp>
      <p:sp>
        <p:nvSpPr>
          <p:cNvPr id="330" name="Google Shape;3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3F4F"/>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jp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8.jpg"/><Relationship Id="rId5"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0" y="1563324"/>
            <a:ext cx="12192000" cy="102817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FFFDF2"/>
              </a:buClr>
              <a:buSzPts val="6600"/>
              <a:buFont typeface="Calibri"/>
              <a:buNone/>
            </a:pPr>
            <a:r>
              <a:rPr b="1" lang="en-US" sz="6600">
                <a:solidFill>
                  <a:srgbClr val="FFFDF2"/>
                </a:solidFill>
              </a:rPr>
              <a:t>The Sequencing Revolution</a:t>
            </a:r>
            <a:endParaRPr/>
          </a:p>
        </p:txBody>
      </p:sp>
      <p:sp>
        <p:nvSpPr>
          <p:cNvPr id="90" name="Google Shape;90;p1"/>
          <p:cNvSpPr txBox="1"/>
          <p:nvPr/>
        </p:nvSpPr>
        <p:spPr>
          <a:xfrm>
            <a:off x="4780993" y="5000626"/>
            <a:ext cx="263001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FFFDF2"/>
                </a:solidFill>
                <a:latin typeface="Calibri"/>
                <a:ea typeface="Calibri"/>
                <a:cs typeface="Calibri"/>
                <a:sym typeface="Calibri"/>
              </a:rPr>
              <a:t>Dr. Nicole Garrison</a:t>
            </a:r>
            <a:endParaRPr/>
          </a:p>
          <a:p>
            <a:pPr indent="0" lvl="0" marL="0" marR="0" rtl="0" algn="ctr">
              <a:spcBef>
                <a:spcPts val="0"/>
              </a:spcBef>
              <a:spcAft>
                <a:spcPts val="0"/>
              </a:spcAft>
              <a:buNone/>
            </a:pPr>
            <a:r>
              <a:rPr b="0" i="0" lang="en-US" sz="2400" u="none" cap="none" strike="noStrike">
                <a:solidFill>
                  <a:srgbClr val="FFFDF2"/>
                </a:solidFill>
                <a:latin typeface="Calibri"/>
                <a:ea typeface="Calibri"/>
                <a:cs typeface="Calibri"/>
                <a:sym typeface="Calibri"/>
              </a:rPr>
              <a:t>Postdoctoral Fellow</a:t>
            </a:r>
            <a:endParaRPr/>
          </a:p>
          <a:p>
            <a:pPr indent="0" lvl="0" marL="0" marR="0" rtl="0" algn="ctr">
              <a:spcBef>
                <a:spcPts val="0"/>
              </a:spcBef>
              <a:spcAft>
                <a:spcPts val="0"/>
              </a:spcAft>
              <a:buNone/>
            </a:pPr>
            <a:r>
              <a:rPr b="0" i="0" lang="en-US" sz="2400" u="none" cap="none" strike="noStrike">
                <a:solidFill>
                  <a:srgbClr val="FFFDF2"/>
                </a:solidFill>
                <a:latin typeface="Calibri"/>
                <a:ea typeface="Calibri"/>
                <a:cs typeface="Calibri"/>
                <a:sym typeface="Calibri"/>
              </a:rPr>
              <a:t>Auburn University</a:t>
            </a:r>
            <a:endParaRPr/>
          </a:p>
        </p:txBody>
      </p:sp>
      <p:sp>
        <p:nvSpPr>
          <p:cNvPr id="91" name="Google Shape;91;p1"/>
          <p:cNvSpPr txBox="1"/>
          <p:nvPr/>
        </p:nvSpPr>
        <p:spPr>
          <a:xfrm>
            <a:off x="1752600" y="2040380"/>
            <a:ext cx="8686800"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FFFDF2"/>
                </a:solidFill>
                <a:latin typeface="Calibri"/>
                <a:ea typeface="Calibri"/>
                <a:cs typeface="Calibri"/>
                <a:sym typeface="Calibri"/>
              </a:rPr>
              <a:t>Define next generation sequencing</a:t>
            </a:r>
            <a:endParaRPr/>
          </a:p>
          <a:p>
            <a:pPr indent="0" lvl="0" marL="0" marR="0" rtl="0" algn="ctr">
              <a:spcBef>
                <a:spcPts val="0"/>
              </a:spcBef>
              <a:spcAft>
                <a:spcPts val="0"/>
              </a:spcAft>
              <a:buNone/>
            </a:pPr>
            <a:r>
              <a:rPr b="0" i="0" lang="en-US" sz="2800" u="none" cap="none" strike="noStrike">
                <a:solidFill>
                  <a:srgbClr val="FFFDF2"/>
                </a:solidFill>
                <a:latin typeface="Calibri"/>
                <a:ea typeface="Calibri"/>
                <a:cs typeface="Calibri"/>
                <a:sym typeface="Calibri"/>
              </a:rPr>
              <a:t>Understand different types of sequencing platforms</a:t>
            </a:r>
            <a:endParaRPr/>
          </a:p>
          <a:p>
            <a:pPr indent="0" lvl="0" marL="0" marR="0" rtl="0" algn="ctr">
              <a:spcBef>
                <a:spcPts val="0"/>
              </a:spcBef>
              <a:spcAft>
                <a:spcPts val="0"/>
              </a:spcAft>
              <a:buNone/>
            </a:pPr>
            <a:r>
              <a:rPr b="0" i="0" lang="en-US" sz="2800" u="none" cap="none" strike="noStrike">
                <a:solidFill>
                  <a:srgbClr val="FFFDF2"/>
                </a:solidFill>
                <a:latin typeface="Calibri"/>
                <a:ea typeface="Calibri"/>
                <a:cs typeface="Calibri"/>
                <a:sym typeface="Calibri"/>
              </a:rPr>
              <a:t>Understand how “big” biological data is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nvSpPr>
        <p:spPr>
          <a:xfrm>
            <a:off x="849924" y="376849"/>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DF2"/>
              </a:buClr>
              <a:buSzPts val="4400"/>
              <a:buFont typeface="Calibri"/>
              <a:buNone/>
            </a:pPr>
            <a:r>
              <a:rPr b="0" i="0" lang="en-US" sz="4400" u="none" cap="none" strike="noStrike">
                <a:solidFill>
                  <a:srgbClr val="FFFDF2"/>
                </a:solidFill>
                <a:latin typeface="Calibri"/>
                <a:ea typeface="Calibri"/>
                <a:cs typeface="Calibri"/>
                <a:sym typeface="Calibri"/>
              </a:rPr>
              <a:t>Next Generation Sequencing (NGS)</a:t>
            </a:r>
            <a:endParaRPr b="0" i="0" sz="4400" u="none" cap="none" strike="noStrike">
              <a:solidFill>
                <a:srgbClr val="FFFDF2"/>
              </a:solidFill>
              <a:latin typeface="Calibri"/>
              <a:ea typeface="Calibri"/>
              <a:cs typeface="Calibri"/>
              <a:sym typeface="Calibri"/>
            </a:endParaRPr>
          </a:p>
        </p:txBody>
      </p:sp>
      <p:sp>
        <p:nvSpPr>
          <p:cNvPr id="97" name="Google Shape;97;p2"/>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98" name="Google Shape;98;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a:p>
            <a:pPr indent="0" lvl="0" marL="0" rtl="0" algn="l">
              <a:lnSpc>
                <a:spcPct val="90000"/>
              </a:lnSpc>
              <a:spcBef>
                <a:spcPts val="1000"/>
              </a:spcBef>
              <a:spcAft>
                <a:spcPts val="0"/>
              </a:spcAft>
              <a:buClr>
                <a:schemeClr val="dk1"/>
              </a:buClr>
              <a:buSzPts val="2800"/>
              <a:buNone/>
            </a:pPr>
            <a:r>
              <a:t/>
            </a:r>
            <a:endParaRPr>
              <a:solidFill>
                <a:srgbClr val="FFFDF2"/>
              </a:solidFill>
            </a:endParaRPr>
          </a:p>
        </p:txBody>
      </p:sp>
      <p:pic>
        <p:nvPicPr>
          <p:cNvPr descr="A screenshot of a social media post&#10;&#10;Description automatically generated" id="99" name="Google Shape;99;p2"/>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00" name="Google Shape;100;p2"/>
          <p:cNvSpPr/>
          <p:nvPr/>
        </p:nvSpPr>
        <p:spPr>
          <a:xfrm>
            <a:off x="1405486" y="4922725"/>
            <a:ext cx="1227909" cy="888098"/>
          </a:xfrm>
          <a:prstGeom prst="wedgeRoundRectCallout">
            <a:avLst>
              <a:gd fmla="val -19769" name="adj1"/>
              <a:gd fmla="val 8750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rgbClr val="323F4F"/>
              </a:solidFill>
              <a:latin typeface="Calibri"/>
              <a:ea typeface="Calibri"/>
              <a:cs typeface="Calibri"/>
              <a:sym typeface="Calibri"/>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August</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2005</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2"/>
          <p:cNvSpPr/>
          <p:nvPr/>
        </p:nvSpPr>
        <p:spPr>
          <a:xfrm>
            <a:off x="5520145" y="3624498"/>
            <a:ext cx="1227909" cy="888098"/>
          </a:xfrm>
          <a:prstGeom prst="wedgeRoundRectCallout">
            <a:avLst>
              <a:gd fmla="val 75976" name="adj1"/>
              <a:gd fmla="val 366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May</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2011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r>
              <a:rPr lang="en-US" sz="2000">
                <a:solidFill>
                  <a:srgbClr val="FFFDF2"/>
                </a:solidFill>
              </a:rPr>
              <a:t> </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p:txBody>
      </p:sp>
      <p:pic>
        <p:nvPicPr>
          <p:cNvPr id="107" name="Google Shape;107;p3"/>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08" name="Google Shape;108;p3"/>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09" name="Google Shape;109;p3"/>
          <p:cNvSpPr/>
          <p:nvPr/>
        </p:nvSpPr>
        <p:spPr>
          <a:xfrm>
            <a:off x="1405486" y="4922725"/>
            <a:ext cx="1227909" cy="888098"/>
          </a:xfrm>
          <a:prstGeom prst="wedgeRoundRectCallout">
            <a:avLst>
              <a:gd fmla="val -19769" name="adj1"/>
              <a:gd fmla="val 8750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rgbClr val="323F4F"/>
              </a:solidFill>
              <a:latin typeface="Calibri"/>
              <a:ea typeface="Calibri"/>
              <a:cs typeface="Calibri"/>
              <a:sym typeface="Calibri"/>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August</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2005</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3"/>
          <p:cNvSpPr/>
          <p:nvPr/>
        </p:nvSpPr>
        <p:spPr>
          <a:xfrm>
            <a:off x="5520145" y="3624498"/>
            <a:ext cx="1227909" cy="888098"/>
          </a:xfrm>
          <a:prstGeom prst="wedgeRoundRectCallout">
            <a:avLst>
              <a:gd fmla="val 75976" name="adj1"/>
              <a:gd fmla="val 366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May</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2011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r>
              <a:rPr lang="en-US" sz="2000">
                <a:solidFill>
                  <a:srgbClr val="FFFDF2"/>
                </a:solidFill>
              </a:rPr>
              <a:t> </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p:txBody>
      </p:sp>
      <p:pic>
        <p:nvPicPr>
          <p:cNvPr id="116" name="Google Shape;116;p4"/>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17" name="Google Shape;117;p4"/>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18" name="Google Shape;118;p4"/>
          <p:cNvSpPr/>
          <p:nvPr/>
        </p:nvSpPr>
        <p:spPr>
          <a:xfrm>
            <a:off x="1405486" y="4922725"/>
            <a:ext cx="1227909" cy="888098"/>
          </a:xfrm>
          <a:prstGeom prst="wedgeRoundRectCallout">
            <a:avLst>
              <a:gd fmla="val -19769" name="adj1"/>
              <a:gd fmla="val 8750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rgbClr val="323F4F"/>
              </a:solidFill>
              <a:latin typeface="Calibri"/>
              <a:ea typeface="Calibri"/>
              <a:cs typeface="Calibri"/>
              <a:sym typeface="Calibri"/>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August</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2005</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4"/>
          <p:cNvSpPr/>
          <p:nvPr/>
        </p:nvSpPr>
        <p:spPr>
          <a:xfrm>
            <a:off x="5520145" y="3624498"/>
            <a:ext cx="1227909" cy="888098"/>
          </a:xfrm>
          <a:prstGeom prst="wedgeRoundRectCallout">
            <a:avLst>
              <a:gd fmla="val 75976" name="adj1"/>
              <a:gd fmla="val 366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May</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2011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r>
              <a:rPr lang="en-US" sz="2000">
                <a:solidFill>
                  <a:srgbClr val="FFFDF2"/>
                </a:solidFill>
              </a:rPr>
              <a:t> </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solidFill>
                <a:srgbClr val="FFFDF2"/>
              </a:solidFill>
            </a:endParaRPr>
          </a:p>
        </p:txBody>
      </p:sp>
      <p:pic>
        <p:nvPicPr>
          <p:cNvPr id="125" name="Google Shape;125;p5"/>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26" name="Google Shape;126;p5"/>
          <p:cNvSpPr/>
          <p:nvPr/>
        </p:nvSpPr>
        <p:spPr>
          <a:xfrm>
            <a:off x="1405486" y="4922725"/>
            <a:ext cx="1227909" cy="888098"/>
          </a:xfrm>
          <a:prstGeom prst="wedgeRoundRectCallout">
            <a:avLst>
              <a:gd fmla="val -19769" name="adj1"/>
              <a:gd fmla="val 8750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rgbClr val="323F4F"/>
              </a:solidFill>
              <a:latin typeface="Calibri"/>
              <a:ea typeface="Calibri"/>
              <a:cs typeface="Calibri"/>
              <a:sym typeface="Calibri"/>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August</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2005</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7" name="Google Shape;127;p5"/>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28" name="Google Shape;128;p5"/>
          <p:cNvSpPr/>
          <p:nvPr/>
        </p:nvSpPr>
        <p:spPr>
          <a:xfrm>
            <a:off x="5520145" y="3624498"/>
            <a:ext cx="1227909" cy="888098"/>
          </a:xfrm>
          <a:prstGeom prst="wedgeRoundRectCallout">
            <a:avLst>
              <a:gd fmla="val 75976" name="adj1"/>
              <a:gd fmla="val 366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May</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2011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idx="1" type="body"/>
          </p:nvPr>
        </p:nvSpPr>
        <p:spPr>
          <a:xfrm>
            <a:off x="838200" y="1825625"/>
            <a:ext cx="329292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p:txBody>
      </p:sp>
      <p:pic>
        <p:nvPicPr>
          <p:cNvPr id="134" name="Google Shape;134;p6"/>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35" name="Google Shape;135;p6"/>
          <p:cNvSpPr/>
          <p:nvPr/>
        </p:nvSpPr>
        <p:spPr>
          <a:xfrm>
            <a:off x="5520145" y="3624498"/>
            <a:ext cx="1227909" cy="888098"/>
          </a:xfrm>
          <a:prstGeom prst="wedgeRoundRectCallout">
            <a:avLst>
              <a:gd fmla="val 75976" name="adj1"/>
              <a:gd fmla="val 366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May</a:t>
            </a:r>
            <a:endParaRPr/>
          </a:p>
          <a:p>
            <a:pPr indent="0" lvl="0" marL="0" marR="0" rtl="0" algn="ctr">
              <a:spcBef>
                <a:spcPts val="0"/>
              </a:spcBef>
              <a:spcAft>
                <a:spcPts val="0"/>
              </a:spcAft>
              <a:buNone/>
            </a:pPr>
            <a:r>
              <a:rPr b="1" i="0" lang="en-US" sz="1800" u="none" cap="none" strike="noStrike">
                <a:solidFill>
                  <a:srgbClr val="323F4F"/>
                </a:solidFill>
                <a:latin typeface="Calibri"/>
                <a:ea typeface="Calibri"/>
                <a:cs typeface="Calibri"/>
                <a:sym typeface="Calibri"/>
              </a:rPr>
              <a:t>2011</a:t>
            </a:r>
            <a:endParaRPr/>
          </a:p>
        </p:txBody>
      </p:sp>
      <p:sp>
        <p:nvSpPr>
          <p:cNvPr id="136" name="Google Shape;136;p6"/>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37" name="Google Shape;137;p6"/>
          <p:cNvSpPr txBox="1"/>
          <p:nvPr/>
        </p:nvSpPr>
        <p:spPr>
          <a:xfrm>
            <a:off x="3929065" y="1880831"/>
            <a:ext cx="5703293"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DF2"/>
                </a:solidFill>
                <a:latin typeface="Calibri"/>
                <a:ea typeface="Calibri"/>
                <a:cs typeface="Calibri"/>
                <a:sym typeface="Calibri"/>
              </a:rPr>
              <a:t>– technological advancement and biological breakthroughs</a:t>
            </a:r>
            <a:endParaRPr/>
          </a:p>
          <a:p>
            <a:pPr indent="0" lvl="0" marL="0" marR="0" rtl="0" algn="l">
              <a:spcBef>
                <a:spcPts val="0"/>
              </a:spcBef>
              <a:spcAft>
                <a:spcPts val="0"/>
              </a:spcAft>
              <a:buNone/>
            </a:pPr>
            <a:r>
              <a:t/>
            </a:r>
            <a:endParaRPr sz="1600">
              <a:solidFill>
                <a:srgbClr val="FFFDF2"/>
              </a:solidFill>
              <a:latin typeface="Calibri"/>
              <a:ea typeface="Calibri"/>
              <a:cs typeface="Calibri"/>
              <a:sym typeface="Calibri"/>
            </a:endParaRPr>
          </a:p>
          <a:p>
            <a:pPr indent="0" lvl="0" marL="0" marR="0" rtl="0" algn="l">
              <a:spcBef>
                <a:spcPts val="0"/>
              </a:spcBef>
              <a:spcAft>
                <a:spcPts val="0"/>
              </a:spcAft>
              <a:buNone/>
            </a:pPr>
            <a:r>
              <a:t/>
            </a:r>
            <a:endParaRPr sz="1800">
              <a:solidFill>
                <a:srgbClr val="FFFDF2"/>
              </a:solidFill>
              <a:latin typeface="Calibri"/>
              <a:ea typeface="Calibri"/>
              <a:cs typeface="Calibri"/>
              <a:sym typeface="Calibri"/>
            </a:endParaRPr>
          </a:p>
          <a:p>
            <a:pPr indent="0" lvl="0" marL="0" marR="0" rtl="0" algn="l">
              <a:spcBef>
                <a:spcPts val="0"/>
              </a:spcBef>
              <a:spcAft>
                <a:spcPts val="0"/>
              </a:spcAft>
              <a:buNone/>
            </a:pPr>
            <a:r>
              <a:t/>
            </a:r>
            <a:endParaRPr sz="1800">
              <a:solidFill>
                <a:srgbClr val="FFFDF2"/>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6"/>
          <p:cNvSpPr txBox="1"/>
          <p:nvPr/>
        </p:nvSpPr>
        <p:spPr>
          <a:xfrm>
            <a:off x="3725996" y="2374749"/>
            <a:ext cx="4571060"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DF2"/>
                </a:solidFill>
                <a:latin typeface="Calibri"/>
                <a:ea typeface="Calibri"/>
                <a:cs typeface="Calibri"/>
                <a:sym typeface="Calibri"/>
              </a:rPr>
              <a:t>– sequencing reactions happen simultaneously</a:t>
            </a:r>
            <a:endParaRPr/>
          </a:p>
          <a:p>
            <a:pPr indent="0" lvl="0" marL="0" marR="0" rtl="0" algn="l">
              <a:spcBef>
                <a:spcPts val="0"/>
              </a:spcBef>
              <a:spcAft>
                <a:spcPts val="0"/>
              </a:spcAft>
              <a:buNone/>
            </a:pPr>
            <a:r>
              <a:t/>
            </a:r>
            <a:endParaRPr sz="1600">
              <a:solidFill>
                <a:srgbClr val="FFFDF2"/>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6"/>
          <p:cNvSpPr/>
          <p:nvPr/>
        </p:nvSpPr>
        <p:spPr>
          <a:xfrm>
            <a:off x="3607038" y="2904455"/>
            <a:ext cx="40121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DF2"/>
                </a:solidFill>
                <a:latin typeface="Calibri"/>
                <a:ea typeface="Calibri"/>
                <a:cs typeface="Calibri"/>
                <a:sym typeface="Calibri"/>
              </a:rPr>
              <a:t>– millions of sequences, rapid processing</a:t>
            </a:r>
            <a:endParaRPr/>
          </a:p>
        </p:txBody>
      </p:sp>
      <p:sp>
        <p:nvSpPr>
          <p:cNvPr id="140" name="Google Shape;140;p6"/>
          <p:cNvSpPr/>
          <p:nvPr/>
        </p:nvSpPr>
        <p:spPr>
          <a:xfrm>
            <a:off x="1405486" y="4922725"/>
            <a:ext cx="1227909" cy="888098"/>
          </a:xfrm>
          <a:prstGeom prst="wedgeRoundRectCallout">
            <a:avLst>
              <a:gd fmla="val -19769" name="adj1"/>
              <a:gd fmla="val 87505" name="adj2"/>
              <a:gd fmla="val 16667" name="adj3"/>
            </a:avLst>
          </a:prstGeom>
          <a:solidFill>
            <a:srgbClr val="FFFDF2">
              <a:alpha val="64705"/>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rgbClr val="323F4F"/>
              </a:solidFill>
              <a:latin typeface="Calibri"/>
              <a:ea typeface="Calibri"/>
              <a:cs typeface="Calibri"/>
              <a:sym typeface="Calibri"/>
            </a:endParaRPr>
          </a:p>
          <a:p>
            <a:pPr indent="0" lvl="0" marL="0" marR="0" rtl="0" algn="ctr">
              <a:spcBef>
                <a:spcPts val="0"/>
              </a:spcBef>
              <a:spcAft>
                <a:spcPts val="0"/>
              </a:spcAft>
              <a:buNone/>
            </a:pPr>
            <a:r>
              <a:rPr b="1" lang="en-US" sz="1800">
                <a:solidFill>
                  <a:srgbClr val="323F4F"/>
                </a:solidFill>
                <a:latin typeface="Calibri"/>
                <a:ea typeface="Calibri"/>
                <a:cs typeface="Calibri"/>
                <a:sym typeface="Calibri"/>
              </a:rPr>
              <a:t>August</a:t>
            </a:r>
            <a:endParaRPr/>
          </a:p>
          <a:p>
            <a:pPr indent="0" lvl="0" marL="0" marR="0" rtl="0" algn="ctr">
              <a:spcBef>
                <a:spcPts val="0"/>
              </a:spcBef>
              <a:spcAft>
                <a:spcPts val="0"/>
              </a:spcAft>
              <a:buNone/>
            </a:pPr>
            <a:r>
              <a:rPr b="1" lang="en-US" sz="1800">
                <a:solidFill>
                  <a:srgbClr val="323F4F"/>
                </a:solidFill>
                <a:latin typeface="Calibri"/>
                <a:ea typeface="Calibri"/>
                <a:cs typeface="Calibri"/>
                <a:sym typeface="Calibri"/>
              </a:rPr>
              <a:t>2005</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Effect filter="fade" transition="in">
                                      <p:cBhvr>
                                        <p:cTn dur="500"/>
                                        <p:tgtEl>
                                          <p:spTgt spid="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animEffect filter="fade" transition="in">
                                      <p:cBhvr>
                                        <p:cTn dur="500"/>
                                        <p:tgtEl>
                                          <p:spTgt spid="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animEffect filter="fade" transition="in">
                                      <p:cBhvr>
                                        <p:cTn dur="500"/>
                                        <p:tgtEl>
                                          <p:spTgt spid="1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7"/>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grpSp>
        <p:nvGrpSpPr>
          <p:cNvPr id="147" name="Google Shape;147;p7"/>
          <p:cNvGrpSpPr/>
          <p:nvPr/>
        </p:nvGrpSpPr>
        <p:grpSpPr>
          <a:xfrm>
            <a:off x="103200" y="2181601"/>
            <a:ext cx="1371600" cy="1371600"/>
            <a:chOff x="0" y="1233488"/>
            <a:chExt cx="914400" cy="914400"/>
          </a:xfrm>
        </p:grpSpPr>
        <p:sp>
          <p:nvSpPr>
            <p:cNvPr id="148" name="Google Shape;148;p7"/>
            <p:cNvSpPr/>
            <p:nvPr/>
          </p:nvSpPr>
          <p:spPr>
            <a:xfrm>
              <a:off x="0" y="1233488"/>
              <a:ext cx="914400" cy="914400"/>
            </a:xfrm>
            <a:prstGeom prst="ellipse">
              <a:avLst/>
            </a:prstGeom>
            <a:solidFill>
              <a:srgbClr val="2E75B5"/>
            </a:solidFill>
            <a:ln cap="flat" cmpd="sng" w="9525">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49" name="Google Shape;149;p7"/>
            <p:cNvPicPr preferRelativeResize="0"/>
            <p:nvPr/>
          </p:nvPicPr>
          <p:blipFill rotWithShape="1">
            <a:blip r:embed="rId3">
              <a:alphaModFix/>
            </a:blip>
            <a:srcRect b="0" l="0" r="0" t="0"/>
            <a:stretch/>
          </p:blipFill>
          <p:spPr>
            <a:xfrm flipH="1" rot="1776582">
              <a:off x="331704" y="1272501"/>
              <a:ext cx="250992" cy="827721"/>
            </a:xfrm>
            <a:prstGeom prst="rect">
              <a:avLst/>
            </a:prstGeom>
            <a:noFill/>
            <a:ln>
              <a:noFill/>
            </a:ln>
          </p:spPr>
        </p:pic>
      </p:grpSp>
      <p:sp>
        <p:nvSpPr>
          <p:cNvPr id="150" name="Google Shape;150;p7"/>
          <p:cNvSpPr/>
          <p:nvPr/>
        </p:nvSpPr>
        <p:spPr>
          <a:xfrm>
            <a:off x="3806326" y="1190826"/>
            <a:ext cx="1371600" cy="137160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rgbClr val="323F4F"/>
                </a:solidFill>
                <a:latin typeface="Calibri"/>
                <a:ea typeface="Calibri"/>
                <a:cs typeface="Calibri"/>
                <a:sym typeface="Calibri"/>
              </a:rPr>
              <a:t>Sanger</a:t>
            </a:r>
            <a:endParaRPr/>
          </a:p>
        </p:txBody>
      </p:sp>
      <p:sp>
        <p:nvSpPr>
          <p:cNvPr id="151" name="Google Shape;151;p7"/>
          <p:cNvSpPr/>
          <p:nvPr/>
        </p:nvSpPr>
        <p:spPr>
          <a:xfrm>
            <a:off x="5804932" y="3056943"/>
            <a:ext cx="274320" cy="27432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152" name="Google Shape;152;p7"/>
          <p:cNvCxnSpPr>
            <a:endCxn id="150" idx="4"/>
          </p:cNvCxnSpPr>
          <p:nvPr/>
        </p:nvCxnSpPr>
        <p:spPr>
          <a:xfrm rot="10800000">
            <a:off x="4492126" y="2562426"/>
            <a:ext cx="0" cy="318600"/>
          </a:xfrm>
          <a:prstGeom prst="straightConnector1">
            <a:avLst/>
          </a:prstGeom>
          <a:noFill/>
          <a:ln cap="flat" cmpd="sng" w="19050">
            <a:solidFill>
              <a:srgbClr val="D8D8D8"/>
            </a:solidFill>
            <a:prstDash val="solid"/>
            <a:miter lim="800000"/>
            <a:headEnd len="sm" w="sm" type="none"/>
            <a:tailEnd len="sm" w="sm" type="none"/>
          </a:ln>
        </p:spPr>
      </p:cxnSp>
      <p:sp>
        <p:nvSpPr>
          <p:cNvPr id="153" name="Google Shape;153;p7"/>
          <p:cNvSpPr txBox="1"/>
          <p:nvPr/>
        </p:nvSpPr>
        <p:spPr>
          <a:xfrm>
            <a:off x="331182" y="3533124"/>
            <a:ext cx="915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FDF2"/>
                </a:solidFill>
                <a:latin typeface="Calibri"/>
                <a:ea typeface="Calibri"/>
                <a:cs typeface="Calibri"/>
                <a:sym typeface="Calibri"/>
              </a:rPr>
              <a:t>1953</a:t>
            </a:r>
            <a:endParaRPr/>
          </a:p>
        </p:txBody>
      </p:sp>
      <p:sp>
        <p:nvSpPr>
          <p:cNvPr id="154" name="Google Shape;154;p7"/>
          <p:cNvSpPr/>
          <p:nvPr/>
        </p:nvSpPr>
        <p:spPr>
          <a:xfrm>
            <a:off x="4034308" y="714079"/>
            <a:ext cx="91563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1977</a:t>
            </a:r>
            <a:endParaRPr/>
          </a:p>
        </p:txBody>
      </p:sp>
      <p:cxnSp>
        <p:nvCxnSpPr>
          <p:cNvPr id="155" name="Google Shape;155;p7"/>
          <p:cNvCxnSpPr/>
          <p:nvPr/>
        </p:nvCxnSpPr>
        <p:spPr>
          <a:xfrm flipH="1" rot="10800000">
            <a:off x="5942092" y="2888826"/>
            <a:ext cx="2250" cy="168892"/>
          </a:xfrm>
          <a:prstGeom prst="straightConnector1">
            <a:avLst/>
          </a:prstGeom>
          <a:noFill/>
          <a:ln cap="flat" cmpd="sng" w="19050">
            <a:solidFill>
              <a:srgbClr val="D8D8D8"/>
            </a:solidFill>
            <a:prstDash val="solid"/>
            <a:miter lim="800000"/>
            <a:headEnd len="sm" w="sm" type="none"/>
            <a:tailEnd len="sm" w="sm" type="none"/>
          </a:ln>
        </p:spPr>
      </p:cxnSp>
      <p:sp>
        <p:nvSpPr>
          <p:cNvPr id="156" name="Google Shape;156;p7"/>
          <p:cNvSpPr/>
          <p:nvPr/>
        </p:nvSpPr>
        <p:spPr>
          <a:xfrm>
            <a:off x="5484274" y="3309207"/>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1986</a:t>
            </a:r>
            <a:endParaRPr/>
          </a:p>
        </p:txBody>
      </p:sp>
      <p:pic>
        <p:nvPicPr>
          <p:cNvPr id="157" name="Google Shape;157;p7"/>
          <p:cNvPicPr preferRelativeResize="0"/>
          <p:nvPr/>
        </p:nvPicPr>
        <p:blipFill rotWithShape="1">
          <a:blip r:embed="rId4">
            <a:alphaModFix/>
          </a:blip>
          <a:srcRect b="5909" l="0" r="0" t="9107"/>
          <a:stretch/>
        </p:blipFill>
        <p:spPr>
          <a:xfrm>
            <a:off x="2756125" y="3835184"/>
            <a:ext cx="3508093" cy="2882103"/>
          </a:xfrm>
          <a:prstGeom prst="rect">
            <a:avLst/>
          </a:prstGeom>
          <a:noFill/>
          <a:ln>
            <a:noFill/>
          </a:ln>
        </p:spPr>
      </p:pic>
      <p:sp>
        <p:nvSpPr>
          <p:cNvPr id="158" name="Google Shape;158;p7"/>
          <p:cNvSpPr/>
          <p:nvPr/>
        </p:nvSpPr>
        <p:spPr>
          <a:xfrm>
            <a:off x="6123482" y="2188071"/>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1990</a:t>
            </a:r>
            <a:endParaRPr/>
          </a:p>
        </p:txBody>
      </p:sp>
      <p:sp>
        <p:nvSpPr>
          <p:cNvPr id="159" name="Google Shape;159;p7"/>
          <p:cNvSpPr/>
          <p:nvPr/>
        </p:nvSpPr>
        <p:spPr>
          <a:xfrm>
            <a:off x="5338688" y="2782785"/>
            <a:ext cx="182880" cy="182880"/>
          </a:xfrm>
          <a:prstGeom prst="star10">
            <a:avLst>
              <a:gd fmla="val 42533" name="adj"/>
              <a:gd fmla="val 105146" name="hf"/>
            </a:avLst>
          </a:prstGeom>
          <a:solidFill>
            <a:srgbClr val="DA134F"/>
          </a:solidFill>
          <a:ln cap="flat" cmpd="sng" w="12700">
            <a:solidFill>
              <a:srgbClr val="FFFD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7"/>
          <p:cNvSpPr/>
          <p:nvPr/>
        </p:nvSpPr>
        <p:spPr>
          <a:xfrm>
            <a:off x="4977137" y="2336658"/>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1983</a:t>
            </a:r>
            <a:endParaRPr/>
          </a:p>
        </p:txBody>
      </p:sp>
      <p:cxnSp>
        <p:nvCxnSpPr>
          <p:cNvPr id="161" name="Google Shape;161;p7"/>
          <p:cNvCxnSpPr/>
          <p:nvPr/>
        </p:nvCxnSpPr>
        <p:spPr>
          <a:xfrm rot="10800000">
            <a:off x="4494916" y="2869571"/>
            <a:ext cx="0" cy="962856"/>
          </a:xfrm>
          <a:prstGeom prst="straightConnector1">
            <a:avLst/>
          </a:prstGeom>
          <a:noFill/>
          <a:ln cap="flat" cmpd="sng" w="19050">
            <a:solidFill>
              <a:srgbClr val="D8D8D8"/>
            </a:solidFill>
            <a:prstDash val="solid"/>
            <a:miter lim="800000"/>
            <a:headEnd len="sm" w="sm" type="none"/>
            <a:tailEnd len="sm" w="sm" type="none"/>
          </a:ln>
        </p:spPr>
      </p:cxnSp>
      <p:sp>
        <p:nvSpPr>
          <p:cNvPr id="162" name="Google Shape;162;p7"/>
          <p:cNvSpPr/>
          <p:nvPr/>
        </p:nvSpPr>
        <p:spPr>
          <a:xfrm>
            <a:off x="6401091" y="2663142"/>
            <a:ext cx="365760" cy="365760"/>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7"/>
          <p:cNvSpPr/>
          <p:nvPr/>
        </p:nvSpPr>
        <p:spPr>
          <a:xfrm rot="8737191">
            <a:off x="6762196" y="2500659"/>
            <a:ext cx="1557087" cy="1112521"/>
          </a:xfrm>
          <a:custGeom>
            <a:rect b="b" l="l" r="r" t="t"/>
            <a:pathLst>
              <a:path extrusionOk="0" h="1112521" w="1557087">
                <a:moveTo>
                  <a:pt x="722544" y="411489"/>
                </a:moveTo>
                <a:cubicBezTo>
                  <a:pt x="1151497" y="460835"/>
                  <a:pt x="1517668" y="801817"/>
                  <a:pt x="1557087" y="1112521"/>
                </a:cubicBezTo>
                <a:cubicBezTo>
                  <a:pt x="1401971" y="1166261"/>
                  <a:pt x="1118811" y="1093776"/>
                  <a:pt x="958646" y="1112521"/>
                </a:cubicBezTo>
                <a:cubicBezTo>
                  <a:pt x="798481" y="1131266"/>
                  <a:pt x="565870" y="1111566"/>
                  <a:pt x="406238" y="1112521"/>
                </a:cubicBezTo>
                <a:cubicBezTo>
                  <a:pt x="448322" y="987031"/>
                  <a:pt x="505967" y="904904"/>
                  <a:pt x="558065" y="776026"/>
                </a:cubicBezTo>
                <a:cubicBezTo>
                  <a:pt x="610163" y="647148"/>
                  <a:pt x="654458" y="569883"/>
                  <a:pt x="722544" y="411489"/>
                </a:cubicBezTo>
                <a:close/>
              </a:path>
              <a:path extrusionOk="0" fill="none" h="1112521" w="1557087">
                <a:moveTo>
                  <a:pt x="0" y="0"/>
                </a:moveTo>
                <a:cubicBezTo>
                  <a:pt x="489658" y="48147"/>
                  <a:pt x="1539568" y="811368"/>
                  <a:pt x="1557087" y="1112521"/>
                </a:cubicBezTo>
              </a:path>
              <a:path extrusionOk="0" fill="none" h="1112521" w="1557087">
                <a:moveTo>
                  <a:pt x="0" y="0"/>
                </a:moveTo>
                <a:cubicBezTo>
                  <a:pt x="464583" y="84959"/>
                  <a:pt x="1533195" y="809516"/>
                  <a:pt x="1557087" y="1112521"/>
                </a:cubicBezTo>
              </a:path>
            </a:pathLst>
          </a:custGeom>
          <a:noFill/>
          <a:ln cap="flat" cmpd="sng" w="28575">
            <a:solidFill>
              <a:srgbClr val="FFFF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7"/>
          <p:cNvSpPr/>
          <p:nvPr/>
        </p:nvSpPr>
        <p:spPr>
          <a:xfrm>
            <a:off x="8373966" y="2663142"/>
            <a:ext cx="365760" cy="365760"/>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7"/>
          <p:cNvSpPr txBox="1"/>
          <p:nvPr/>
        </p:nvSpPr>
        <p:spPr>
          <a:xfrm>
            <a:off x="8680388" y="749502"/>
            <a:ext cx="323941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FDF2"/>
                </a:solidFill>
                <a:latin typeface="Calibri"/>
                <a:ea typeface="Calibri"/>
                <a:cs typeface="Calibri"/>
                <a:sym typeface="Calibri"/>
              </a:rPr>
              <a:t>Human Genome Project</a:t>
            </a:r>
            <a:endParaRPr/>
          </a:p>
          <a:p>
            <a:pPr indent="-285750" lvl="0" marL="285750" marR="0" rtl="0" algn="l">
              <a:spcBef>
                <a:spcPts val="0"/>
              </a:spcBef>
              <a:spcAft>
                <a:spcPts val="0"/>
              </a:spcAft>
              <a:buClr>
                <a:srgbClr val="FFFDF2"/>
              </a:buClr>
              <a:buSzPts val="2400"/>
              <a:buFont typeface="Arial"/>
              <a:buChar char="•"/>
            </a:pPr>
            <a:r>
              <a:rPr lang="en-US" sz="2400">
                <a:solidFill>
                  <a:srgbClr val="FFFDF2"/>
                </a:solidFill>
                <a:latin typeface="Calibri"/>
                <a:ea typeface="Calibri"/>
                <a:cs typeface="Calibri"/>
                <a:sym typeface="Calibri"/>
              </a:rPr>
              <a:t>13 years</a:t>
            </a:r>
            <a:endParaRPr/>
          </a:p>
          <a:p>
            <a:pPr indent="-285750" lvl="0" marL="285750" marR="0" rtl="0" algn="l">
              <a:spcBef>
                <a:spcPts val="0"/>
              </a:spcBef>
              <a:spcAft>
                <a:spcPts val="0"/>
              </a:spcAft>
              <a:buClr>
                <a:srgbClr val="FFFDF2"/>
              </a:buClr>
              <a:buSzPts val="2400"/>
              <a:buFont typeface="Arial"/>
              <a:buChar char="•"/>
            </a:pPr>
            <a:r>
              <a:rPr lang="en-US" sz="2400">
                <a:solidFill>
                  <a:srgbClr val="FFFDF2"/>
                </a:solidFill>
                <a:latin typeface="Calibri"/>
                <a:ea typeface="Calibri"/>
                <a:cs typeface="Calibri"/>
                <a:sym typeface="Calibri"/>
              </a:rPr>
              <a:t>20 labs/groups</a:t>
            </a:r>
            <a:endParaRPr/>
          </a:p>
          <a:p>
            <a:pPr indent="-285750" lvl="0" marL="285750" marR="0" rtl="0" algn="l">
              <a:spcBef>
                <a:spcPts val="0"/>
              </a:spcBef>
              <a:spcAft>
                <a:spcPts val="0"/>
              </a:spcAft>
              <a:buClr>
                <a:srgbClr val="FFFDF2"/>
              </a:buClr>
              <a:buSzPts val="2400"/>
              <a:buFont typeface="Arial"/>
              <a:buChar char="•"/>
            </a:pPr>
            <a:r>
              <a:rPr lang="en-US" sz="2400">
                <a:solidFill>
                  <a:srgbClr val="FFFDF2"/>
                </a:solidFill>
                <a:latin typeface="Calibri"/>
                <a:ea typeface="Calibri"/>
                <a:cs typeface="Calibri"/>
                <a:sym typeface="Calibri"/>
              </a:rPr>
              <a:t>3 billion dollars</a:t>
            </a:r>
            <a:endParaRPr/>
          </a:p>
          <a:p>
            <a:pPr indent="-285750" lvl="0" marL="285750" marR="0" rtl="0" algn="l">
              <a:spcBef>
                <a:spcPts val="0"/>
              </a:spcBef>
              <a:spcAft>
                <a:spcPts val="0"/>
              </a:spcAft>
              <a:buClr>
                <a:srgbClr val="FFFDF2"/>
              </a:buClr>
              <a:buSzPts val="2400"/>
              <a:buFont typeface="Arial"/>
              <a:buChar char="•"/>
            </a:pPr>
            <a:r>
              <a:rPr lang="en-US" sz="2400">
                <a:solidFill>
                  <a:srgbClr val="FFFDF2"/>
                </a:solidFill>
                <a:latin typeface="Calibri"/>
                <a:ea typeface="Calibri"/>
                <a:cs typeface="Calibri"/>
                <a:sym typeface="Calibri"/>
              </a:rPr>
              <a:t>~ 3 billion bp</a:t>
            </a:r>
            <a:endParaRPr/>
          </a:p>
        </p:txBody>
      </p:sp>
      <p:grpSp>
        <p:nvGrpSpPr>
          <p:cNvPr id="166" name="Google Shape;166;p7"/>
          <p:cNvGrpSpPr/>
          <p:nvPr/>
        </p:nvGrpSpPr>
        <p:grpSpPr>
          <a:xfrm>
            <a:off x="1296452" y="2600"/>
            <a:ext cx="2387292" cy="2729165"/>
            <a:chOff x="1296452" y="2600"/>
            <a:chExt cx="2387292" cy="2729165"/>
          </a:xfrm>
        </p:grpSpPr>
        <p:pic>
          <p:nvPicPr>
            <p:cNvPr id="167" name="Google Shape;167;p7"/>
            <p:cNvPicPr preferRelativeResize="0"/>
            <p:nvPr/>
          </p:nvPicPr>
          <p:blipFill rotWithShape="1">
            <a:blip r:embed="rId5">
              <a:alphaModFix/>
            </a:blip>
            <a:srcRect b="0" l="0" r="0" t="0"/>
            <a:stretch/>
          </p:blipFill>
          <p:spPr>
            <a:xfrm>
              <a:off x="1296452" y="262940"/>
              <a:ext cx="2387292" cy="2194560"/>
            </a:xfrm>
            <a:prstGeom prst="rect">
              <a:avLst/>
            </a:prstGeom>
            <a:noFill/>
            <a:ln>
              <a:noFill/>
            </a:ln>
          </p:spPr>
        </p:pic>
        <p:sp>
          <p:nvSpPr>
            <p:cNvPr id="168" name="Google Shape;168;p7"/>
            <p:cNvSpPr/>
            <p:nvPr/>
          </p:nvSpPr>
          <p:spPr>
            <a:xfrm>
              <a:off x="2079878" y="2362433"/>
              <a:ext cx="9492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DF2"/>
                  </a:solidFill>
                  <a:latin typeface="Calibri"/>
                  <a:ea typeface="Calibri"/>
                  <a:cs typeface="Calibri"/>
                  <a:sym typeface="Calibri"/>
                </a:rPr>
                <a:t>5386 bp</a:t>
              </a:r>
              <a:endParaRPr/>
            </a:p>
          </p:txBody>
        </p:sp>
        <p:sp>
          <p:nvSpPr>
            <p:cNvPr id="169" name="Google Shape;169;p7"/>
            <p:cNvSpPr/>
            <p:nvPr/>
          </p:nvSpPr>
          <p:spPr>
            <a:xfrm>
              <a:off x="2142395" y="2600"/>
              <a:ext cx="8242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DF2"/>
                  </a:solidFill>
                  <a:latin typeface="Calibri"/>
                  <a:ea typeface="Calibri"/>
                  <a:cs typeface="Calibri"/>
                  <a:sym typeface="Calibri"/>
                </a:rPr>
                <a:t>φX174</a:t>
              </a:r>
              <a:endParaRPr/>
            </a:p>
          </p:txBody>
        </p:sp>
      </p:grpSp>
      <p:sp>
        <p:nvSpPr>
          <p:cNvPr id="170" name="Google Shape;170;p7"/>
          <p:cNvSpPr/>
          <p:nvPr/>
        </p:nvSpPr>
        <p:spPr>
          <a:xfrm>
            <a:off x="8497389" y="2950039"/>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2003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500"/>
                                        <p:tgtEl>
                                          <p:spTgt spid="165">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500"/>
                                        <p:tgtEl>
                                          <p:spTgt spid="165">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Effect filter="fade" transition="in">
                                      <p:cBhvr>
                                        <p:cTn dur="500"/>
                                        <p:tgtEl>
                                          <p:spTgt spid="165">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Effect filter="fade" transition="in">
                                      <p:cBhvr>
                                        <p:cTn dur="500"/>
                                        <p:tgtEl>
                                          <p:spTgt spid="165">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Effect filter="fade" transition="in">
                                      <p:cBhvr>
                                        <p:cTn dur="500"/>
                                        <p:tgtEl>
                                          <p:spTgt spid="16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cxnSp>
        <p:nvCxnSpPr>
          <p:cNvPr id="175" name="Google Shape;175;p8"/>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grpSp>
        <p:nvGrpSpPr>
          <p:cNvPr id="176" name="Google Shape;176;p8"/>
          <p:cNvGrpSpPr/>
          <p:nvPr/>
        </p:nvGrpSpPr>
        <p:grpSpPr>
          <a:xfrm>
            <a:off x="103200" y="2181601"/>
            <a:ext cx="1371600" cy="1371600"/>
            <a:chOff x="0" y="1233488"/>
            <a:chExt cx="914400" cy="914400"/>
          </a:xfrm>
        </p:grpSpPr>
        <p:sp>
          <p:nvSpPr>
            <p:cNvPr id="177" name="Google Shape;177;p8"/>
            <p:cNvSpPr/>
            <p:nvPr/>
          </p:nvSpPr>
          <p:spPr>
            <a:xfrm>
              <a:off x="0" y="1233488"/>
              <a:ext cx="914400" cy="914400"/>
            </a:xfrm>
            <a:prstGeom prst="ellipse">
              <a:avLst/>
            </a:prstGeom>
            <a:solidFill>
              <a:srgbClr val="2E75B5"/>
            </a:solidFill>
            <a:ln cap="flat" cmpd="sng" w="9525">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78" name="Google Shape;178;p8"/>
            <p:cNvPicPr preferRelativeResize="0"/>
            <p:nvPr/>
          </p:nvPicPr>
          <p:blipFill rotWithShape="1">
            <a:blip r:embed="rId3">
              <a:alphaModFix/>
            </a:blip>
            <a:srcRect b="0" l="0" r="0" t="0"/>
            <a:stretch/>
          </p:blipFill>
          <p:spPr>
            <a:xfrm flipH="1" rot="1776582">
              <a:off x="331704" y="1272501"/>
              <a:ext cx="250992" cy="827721"/>
            </a:xfrm>
            <a:prstGeom prst="rect">
              <a:avLst/>
            </a:prstGeom>
            <a:noFill/>
            <a:ln>
              <a:noFill/>
            </a:ln>
          </p:spPr>
        </p:pic>
      </p:grpSp>
      <p:sp>
        <p:nvSpPr>
          <p:cNvPr id="179" name="Google Shape;179;p8"/>
          <p:cNvSpPr/>
          <p:nvPr/>
        </p:nvSpPr>
        <p:spPr>
          <a:xfrm>
            <a:off x="11115234" y="2412896"/>
            <a:ext cx="914400" cy="914400"/>
          </a:xfrm>
          <a:prstGeom prst="ellipse">
            <a:avLst/>
          </a:prstGeom>
          <a:solidFill>
            <a:srgbClr val="FF0085"/>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2400">
                <a:solidFill>
                  <a:srgbClr val="222A35"/>
                </a:solidFill>
                <a:latin typeface="Calibri"/>
                <a:ea typeface="Calibri"/>
                <a:cs typeface="Calibri"/>
                <a:sym typeface="Calibri"/>
              </a:rPr>
              <a:t>2020</a:t>
            </a:r>
            <a:endParaRPr/>
          </a:p>
        </p:txBody>
      </p:sp>
      <p:sp>
        <p:nvSpPr>
          <p:cNvPr id="180" name="Google Shape;180;p8"/>
          <p:cNvSpPr/>
          <p:nvPr/>
        </p:nvSpPr>
        <p:spPr>
          <a:xfrm>
            <a:off x="3806326" y="1190826"/>
            <a:ext cx="1371600" cy="137160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rgbClr val="323F4F"/>
                </a:solidFill>
                <a:latin typeface="Calibri"/>
                <a:ea typeface="Calibri"/>
                <a:cs typeface="Calibri"/>
                <a:sym typeface="Calibri"/>
              </a:rPr>
              <a:t>Sanger</a:t>
            </a:r>
            <a:endParaRPr/>
          </a:p>
        </p:txBody>
      </p:sp>
      <p:sp>
        <p:nvSpPr>
          <p:cNvPr id="181" name="Google Shape;181;p8"/>
          <p:cNvSpPr/>
          <p:nvPr/>
        </p:nvSpPr>
        <p:spPr>
          <a:xfrm>
            <a:off x="8295997" y="1477748"/>
            <a:ext cx="1097280" cy="10972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Roche</a:t>
            </a:r>
            <a:endParaRPr/>
          </a:p>
          <a:p>
            <a:pPr indent="0" lvl="0" marL="0" marR="0" rtl="0" algn="ctr">
              <a:spcBef>
                <a:spcPts val="0"/>
              </a:spcBef>
              <a:spcAft>
                <a:spcPts val="0"/>
              </a:spcAft>
              <a:buNone/>
            </a:pPr>
            <a:r>
              <a:rPr b="1" lang="en-US" sz="1800">
                <a:solidFill>
                  <a:srgbClr val="323F4F"/>
                </a:solidFill>
                <a:latin typeface="Calibri"/>
                <a:ea typeface="Calibri"/>
                <a:cs typeface="Calibri"/>
                <a:sym typeface="Calibri"/>
              </a:rPr>
              <a:t>454</a:t>
            </a:r>
            <a:endParaRPr/>
          </a:p>
        </p:txBody>
      </p:sp>
      <p:sp>
        <p:nvSpPr>
          <p:cNvPr id="182" name="Google Shape;182;p8"/>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Illumina/Solexa</a:t>
            </a:r>
            <a:endParaRPr b="1" sz="1800">
              <a:solidFill>
                <a:srgbClr val="323F4F"/>
              </a:solidFill>
              <a:latin typeface="Calibri"/>
              <a:ea typeface="Calibri"/>
              <a:cs typeface="Calibri"/>
              <a:sym typeface="Calibri"/>
            </a:endParaRPr>
          </a:p>
        </p:txBody>
      </p:sp>
      <p:cxnSp>
        <p:nvCxnSpPr>
          <p:cNvPr id="183" name="Google Shape;183;p8"/>
          <p:cNvCxnSpPr/>
          <p:nvPr/>
        </p:nvCxnSpPr>
        <p:spPr>
          <a:xfrm flipH="1" rot="10800000">
            <a:off x="9005792" y="2884587"/>
            <a:ext cx="2250" cy="168892"/>
          </a:xfrm>
          <a:prstGeom prst="straightConnector1">
            <a:avLst/>
          </a:prstGeom>
          <a:noFill/>
          <a:ln cap="flat" cmpd="sng" w="19050">
            <a:solidFill>
              <a:srgbClr val="D8D8D8"/>
            </a:solidFill>
            <a:prstDash val="solid"/>
            <a:miter lim="800000"/>
            <a:headEnd len="sm" w="sm" type="none"/>
            <a:tailEnd len="sm" w="sm" type="none"/>
          </a:ln>
        </p:spPr>
      </p:cxnSp>
      <p:cxnSp>
        <p:nvCxnSpPr>
          <p:cNvPr id="184" name="Google Shape;184;p8"/>
          <p:cNvCxnSpPr/>
          <p:nvPr/>
        </p:nvCxnSpPr>
        <p:spPr>
          <a:xfrm rot="10800000">
            <a:off x="8844637" y="2575028"/>
            <a:ext cx="0" cy="286082"/>
          </a:xfrm>
          <a:prstGeom prst="straightConnector1">
            <a:avLst/>
          </a:prstGeom>
          <a:noFill/>
          <a:ln cap="flat" cmpd="sng" w="19050">
            <a:solidFill>
              <a:srgbClr val="D8D8D8"/>
            </a:solidFill>
            <a:prstDash val="solid"/>
            <a:miter lim="800000"/>
            <a:headEnd len="sm" w="sm" type="none"/>
            <a:tailEnd len="sm" w="sm" type="none"/>
          </a:ln>
        </p:spPr>
      </p:cxnSp>
      <p:cxnSp>
        <p:nvCxnSpPr>
          <p:cNvPr id="185" name="Google Shape;185;p8"/>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sp>
        <p:nvSpPr>
          <p:cNvPr id="186" name="Google Shape;186;p8"/>
          <p:cNvSpPr txBox="1"/>
          <p:nvPr/>
        </p:nvSpPr>
        <p:spPr>
          <a:xfrm>
            <a:off x="331182" y="3533124"/>
            <a:ext cx="915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FDF2"/>
                </a:solidFill>
                <a:latin typeface="Calibri"/>
                <a:ea typeface="Calibri"/>
                <a:cs typeface="Calibri"/>
                <a:sym typeface="Calibri"/>
              </a:rPr>
              <a:t>1953</a:t>
            </a:r>
            <a:endParaRPr/>
          </a:p>
        </p:txBody>
      </p:sp>
      <p:sp>
        <p:nvSpPr>
          <p:cNvPr id="187" name="Google Shape;187;p8"/>
          <p:cNvSpPr/>
          <p:nvPr/>
        </p:nvSpPr>
        <p:spPr>
          <a:xfrm>
            <a:off x="4034308" y="714079"/>
            <a:ext cx="91563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1977</a:t>
            </a:r>
            <a:endParaRPr/>
          </a:p>
        </p:txBody>
      </p:sp>
      <p:sp>
        <p:nvSpPr>
          <p:cNvPr id="188" name="Google Shape;188;p8"/>
          <p:cNvSpPr/>
          <p:nvPr/>
        </p:nvSpPr>
        <p:spPr>
          <a:xfrm>
            <a:off x="8747272" y="5043528"/>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2007</a:t>
            </a:r>
            <a:endParaRPr/>
          </a:p>
        </p:txBody>
      </p:sp>
      <p:sp>
        <p:nvSpPr>
          <p:cNvPr id="189" name="Google Shape;189;p8"/>
          <p:cNvSpPr/>
          <p:nvPr/>
        </p:nvSpPr>
        <p:spPr>
          <a:xfrm>
            <a:off x="8386819" y="1004115"/>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2005</a:t>
            </a:r>
            <a:endParaRPr/>
          </a:p>
        </p:txBody>
      </p:sp>
      <p:sp>
        <p:nvSpPr>
          <p:cNvPr id="190" name="Google Shape;190;p8"/>
          <p:cNvSpPr/>
          <p:nvPr/>
        </p:nvSpPr>
        <p:spPr>
          <a:xfrm>
            <a:off x="8911750" y="3045094"/>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1" name="Google Shape;191;p8"/>
          <p:cNvSpPr/>
          <p:nvPr/>
        </p:nvSpPr>
        <p:spPr>
          <a:xfrm>
            <a:off x="9113650" y="3499085"/>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92" name="Google Shape;192;p8"/>
          <p:cNvSpPr/>
          <p:nvPr/>
        </p:nvSpPr>
        <p:spPr>
          <a:xfrm>
            <a:off x="5484274" y="3309207"/>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1986</a:t>
            </a:r>
            <a:endParaRPr/>
          </a:p>
        </p:txBody>
      </p:sp>
      <p:cxnSp>
        <p:nvCxnSpPr>
          <p:cNvPr id="193" name="Google Shape;193;p8"/>
          <p:cNvCxnSpPr>
            <a:endCxn id="194" idx="4"/>
          </p:cNvCxnSpPr>
          <p:nvPr/>
        </p:nvCxnSpPr>
        <p:spPr>
          <a:xfrm rot="10800000">
            <a:off x="9760447" y="1652258"/>
            <a:ext cx="0" cy="1209000"/>
          </a:xfrm>
          <a:prstGeom prst="straightConnector1">
            <a:avLst/>
          </a:prstGeom>
          <a:noFill/>
          <a:ln cap="flat" cmpd="sng" w="19050">
            <a:solidFill>
              <a:srgbClr val="D8D8D8"/>
            </a:solidFill>
            <a:prstDash val="solid"/>
            <a:miter lim="800000"/>
            <a:headEnd len="sm" w="sm" type="none"/>
            <a:tailEnd len="sm" w="sm" type="none"/>
          </a:ln>
        </p:spPr>
      </p:cxnSp>
      <p:cxnSp>
        <p:nvCxnSpPr>
          <p:cNvPr id="195" name="Google Shape;195;p8"/>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196" name="Google Shape;196;p8"/>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197" name="Google Shape;197;p8"/>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194" name="Google Shape;194;p8"/>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PacBio</a:t>
            </a:r>
            <a:endParaRPr/>
          </a:p>
        </p:txBody>
      </p:sp>
      <p:sp>
        <p:nvSpPr>
          <p:cNvPr id="198" name="Google Shape;198;p8"/>
          <p:cNvSpPr/>
          <p:nvPr/>
        </p:nvSpPr>
        <p:spPr>
          <a:xfrm>
            <a:off x="9302629" y="73380"/>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2011</a:t>
            </a:r>
            <a:endParaRPr/>
          </a:p>
        </p:txBody>
      </p:sp>
      <p:sp>
        <p:nvSpPr>
          <p:cNvPr id="199" name="Google Shape;199;p8"/>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00" name="Google Shape;200;p8"/>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01" name="Google Shape;201;p8"/>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202" name="Google Shape;202;p8"/>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203" name="Google Shape;203;p8"/>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4" name="Google Shape;204;p8"/>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5" name="Google Shape;205;p8"/>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06" name="Google Shape;206;p8"/>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207" name="Google Shape;207;p8"/>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08" name="Google Shape;208;p8"/>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209" name="Google Shape;209;p8"/>
          <p:cNvCxnSpPr>
            <a:endCxn id="210" idx="0"/>
          </p:cNvCxnSpPr>
          <p:nvPr/>
        </p:nvCxnSpPr>
        <p:spPr>
          <a:xfrm>
            <a:off x="10249143" y="2864718"/>
            <a:ext cx="0" cy="2414700"/>
          </a:xfrm>
          <a:prstGeom prst="straightConnector1">
            <a:avLst/>
          </a:prstGeom>
          <a:noFill/>
          <a:ln cap="flat" cmpd="sng" w="19050">
            <a:solidFill>
              <a:srgbClr val="D8D8D8"/>
            </a:solidFill>
            <a:prstDash val="solid"/>
            <a:miter lim="800000"/>
            <a:headEnd len="sm" w="sm" type="none"/>
            <a:tailEnd len="sm" w="sm" type="none"/>
          </a:ln>
        </p:spPr>
      </p:cxnSp>
      <p:sp>
        <p:nvSpPr>
          <p:cNvPr id="210" name="Google Shape;210;p8"/>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400">
                <a:solidFill>
                  <a:srgbClr val="323F4F"/>
                </a:solidFill>
                <a:latin typeface="Calibri"/>
                <a:ea typeface="Calibri"/>
                <a:cs typeface="Calibri"/>
                <a:sym typeface="Calibri"/>
              </a:rPr>
              <a:t>Oxford</a:t>
            </a:r>
            <a:endParaRPr/>
          </a:p>
          <a:p>
            <a:pPr indent="0" lvl="0" marL="0" marR="0" rtl="0" algn="ctr">
              <a:spcBef>
                <a:spcPts val="0"/>
              </a:spcBef>
              <a:spcAft>
                <a:spcPts val="0"/>
              </a:spcAft>
              <a:buNone/>
            </a:pPr>
            <a:r>
              <a:rPr b="1" lang="en-US" sz="1400">
                <a:solidFill>
                  <a:srgbClr val="323F4F"/>
                </a:solidFill>
                <a:latin typeface="Calibri"/>
                <a:ea typeface="Calibri"/>
                <a:cs typeface="Calibri"/>
                <a:sym typeface="Calibri"/>
              </a:rPr>
              <a:t>Nanopore</a:t>
            </a:r>
            <a:endParaRPr/>
          </a:p>
        </p:txBody>
      </p:sp>
      <p:sp>
        <p:nvSpPr>
          <p:cNvPr id="211" name="Google Shape;211;p8"/>
          <p:cNvSpPr/>
          <p:nvPr/>
        </p:nvSpPr>
        <p:spPr>
          <a:xfrm>
            <a:off x="9806439" y="6345159"/>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2014</a:t>
            </a:r>
            <a:endParaRPr/>
          </a:p>
        </p:txBody>
      </p:sp>
      <p:sp>
        <p:nvSpPr>
          <p:cNvPr id="212" name="Google Shape;212;p8"/>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13" name="Google Shape;213;p8"/>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214" name="Google Shape;214;p8"/>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215" name="Google Shape;215;p8"/>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6" name="Google Shape;216;p8"/>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17" name="Google Shape;217;p8"/>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218" name="Google Shape;218;p8"/>
          <p:cNvSpPr/>
          <p:nvPr/>
        </p:nvSpPr>
        <p:spPr>
          <a:xfrm>
            <a:off x="5338688" y="2782785"/>
            <a:ext cx="182880" cy="182880"/>
          </a:xfrm>
          <a:prstGeom prst="star10">
            <a:avLst>
              <a:gd fmla="val 42533" name="adj"/>
              <a:gd fmla="val 105146" name="hf"/>
            </a:avLst>
          </a:prstGeom>
          <a:solidFill>
            <a:srgbClr val="DA134F"/>
          </a:solidFill>
          <a:ln cap="flat" cmpd="sng" w="12700">
            <a:solidFill>
              <a:srgbClr val="FFFD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8"/>
          <p:cNvSpPr/>
          <p:nvPr/>
        </p:nvSpPr>
        <p:spPr>
          <a:xfrm>
            <a:off x="4977137" y="2336658"/>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1983</a:t>
            </a:r>
            <a:endParaRPr/>
          </a:p>
        </p:txBody>
      </p:sp>
      <p:sp>
        <p:nvSpPr>
          <p:cNvPr id="220" name="Google Shape;220;p8"/>
          <p:cNvSpPr/>
          <p:nvPr/>
        </p:nvSpPr>
        <p:spPr>
          <a:xfrm>
            <a:off x="10000929" y="2515868"/>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t/>
            </a:r>
            <a:endParaRPr b="1" sz="1400">
              <a:solidFill>
                <a:srgbClr val="C00000"/>
              </a:solidFill>
              <a:latin typeface="Calibri"/>
              <a:ea typeface="Calibri"/>
              <a:cs typeface="Calibri"/>
              <a:sym typeface="Calibri"/>
            </a:endParaRPr>
          </a:p>
        </p:txBody>
      </p:sp>
      <p:sp>
        <p:nvSpPr>
          <p:cNvPr id="221" name="Google Shape;221;p8"/>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22" name="Google Shape;222;p8"/>
          <p:cNvCxnSpPr/>
          <p:nvPr/>
        </p:nvCxnSpPr>
        <p:spPr>
          <a:xfrm rot="10800000">
            <a:off x="4492126" y="2562426"/>
            <a:ext cx="0" cy="318690"/>
          </a:xfrm>
          <a:prstGeom prst="straightConnector1">
            <a:avLst/>
          </a:prstGeom>
          <a:noFill/>
          <a:ln cap="flat" cmpd="sng" w="19050">
            <a:solidFill>
              <a:srgbClr val="D8D8D8"/>
            </a:solidFill>
            <a:prstDash val="solid"/>
            <a:miter lim="800000"/>
            <a:headEnd len="sm" w="sm" type="none"/>
            <a:tailEnd len="sm" w="sm" type="none"/>
          </a:ln>
        </p:spPr>
      </p:cxnSp>
      <p:pic>
        <p:nvPicPr>
          <p:cNvPr id="223" name="Google Shape;223;p8"/>
          <p:cNvPicPr preferRelativeResize="0"/>
          <p:nvPr/>
        </p:nvPicPr>
        <p:blipFill rotWithShape="1">
          <a:blip r:embed="rId4">
            <a:alphaModFix/>
          </a:blip>
          <a:srcRect b="5909" l="0" r="0" t="9107"/>
          <a:stretch/>
        </p:blipFill>
        <p:spPr>
          <a:xfrm>
            <a:off x="2750870" y="3835184"/>
            <a:ext cx="3508093" cy="2882103"/>
          </a:xfrm>
          <a:prstGeom prst="rect">
            <a:avLst/>
          </a:prstGeom>
          <a:noFill/>
          <a:ln>
            <a:noFill/>
          </a:ln>
        </p:spPr>
      </p:pic>
      <p:cxnSp>
        <p:nvCxnSpPr>
          <p:cNvPr id="224" name="Google Shape;224;p8"/>
          <p:cNvCxnSpPr/>
          <p:nvPr/>
        </p:nvCxnSpPr>
        <p:spPr>
          <a:xfrm rot="10800000">
            <a:off x="4490257" y="2869571"/>
            <a:ext cx="0" cy="962856"/>
          </a:xfrm>
          <a:prstGeom prst="straightConnector1">
            <a:avLst/>
          </a:prstGeom>
          <a:noFill/>
          <a:ln cap="flat" cmpd="sng" w="19050">
            <a:solidFill>
              <a:srgbClr val="D8D8D8"/>
            </a:solidFill>
            <a:prstDash val="solid"/>
            <a:miter lim="800000"/>
            <a:headEnd len="sm" w="sm" type="none"/>
            <a:tailEnd len="sm" w="sm" type="none"/>
          </a:ln>
        </p:spPr>
      </p:cxnSp>
      <p:sp>
        <p:nvSpPr>
          <p:cNvPr id="225" name="Google Shape;225;p8"/>
          <p:cNvSpPr/>
          <p:nvPr/>
        </p:nvSpPr>
        <p:spPr>
          <a:xfrm>
            <a:off x="5804932" y="3056943"/>
            <a:ext cx="274320" cy="27432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226" name="Google Shape;226;p8"/>
          <p:cNvCxnSpPr/>
          <p:nvPr/>
        </p:nvCxnSpPr>
        <p:spPr>
          <a:xfrm flipH="1" rot="10800000">
            <a:off x="5942092" y="2888826"/>
            <a:ext cx="2250" cy="168892"/>
          </a:xfrm>
          <a:prstGeom prst="straightConnector1">
            <a:avLst/>
          </a:prstGeom>
          <a:noFill/>
          <a:ln cap="flat" cmpd="sng" w="19050">
            <a:solidFill>
              <a:srgbClr val="D8D8D8"/>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cxnSp>
        <p:nvCxnSpPr>
          <p:cNvPr id="231" name="Google Shape;231;p9"/>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232" name="Google Shape;232;p9"/>
          <p:cNvSpPr/>
          <p:nvPr/>
        </p:nvSpPr>
        <p:spPr>
          <a:xfrm>
            <a:off x="11115234" y="2412896"/>
            <a:ext cx="914400" cy="914400"/>
          </a:xfrm>
          <a:prstGeom prst="ellipse">
            <a:avLst/>
          </a:prstGeom>
          <a:solidFill>
            <a:srgbClr val="FF0085"/>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2400">
                <a:solidFill>
                  <a:srgbClr val="222A35"/>
                </a:solidFill>
                <a:latin typeface="Calibri"/>
                <a:ea typeface="Calibri"/>
                <a:cs typeface="Calibri"/>
                <a:sym typeface="Calibri"/>
              </a:rPr>
              <a:t>2020</a:t>
            </a:r>
            <a:endParaRPr/>
          </a:p>
        </p:txBody>
      </p:sp>
      <p:sp>
        <p:nvSpPr>
          <p:cNvPr id="233" name="Google Shape;233;p9"/>
          <p:cNvSpPr/>
          <p:nvPr/>
        </p:nvSpPr>
        <p:spPr>
          <a:xfrm>
            <a:off x="8295997" y="1477748"/>
            <a:ext cx="1097280" cy="10972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Roche</a:t>
            </a:r>
            <a:endParaRPr/>
          </a:p>
          <a:p>
            <a:pPr indent="0" lvl="0" marL="0" marR="0" rtl="0" algn="ctr">
              <a:spcBef>
                <a:spcPts val="0"/>
              </a:spcBef>
              <a:spcAft>
                <a:spcPts val="0"/>
              </a:spcAft>
              <a:buNone/>
            </a:pPr>
            <a:r>
              <a:rPr b="1" lang="en-US" sz="1800">
                <a:solidFill>
                  <a:srgbClr val="323F4F"/>
                </a:solidFill>
                <a:latin typeface="Calibri"/>
                <a:ea typeface="Calibri"/>
                <a:cs typeface="Calibri"/>
                <a:sym typeface="Calibri"/>
              </a:rPr>
              <a:t>454</a:t>
            </a:r>
            <a:endParaRPr/>
          </a:p>
        </p:txBody>
      </p:sp>
      <p:sp>
        <p:nvSpPr>
          <p:cNvPr id="234" name="Google Shape;234;p9"/>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Illumina/Solexa</a:t>
            </a:r>
            <a:endParaRPr b="1" sz="1800">
              <a:solidFill>
                <a:srgbClr val="323F4F"/>
              </a:solidFill>
              <a:latin typeface="Calibri"/>
              <a:ea typeface="Calibri"/>
              <a:cs typeface="Calibri"/>
              <a:sym typeface="Calibri"/>
            </a:endParaRPr>
          </a:p>
        </p:txBody>
      </p:sp>
      <p:cxnSp>
        <p:nvCxnSpPr>
          <p:cNvPr id="235" name="Google Shape;235;p9"/>
          <p:cNvCxnSpPr/>
          <p:nvPr/>
        </p:nvCxnSpPr>
        <p:spPr>
          <a:xfrm flipH="1" rot="10800000">
            <a:off x="9005792" y="2884587"/>
            <a:ext cx="2250" cy="168892"/>
          </a:xfrm>
          <a:prstGeom prst="straightConnector1">
            <a:avLst/>
          </a:prstGeom>
          <a:noFill/>
          <a:ln cap="flat" cmpd="sng" w="19050">
            <a:solidFill>
              <a:srgbClr val="D8D8D8"/>
            </a:solidFill>
            <a:prstDash val="solid"/>
            <a:miter lim="800000"/>
            <a:headEnd len="sm" w="sm" type="none"/>
            <a:tailEnd len="sm" w="sm" type="none"/>
          </a:ln>
        </p:spPr>
      </p:cxnSp>
      <p:cxnSp>
        <p:nvCxnSpPr>
          <p:cNvPr id="236" name="Google Shape;236;p9"/>
          <p:cNvCxnSpPr/>
          <p:nvPr/>
        </p:nvCxnSpPr>
        <p:spPr>
          <a:xfrm rot="10800000">
            <a:off x="8844637" y="2575028"/>
            <a:ext cx="0" cy="286082"/>
          </a:xfrm>
          <a:prstGeom prst="straightConnector1">
            <a:avLst/>
          </a:prstGeom>
          <a:noFill/>
          <a:ln cap="flat" cmpd="sng" w="19050">
            <a:solidFill>
              <a:srgbClr val="D8D8D8"/>
            </a:solidFill>
            <a:prstDash val="solid"/>
            <a:miter lim="800000"/>
            <a:headEnd len="sm" w="sm" type="none"/>
            <a:tailEnd len="sm" w="sm" type="none"/>
          </a:ln>
        </p:spPr>
      </p:cxnSp>
      <p:cxnSp>
        <p:nvCxnSpPr>
          <p:cNvPr id="237" name="Google Shape;237;p9"/>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sp>
        <p:nvSpPr>
          <p:cNvPr id="238" name="Google Shape;238;p9"/>
          <p:cNvSpPr/>
          <p:nvPr/>
        </p:nvSpPr>
        <p:spPr>
          <a:xfrm>
            <a:off x="8747272" y="5043528"/>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2007</a:t>
            </a:r>
            <a:endParaRPr/>
          </a:p>
        </p:txBody>
      </p:sp>
      <p:sp>
        <p:nvSpPr>
          <p:cNvPr id="239" name="Google Shape;239;p9"/>
          <p:cNvSpPr/>
          <p:nvPr/>
        </p:nvSpPr>
        <p:spPr>
          <a:xfrm>
            <a:off x="8386819" y="1004115"/>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2005</a:t>
            </a:r>
            <a:endParaRPr/>
          </a:p>
        </p:txBody>
      </p:sp>
      <p:sp>
        <p:nvSpPr>
          <p:cNvPr id="240" name="Google Shape;240;p9"/>
          <p:cNvSpPr/>
          <p:nvPr/>
        </p:nvSpPr>
        <p:spPr>
          <a:xfrm>
            <a:off x="8911750" y="3045094"/>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41" name="Google Shape;241;p9"/>
          <p:cNvSpPr/>
          <p:nvPr/>
        </p:nvSpPr>
        <p:spPr>
          <a:xfrm>
            <a:off x="9113650" y="3499085"/>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242" name="Google Shape;242;p9"/>
          <p:cNvCxnSpPr>
            <a:endCxn id="243" idx="4"/>
          </p:cNvCxnSpPr>
          <p:nvPr/>
        </p:nvCxnSpPr>
        <p:spPr>
          <a:xfrm rot="10800000">
            <a:off x="9760447" y="1652258"/>
            <a:ext cx="0" cy="1209000"/>
          </a:xfrm>
          <a:prstGeom prst="straightConnector1">
            <a:avLst/>
          </a:prstGeom>
          <a:noFill/>
          <a:ln cap="flat" cmpd="sng" w="19050">
            <a:solidFill>
              <a:srgbClr val="D8D8D8"/>
            </a:solidFill>
            <a:prstDash val="solid"/>
            <a:miter lim="800000"/>
            <a:headEnd len="sm" w="sm" type="none"/>
            <a:tailEnd len="sm" w="sm" type="none"/>
          </a:ln>
        </p:spPr>
      </p:cxnSp>
      <p:cxnSp>
        <p:nvCxnSpPr>
          <p:cNvPr id="244" name="Google Shape;244;p9"/>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245" name="Google Shape;245;p9"/>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246" name="Google Shape;246;p9"/>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243" name="Google Shape;243;p9"/>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PacBio</a:t>
            </a:r>
            <a:endParaRPr/>
          </a:p>
        </p:txBody>
      </p:sp>
      <p:sp>
        <p:nvSpPr>
          <p:cNvPr id="247" name="Google Shape;247;p9"/>
          <p:cNvSpPr/>
          <p:nvPr/>
        </p:nvSpPr>
        <p:spPr>
          <a:xfrm>
            <a:off x="9302629" y="73380"/>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2011</a:t>
            </a:r>
            <a:endParaRPr/>
          </a:p>
        </p:txBody>
      </p:sp>
      <p:sp>
        <p:nvSpPr>
          <p:cNvPr id="248" name="Google Shape;248;p9"/>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49" name="Google Shape;249;p9"/>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50" name="Google Shape;250;p9"/>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251" name="Google Shape;251;p9"/>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252" name="Google Shape;252;p9"/>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53" name="Google Shape;253;p9"/>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54" name="Google Shape;254;p9"/>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55" name="Google Shape;255;p9"/>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256" name="Google Shape;256;p9"/>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57" name="Google Shape;257;p9"/>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258" name="Google Shape;258;p9"/>
          <p:cNvCxnSpPr>
            <a:endCxn id="259" idx="0"/>
          </p:cNvCxnSpPr>
          <p:nvPr/>
        </p:nvCxnSpPr>
        <p:spPr>
          <a:xfrm>
            <a:off x="10249143" y="2864718"/>
            <a:ext cx="0" cy="2414700"/>
          </a:xfrm>
          <a:prstGeom prst="straightConnector1">
            <a:avLst/>
          </a:prstGeom>
          <a:noFill/>
          <a:ln cap="flat" cmpd="sng" w="19050">
            <a:solidFill>
              <a:srgbClr val="D8D8D8"/>
            </a:solidFill>
            <a:prstDash val="solid"/>
            <a:miter lim="800000"/>
            <a:headEnd len="sm" w="sm" type="none"/>
            <a:tailEnd len="sm" w="sm" type="none"/>
          </a:ln>
        </p:spPr>
      </p:cxnSp>
      <p:sp>
        <p:nvSpPr>
          <p:cNvPr id="259" name="Google Shape;259;p9"/>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400">
                <a:solidFill>
                  <a:srgbClr val="323F4F"/>
                </a:solidFill>
                <a:latin typeface="Calibri"/>
                <a:ea typeface="Calibri"/>
                <a:cs typeface="Calibri"/>
                <a:sym typeface="Calibri"/>
              </a:rPr>
              <a:t>Oxford</a:t>
            </a:r>
            <a:endParaRPr/>
          </a:p>
          <a:p>
            <a:pPr indent="0" lvl="0" marL="0" marR="0" rtl="0" algn="ctr">
              <a:spcBef>
                <a:spcPts val="0"/>
              </a:spcBef>
              <a:spcAft>
                <a:spcPts val="0"/>
              </a:spcAft>
              <a:buNone/>
            </a:pPr>
            <a:r>
              <a:rPr b="1" lang="en-US" sz="1400">
                <a:solidFill>
                  <a:srgbClr val="323F4F"/>
                </a:solidFill>
                <a:latin typeface="Calibri"/>
                <a:ea typeface="Calibri"/>
                <a:cs typeface="Calibri"/>
                <a:sym typeface="Calibri"/>
              </a:rPr>
              <a:t>Nanopore</a:t>
            </a:r>
            <a:endParaRPr/>
          </a:p>
        </p:txBody>
      </p:sp>
      <p:sp>
        <p:nvSpPr>
          <p:cNvPr id="260" name="Google Shape;260;p9"/>
          <p:cNvSpPr/>
          <p:nvPr/>
        </p:nvSpPr>
        <p:spPr>
          <a:xfrm>
            <a:off x="9806439" y="6345159"/>
            <a:ext cx="9156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FDF2"/>
                </a:solidFill>
                <a:latin typeface="Calibri"/>
                <a:ea typeface="Calibri"/>
                <a:cs typeface="Calibri"/>
                <a:sym typeface="Calibri"/>
              </a:rPr>
              <a:t>2014</a:t>
            </a:r>
            <a:endParaRPr/>
          </a:p>
        </p:txBody>
      </p:sp>
      <p:sp>
        <p:nvSpPr>
          <p:cNvPr id="261" name="Google Shape;261;p9"/>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62" name="Google Shape;262;p9"/>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263" name="Google Shape;263;p9"/>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264" name="Google Shape;264;p9"/>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65" name="Google Shape;265;p9"/>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266" name="Google Shape;266;p9"/>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267" name="Google Shape;267;p9"/>
          <p:cNvSpPr/>
          <p:nvPr/>
        </p:nvSpPr>
        <p:spPr>
          <a:xfrm>
            <a:off x="10000929" y="2515868"/>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t/>
            </a:r>
            <a:endParaRPr b="1" sz="1400">
              <a:solidFill>
                <a:srgbClr val="C00000"/>
              </a:solidFill>
              <a:latin typeface="Calibri"/>
              <a:ea typeface="Calibri"/>
              <a:cs typeface="Calibri"/>
              <a:sym typeface="Calibri"/>
            </a:endParaRPr>
          </a:p>
        </p:txBody>
      </p:sp>
      <p:sp>
        <p:nvSpPr>
          <p:cNvPr id="268" name="Google Shape;268;p9"/>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69" name="Google Shape;269;p9"/>
          <p:cNvSpPr/>
          <p:nvPr/>
        </p:nvSpPr>
        <p:spPr>
          <a:xfrm>
            <a:off x="581891" y="374073"/>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9"/>
          <p:cNvSpPr/>
          <p:nvPr/>
        </p:nvSpPr>
        <p:spPr>
          <a:xfrm>
            <a:off x="581891" y="853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p9"/>
          <p:cNvSpPr/>
          <p:nvPr/>
        </p:nvSpPr>
        <p:spPr>
          <a:xfrm>
            <a:off x="734291" y="1006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9"/>
          <p:cNvSpPr/>
          <p:nvPr/>
        </p:nvSpPr>
        <p:spPr>
          <a:xfrm>
            <a:off x="886691" y="1158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9"/>
          <p:cNvSpPr/>
          <p:nvPr/>
        </p:nvSpPr>
        <p:spPr>
          <a:xfrm>
            <a:off x="1039091" y="1310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9"/>
          <p:cNvSpPr/>
          <p:nvPr/>
        </p:nvSpPr>
        <p:spPr>
          <a:xfrm>
            <a:off x="1191491" y="1463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9"/>
          <p:cNvSpPr/>
          <p:nvPr/>
        </p:nvSpPr>
        <p:spPr>
          <a:xfrm>
            <a:off x="1343891" y="1615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9"/>
          <p:cNvSpPr/>
          <p:nvPr/>
        </p:nvSpPr>
        <p:spPr>
          <a:xfrm>
            <a:off x="1496291" y="1768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p9"/>
          <p:cNvSpPr/>
          <p:nvPr/>
        </p:nvSpPr>
        <p:spPr>
          <a:xfrm>
            <a:off x="1648691" y="1920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9"/>
          <p:cNvSpPr/>
          <p:nvPr/>
        </p:nvSpPr>
        <p:spPr>
          <a:xfrm>
            <a:off x="1801091" y="2072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9"/>
          <p:cNvSpPr/>
          <p:nvPr/>
        </p:nvSpPr>
        <p:spPr>
          <a:xfrm>
            <a:off x="1953491" y="2225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9"/>
          <p:cNvSpPr/>
          <p:nvPr/>
        </p:nvSpPr>
        <p:spPr>
          <a:xfrm>
            <a:off x="2105891" y="2377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9"/>
          <p:cNvSpPr/>
          <p:nvPr/>
        </p:nvSpPr>
        <p:spPr>
          <a:xfrm>
            <a:off x="2258291" y="2530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9"/>
          <p:cNvSpPr/>
          <p:nvPr/>
        </p:nvSpPr>
        <p:spPr>
          <a:xfrm>
            <a:off x="2410691" y="2682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9"/>
          <p:cNvSpPr/>
          <p:nvPr/>
        </p:nvSpPr>
        <p:spPr>
          <a:xfrm>
            <a:off x="1884001" y="853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9"/>
          <p:cNvSpPr/>
          <p:nvPr/>
        </p:nvSpPr>
        <p:spPr>
          <a:xfrm>
            <a:off x="2036401" y="1006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9"/>
          <p:cNvSpPr/>
          <p:nvPr/>
        </p:nvSpPr>
        <p:spPr>
          <a:xfrm>
            <a:off x="2188801" y="1158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9"/>
          <p:cNvSpPr/>
          <p:nvPr/>
        </p:nvSpPr>
        <p:spPr>
          <a:xfrm>
            <a:off x="2341201" y="1310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9"/>
          <p:cNvSpPr/>
          <p:nvPr/>
        </p:nvSpPr>
        <p:spPr>
          <a:xfrm>
            <a:off x="2493601" y="1463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9"/>
          <p:cNvSpPr/>
          <p:nvPr/>
        </p:nvSpPr>
        <p:spPr>
          <a:xfrm>
            <a:off x="2646001" y="1615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9"/>
          <p:cNvSpPr/>
          <p:nvPr/>
        </p:nvSpPr>
        <p:spPr>
          <a:xfrm>
            <a:off x="2798401" y="1768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9"/>
          <p:cNvSpPr/>
          <p:nvPr/>
        </p:nvSpPr>
        <p:spPr>
          <a:xfrm>
            <a:off x="2950801" y="1920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9"/>
          <p:cNvSpPr/>
          <p:nvPr/>
        </p:nvSpPr>
        <p:spPr>
          <a:xfrm>
            <a:off x="3103201" y="2072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9"/>
          <p:cNvSpPr/>
          <p:nvPr/>
        </p:nvSpPr>
        <p:spPr>
          <a:xfrm>
            <a:off x="3255601" y="2225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9"/>
          <p:cNvSpPr/>
          <p:nvPr/>
        </p:nvSpPr>
        <p:spPr>
          <a:xfrm>
            <a:off x="3408001" y="2377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9"/>
          <p:cNvSpPr/>
          <p:nvPr/>
        </p:nvSpPr>
        <p:spPr>
          <a:xfrm>
            <a:off x="3560401" y="2530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9"/>
          <p:cNvSpPr/>
          <p:nvPr/>
        </p:nvSpPr>
        <p:spPr>
          <a:xfrm>
            <a:off x="3712801" y="2682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9"/>
          <p:cNvSpPr/>
          <p:nvPr/>
        </p:nvSpPr>
        <p:spPr>
          <a:xfrm>
            <a:off x="3865201" y="2834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9"/>
          <p:cNvSpPr/>
          <p:nvPr/>
        </p:nvSpPr>
        <p:spPr>
          <a:xfrm>
            <a:off x="3088469" y="853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9"/>
          <p:cNvSpPr/>
          <p:nvPr/>
        </p:nvSpPr>
        <p:spPr>
          <a:xfrm>
            <a:off x="3240869" y="1006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9"/>
          <p:cNvSpPr/>
          <p:nvPr/>
        </p:nvSpPr>
        <p:spPr>
          <a:xfrm>
            <a:off x="3393269" y="1158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9"/>
          <p:cNvSpPr/>
          <p:nvPr/>
        </p:nvSpPr>
        <p:spPr>
          <a:xfrm>
            <a:off x="3545669" y="1310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9"/>
          <p:cNvSpPr/>
          <p:nvPr/>
        </p:nvSpPr>
        <p:spPr>
          <a:xfrm>
            <a:off x="3698069" y="1463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9"/>
          <p:cNvSpPr/>
          <p:nvPr/>
        </p:nvSpPr>
        <p:spPr>
          <a:xfrm>
            <a:off x="3850469" y="1615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9"/>
          <p:cNvSpPr/>
          <p:nvPr/>
        </p:nvSpPr>
        <p:spPr>
          <a:xfrm>
            <a:off x="4002869" y="1768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9"/>
          <p:cNvSpPr/>
          <p:nvPr/>
        </p:nvSpPr>
        <p:spPr>
          <a:xfrm>
            <a:off x="4253511" y="8384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9"/>
          <p:cNvSpPr/>
          <p:nvPr/>
        </p:nvSpPr>
        <p:spPr>
          <a:xfrm>
            <a:off x="4405911" y="9908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p9"/>
          <p:cNvSpPr/>
          <p:nvPr/>
        </p:nvSpPr>
        <p:spPr>
          <a:xfrm>
            <a:off x="4558311" y="11432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 name="Google Shape;307;p9"/>
          <p:cNvSpPr/>
          <p:nvPr/>
        </p:nvSpPr>
        <p:spPr>
          <a:xfrm>
            <a:off x="4710711" y="12956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 name="Google Shape;308;p9"/>
          <p:cNvSpPr/>
          <p:nvPr/>
        </p:nvSpPr>
        <p:spPr>
          <a:xfrm>
            <a:off x="4863111" y="14480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 name="Google Shape;309;p9"/>
          <p:cNvSpPr/>
          <p:nvPr/>
        </p:nvSpPr>
        <p:spPr>
          <a:xfrm>
            <a:off x="5457979" y="8384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 name="Google Shape;310;p9"/>
          <p:cNvSpPr/>
          <p:nvPr/>
        </p:nvSpPr>
        <p:spPr>
          <a:xfrm>
            <a:off x="5610379" y="9908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9"/>
          <p:cNvSpPr/>
          <p:nvPr/>
        </p:nvSpPr>
        <p:spPr>
          <a:xfrm>
            <a:off x="5762779" y="11432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 name="Google Shape;312;p9"/>
          <p:cNvSpPr/>
          <p:nvPr/>
        </p:nvSpPr>
        <p:spPr>
          <a:xfrm>
            <a:off x="5915179" y="12956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9"/>
          <p:cNvSpPr/>
          <p:nvPr/>
        </p:nvSpPr>
        <p:spPr>
          <a:xfrm>
            <a:off x="6067579" y="14480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9"/>
          <p:cNvSpPr/>
          <p:nvPr/>
        </p:nvSpPr>
        <p:spPr>
          <a:xfrm>
            <a:off x="3865201" y="334990"/>
            <a:ext cx="69427" cy="2634043"/>
          </a:xfrm>
          <a:prstGeom prst="rect">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9"/>
          <p:cNvSpPr/>
          <p:nvPr/>
        </p:nvSpPr>
        <p:spPr>
          <a:xfrm>
            <a:off x="6817150" y="374074"/>
            <a:ext cx="60401" cy="1180634"/>
          </a:xfrm>
          <a:prstGeom prst="rect">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9"/>
          <p:cNvSpPr/>
          <p:nvPr/>
        </p:nvSpPr>
        <p:spPr>
          <a:xfrm>
            <a:off x="-1143217" y="5064656"/>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9"/>
          <p:cNvSpPr/>
          <p:nvPr/>
        </p:nvSpPr>
        <p:spPr>
          <a:xfrm>
            <a:off x="5610379" y="4156781"/>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9"/>
          <p:cNvSpPr/>
          <p:nvPr/>
        </p:nvSpPr>
        <p:spPr>
          <a:xfrm>
            <a:off x="3237400" y="4383750"/>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9"/>
          <p:cNvSpPr/>
          <p:nvPr/>
        </p:nvSpPr>
        <p:spPr>
          <a:xfrm>
            <a:off x="61251" y="4610719"/>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9"/>
          <p:cNvSpPr/>
          <p:nvPr/>
        </p:nvSpPr>
        <p:spPr>
          <a:xfrm>
            <a:off x="1471998" y="4837688"/>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b="1" lang="en-US">
                <a:solidFill>
                  <a:srgbClr val="FFFDF2"/>
                </a:solidFill>
              </a:rPr>
              <a:t>Core Principles</a:t>
            </a:r>
            <a:endParaRPr/>
          </a:p>
        </p:txBody>
      </p:sp>
      <p:sp>
        <p:nvSpPr>
          <p:cNvPr id="326" name="Google Shape;326;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Library preparation</a:t>
            </a:r>
            <a:endParaRPr/>
          </a:p>
          <a:p>
            <a:pPr indent="-228600" lvl="1" marL="685800" rtl="0" algn="l">
              <a:lnSpc>
                <a:spcPct val="90000"/>
              </a:lnSpc>
              <a:spcBef>
                <a:spcPts val="500"/>
              </a:spcBef>
              <a:spcAft>
                <a:spcPts val="0"/>
              </a:spcAft>
              <a:buClr>
                <a:srgbClr val="FFFDF2"/>
              </a:buClr>
              <a:buSzPts val="2400"/>
              <a:buChar char="•"/>
            </a:pPr>
            <a:r>
              <a:rPr lang="en-US">
                <a:solidFill>
                  <a:srgbClr val="FFFDF2"/>
                </a:solidFill>
              </a:rPr>
              <a:t>Fragmentation, addition of adapters, amplification, size selection</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DNA molecule isolation/fixation (more amplification)</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Release of some signal (light, fluorescence, electrical…)</a:t>
            </a:r>
            <a:endParaRPr/>
          </a:p>
          <a:p>
            <a:pPr indent="-228600" lvl="1" marL="685800" rtl="0" algn="l">
              <a:lnSpc>
                <a:spcPct val="90000"/>
              </a:lnSpc>
              <a:spcBef>
                <a:spcPts val="500"/>
              </a:spcBef>
              <a:spcAft>
                <a:spcPts val="0"/>
              </a:spcAft>
              <a:buClr>
                <a:srgbClr val="FFFDF2"/>
              </a:buClr>
              <a:buSzPts val="2400"/>
              <a:buChar char="•"/>
            </a:pPr>
            <a:r>
              <a:rPr lang="en-US">
                <a:solidFill>
                  <a:srgbClr val="FFFDF2"/>
                </a:solidFill>
              </a:rPr>
              <a:t>Some method of reporting in a controlled way the addition of nucleotides</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Recording of signal in a massively parallel manner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animEffect filter="fade" transition="in">
                                      <p:cBhvr>
                                        <p:cTn dur="500"/>
                                        <p:tgtEl>
                                          <p:spTgt spid="3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animEffect filter="fade" transition="in">
                                      <p:cBhvr>
                                        <p:cTn dur="500"/>
                                        <p:tgtEl>
                                          <p:spTgt spid="3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animEffect filter="fade" transition="in">
                                      <p:cBhvr>
                                        <p:cTn dur="500"/>
                                        <p:tgtEl>
                                          <p:spTgt spid="3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animEffect filter="fade" transition="in">
                                      <p:cBhvr>
                                        <p:cTn dur="500"/>
                                        <p:tgtEl>
                                          <p:spTgt spid="3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xEl>
                                              <p:pRg end="4" st="4"/>
                                            </p:txEl>
                                          </p:spTgt>
                                        </p:tgtEl>
                                        <p:attrNameLst>
                                          <p:attrName>style.visibility</p:attrName>
                                        </p:attrNameLst>
                                      </p:cBhvr>
                                      <p:to>
                                        <p:strVal val="visible"/>
                                      </p:to>
                                    </p:set>
                                    <p:animEffect filter="fade" transition="in">
                                      <p:cBhvr>
                                        <p:cTn dur="500"/>
                                        <p:tgtEl>
                                          <p:spTgt spid="3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xEl>
                                              <p:pRg end="5" st="5"/>
                                            </p:txEl>
                                          </p:spTgt>
                                        </p:tgtEl>
                                        <p:attrNameLst>
                                          <p:attrName>style.visibility</p:attrName>
                                        </p:attrNameLst>
                                      </p:cBhvr>
                                      <p:to>
                                        <p:strVal val="visible"/>
                                      </p:to>
                                    </p:set>
                                    <p:animEffect filter="fade" transition="in">
                                      <p:cBhvr>
                                        <p:cTn dur="500"/>
                                        <p:tgtEl>
                                          <p:spTgt spid="32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cxnSp>
        <p:nvCxnSpPr>
          <p:cNvPr id="332" name="Google Shape;332;p11"/>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333" name="Google Shape;333;p11"/>
          <p:cNvSpPr/>
          <p:nvPr/>
        </p:nvSpPr>
        <p:spPr>
          <a:xfrm>
            <a:off x="-1" y="0"/>
            <a:ext cx="663790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p11"/>
          <p:cNvSpPr txBox="1"/>
          <p:nvPr/>
        </p:nvSpPr>
        <p:spPr>
          <a:xfrm>
            <a:off x="-13252" y="365125"/>
            <a:ext cx="665116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23F4F"/>
              </a:buClr>
              <a:buSzPts val="4800"/>
              <a:buFont typeface="Calibri"/>
              <a:buNone/>
            </a:pPr>
            <a:r>
              <a:rPr b="1" lang="en-US" sz="4800">
                <a:solidFill>
                  <a:srgbClr val="323F4F"/>
                </a:solidFill>
                <a:latin typeface="Calibri"/>
                <a:ea typeface="Calibri"/>
                <a:cs typeface="Calibri"/>
                <a:sym typeface="Calibri"/>
              </a:rPr>
              <a:t>NGS Flavors </a:t>
            </a:r>
            <a:r>
              <a:rPr b="1" lang="en-US" sz="2800">
                <a:solidFill>
                  <a:srgbClr val="323F4F"/>
                </a:solidFill>
                <a:latin typeface="Calibri"/>
                <a:ea typeface="Calibri"/>
                <a:cs typeface="Calibri"/>
                <a:sym typeface="Calibri"/>
              </a:rPr>
              <a:t>- pyrosequencing</a:t>
            </a:r>
            <a:endParaRPr/>
          </a:p>
        </p:txBody>
      </p:sp>
      <p:sp>
        <p:nvSpPr>
          <p:cNvPr id="335" name="Google Shape;335;p11"/>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Illumina/Solexa</a:t>
            </a:r>
            <a:endParaRPr b="1" sz="1800">
              <a:solidFill>
                <a:srgbClr val="323F4F"/>
              </a:solidFill>
              <a:latin typeface="Calibri"/>
              <a:ea typeface="Calibri"/>
              <a:cs typeface="Calibri"/>
              <a:sym typeface="Calibri"/>
            </a:endParaRPr>
          </a:p>
        </p:txBody>
      </p:sp>
      <p:cxnSp>
        <p:nvCxnSpPr>
          <p:cNvPr id="336" name="Google Shape;336;p11"/>
          <p:cNvCxnSpPr/>
          <p:nvPr/>
        </p:nvCxnSpPr>
        <p:spPr>
          <a:xfrm flipH="1" rot="10800000">
            <a:off x="9005792" y="2884587"/>
            <a:ext cx="2250" cy="168892"/>
          </a:xfrm>
          <a:prstGeom prst="straightConnector1">
            <a:avLst/>
          </a:prstGeom>
          <a:noFill/>
          <a:ln cap="flat" cmpd="sng" w="19050">
            <a:solidFill>
              <a:srgbClr val="D8D8D8"/>
            </a:solidFill>
            <a:prstDash val="solid"/>
            <a:miter lim="800000"/>
            <a:headEnd len="sm" w="sm" type="none"/>
            <a:tailEnd len="sm" w="sm" type="none"/>
          </a:ln>
        </p:spPr>
      </p:cxnSp>
      <p:cxnSp>
        <p:nvCxnSpPr>
          <p:cNvPr id="337" name="Google Shape;337;p11"/>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grpSp>
        <p:nvGrpSpPr>
          <p:cNvPr id="338" name="Google Shape;338;p11"/>
          <p:cNvGrpSpPr/>
          <p:nvPr/>
        </p:nvGrpSpPr>
        <p:grpSpPr>
          <a:xfrm>
            <a:off x="8295997" y="1477748"/>
            <a:ext cx="1097280" cy="1383362"/>
            <a:chOff x="8295997" y="1477748"/>
            <a:chExt cx="1097280" cy="1383362"/>
          </a:xfrm>
        </p:grpSpPr>
        <p:sp>
          <p:nvSpPr>
            <p:cNvPr id="339" name="Google Shape;339;p11"/>
            <p:cNvSpPr/>
            <p:nvPr/>
          </p:nvSpPr>
          <p:spPr>
            <a:xfrm>
              <a:off x="8295997" y="1477748"/>
              <a:ext cx="1097280" cy="10972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Roche</a:t>
              </a:r>
              <a:endParaRPr/>
            </a:p>
            <a:p>
              <a:pPr indent="0" lvl="0" marL="0" marR="0" rtl="0" algn="ctr">
                <a:spcBef>
                  <a:spcPts val="0"/>
                </a:spcBef>
                <a:spcAft>
                  <a:spcPts val="0"/>
                </a:spcAft>
                <a:buNone/>
              </a:pPr>
              <a:r>
                <a:rPr b="1" lang="en-US" sz="1800">
                  <a:solidFill>
                    <a:srgbClr val="323F4F"/>
                  </a:solidFill>
                  <a:latin typeface="Calibri"/>
                  <a:ea typeface="Calibri"/>
                  <a:cs typeface="Calibri"/>
                  <a:sym typeface="Calibri"/>
                </a:rPr>
                <a:t>454</a:t>
              </a:r>
              <a:endParaRPr/>
            </a:p>
          </p:txBody>
        </p:sp>
        <p:cxnSp>
          <p:nvCxnSpPr>
            <p:cNvPr id="340" name="Google Shape;340;p11"/>
            <p:cNvCxnSpPr/>
            <p:nvPr/>
          </p:nvCxnSpPr>
          <p:spPr>
            <a:xfrm rot="10800000">
              <a:off x="8844637" y="2575028"/>
              <a:ext cx="0" cy="286082"/>
            </a:xfrm>
            <a:prstGeom prst="straightConnector1">
              <a:avLst/>
            </a:prstGeom>
            <a:noFill/>
            <a:ln cap="flat" cmpd="sng" w="19050">
              <a:solidFill>
                <a:srgbClr val="D8D8D8"/>
              </a:solidFill>
              <a:prstDash val="solid"/>
              <a:miter lim="800000"/>
              <a:headEnd len="sm" w="sm" type="none"/>
              <a:tailEnd len="sm" w="sm" type="none"/>
            </a:ln>
          </p:spPr>
        </p:cxnSp>
      </p:grpSp>
      <p:sp>
        <p:nvSpPr>
          <p:cNvPr id="341" name="Google Shape;341;p11"/>
          <p:cNvSpPr/>
          <p:nvPr/>
        </p:nvSpPr>
        <p:spPr>
          <a:xfrm>
            <a:off x="8911750" y="3045094"/>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42" name="Google Shape;342;p11"/>
          <p:cNvSpPr/>
          <p:nvPr/>
        </p:nvSpPr>
        <p:spPr>
          <a:xfrm>
            <a:off x="9113650" y="3499085"/>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343" name="Google Shape;343;p11"/>
          <p:cNvCxnSpPr/>
          <p:nvPr/>
        </p:nvCxnSpPr>
        <p:spPr>
          <a:xfrm rot="10800000">
            <a:off x="9760447" y="1489622"/>
            <a:ext cx="0" cy="1371600"/>
          </a:xfrm>
          <a:prstGeom prst="straightConnector1">
            <a:avLst/>
          </a:prstGeom>
          <a:noFill/>
          <a:ln cap="flat" cmpd="sng" w="19050">
            <a:solidFill>
              <a:srgbClr val="D8D8D8"/>
            </a:solidFill>
            <a:prstDash val="solid"/>
            <a:miter lim="800000"/>
            <a:headEnd len="sm" w="sm" type="none"/>
            <a:tailEnd len="sm" w="sm" type="none"/>
          </a:ln>
        </p:spPr>
      </p:cxnSp>
      <p:cxnSp>
        <p:nvCxnSpPr>
          <p:cNvPr id="344" name="Google Shape;344;p11"/>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345" name="Google Shape;345;p11"/>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346" name="Google Shape;346;p11"/>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347" name="Google Shape;347;p11"/>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PacBio</a:t>
            </a:r>
            <a:endParaRPr/>
          </a:p>
        </p:txBody>
      </p:sp>
      <p:sp>
        <p:nvSpPr>
          <p:cNvPr id="348" name="Google Shape;348;p11"/>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349" name="Google Shape;349;p11"/>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350" name="Google Shape;350;p11"/>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351" name="Google Shape;351;p11"/>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352" name="Google Shape;352;p11"/>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53" name="Google Shape;353;p11"/>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54" name="Google Shape;354;p11"/>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355" name="Google Shape;355;p11"/>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356" name="Google Shape;356;p11"/>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357" name="Google Shape;357;p11"/>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358" name="Google Shape;358;p11"/>
          <p:cNvCxnSpPr/>
          <p:nvPr/>
        </p:nvCxnSpPr>
        <p:spPr>
          <a:xfrm>
            <a:off x="10249143"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359" name="Google Shape;359;p11"/>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400">
                <a:solidFill>
                  <a:srgbClr val="323F4F"/>
                </a:solidFill>
                <a:latin typeface="Calibri"/>
                <a:ea typeface="Calibri"/>
                <a:cs typeface="Calibri"/>
                <a:sym typeface="Calibri"/>
              </a:rPr>
              <a:t>Oxford</a:t>
            </a:r>
            <a:endParaRPr/>
          </a:p>
          <a:p>
            <a:pPr indent="0" lvl="0" marL="0" marR="0" rtl="0" algn="ctr">
              <a:spcBef>
                <a:spcPts val="0"/>
              </a:spcBef>
              <a:spcAft>
                <a:spcPts val="0"/>
              </a:spcAft>
              <a:buNone/>
            </a:pPr>
            <a:r>
              <a:rPr b="1" lang="en-US" sz="1400">
                <a:solidFill>
                  <a:srgbClr val="323F4F"/>
                </a:solidFill>
                <a:latin typeface="Calibri"/>
                <a:ea typeface="Calibri"/>
                <a:cs typeface="Calibri"/>
                <a:sym typeface="Calibri"/>
              </a:rPr>
              <a:t>Nanopore</a:t>
            </a:r>
            <a:endParaRPr/>
          </a:p>
        </p:txBody>
      </p:sp>
      <p:sp>
        <p:nvSpPr>
          <p:cNvPr id="360" name="Google Shape;360;p11"/>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361" name="Google Shape;361;p11"/>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362" name="Google Shape;362;p11"/>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363" name="Google Shape;363;p11"/>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364" name="Google Shape;364;p11"/>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365" name="Google Shape;365;p11"/>
          <p:cNvSpPr/>
          <p:nvPr/>
        </p:nvSpPr>
        <p:spPr>
          <a:xfrm>
            <a:off x="10000929" y="2515868"/>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t/>
            </a:r>
            <a:endParaRPr b="1" sz="1400">
              <a:solidFill>
                <a:srgbClr val="C00000"/>
              </a:solidFill>
              <a:latin typeface="Calibri"/>
              <a:ea typeface="Calibri"/>
              <a:cs typeface="Calibri"/>
              <a:sym typeface="Calibri"/>
            </a:endParaRPr>
          </a:p>
        </p:txBody>
      </p:sp>
      <p:sp>
        <p:nvSpPr>
          <p:cNvPr id="366" name="Google Shape;366;p11"/>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367" name="Google Shape;367;p11"/>
          <p:cNvPicPr preferRelativeResize="0"/>
          <p:nvPr/>
        </p:nvPicPr>
        <p:blipFill rotWithShape="1">
          <a:blip r:embed="rId3">
            <a:alphaModFix/>
          </a:blip>
          <a:srcRect b="0" l="0" r="0" t="0"/>
          <a:stretch/>
        </p:blipFill>
        <p:spPr>
          <a:xfrm>
            <a:off x="253768" y="1783715"/>
            <a:ext cx="5880332" cy="4823055"/>
          </a:xfrm>
          <a:prstGeom prst="rect">
            <a:avLst/>
          </a:prstGeom>
          <a:noFill/>
          <a:ln>
            <a:noFill/>
          </a:ln>
        </p:spPr>
      </p:pic>
      <p:sp>
        <p:nvSpPr>
          <p:cNvPr id="368" name="Google Shape;368;p11"/>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69" name="Google Shape;369;p11"/>
          <p:cNvSpPr txBox="1"/>
          <p:nvPr/>
        </p:nvSpPr>
        <p:spPr>
          <a:xfrm>
            <a:off x="6623174" y="6458092"/>
            <a:ext cx="39639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 hours, 200-300bp reads, 20 – 30 Mb/h</a:t>
            </a:r>
            <a:endParaRPr/>
          </a:p>
        </p:txBody>
      </p:sp>
      <p:pic>
        <p:nvPicPr>
          <p:cNvPr id="370" name="Google Shape;370;p11"/>
          <p:cNvPicPr preferRelativeResize="0"/>
          <p:nvPr/>
        </p:nvPicPr>
        <p:blipFill rotWithShape="1">
          <a:blip r:embed="rId4">
            <a:alphaModFix/>
          </a:blip>
          <a:srcRect b="0" l="0" r="0" t="0"/>
          <a:stretch/>
        </p:blipFill>
        <p:spPr>
          <a:xfrm>
            <a:off x="6708690" y="5192641"/>
            <a:ext cx="1434378" cy="1195315"/>
          </a:xfrm>
          <a:prstGeom prst="rect">
            <a:avLst/>
          </a:prstGeom>
          <a:noFill/>
          <a:ln>
            <a:noFill/>
          </a:ln>
        </p:spPr>
      </p:pic>
      <p:pic>
        <p:nvPicPr>
          <p:cNvPr id="371" name="Google Shape;371;p11"/>
          <p:cNvPicPr preferRelativeResize="0"/>
          <p:nvPr/>
        </p:nvPicPr>
        <p:blipFill rotWithShape="1">
          <a:blip r:embed="rId5">
            <a:alphaModFix/>
          </a:blip>
          <a:srcRect b="0" l="0" r="0" t="0"/>
          <a:stretch/>
        </p:blipFill>
        <p:spPr>
          <a:xfrm rot="3668443">
            <a:off x="8096826" y="4937946"/>
            <a:ext cx="1213329" cy="12155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500"/>
                                        <p:tgtEl>
                                          <p:spTgt spid="341"/>
                                        </p:tgtEl>
                                      </p:cBhvr>
                                    </p:animEffect>
                                    <p:set>
                                      <p:cBhvr>
                                        <p:cTn dur="1" fill="hold">
                                          <p:stCondLst>
                                            <p:cond delay="500"/>
                                          </p:stCondLst>
                                        </p:cTn>
                                        <p:tgtEl>
                                          <p:spTgt spid="3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6"/>
                                        </p:tgtEl>
                                      </p:cBhvr>
                                    </p:animEffect>
                                    <p:set>
                                      <p:cBhvr>
                                        <p:cTn dur="1" fill="hold">
                                          <p:stCondLst>
                                            <p:cond delay="500"/>
                                          </p:stCondLst>
                                        </p:cTn>
                                        <p:tgtEl>
                                          <p:spTgt spid="3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2"/>
                                        </p:tgtEl>
                                      </p:cBhvr>
                                    </p:animEffect>
                                    <p:set>
                                      <p:cBhvr>
                                        <p:cTn dur="1" fill="hold">
                                          <p:stCondLst>
                                            <p:cond delay="500"/>
                                          </p:stCondLst>
                                        </p:cTn>
                                        <p:tgtEl>
                                          <p:spTgt spid="34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5"/>
                                        </p:tgtEl>
                                      </p:cBhvr>
                                    </p:animEffect>
                                    <p:set>
                                      <p:cBhvr>
                                        <p:cTn dur="1" fill="hold">
                                          <p:stCondLst>
                                            <p:cond delay="500"/>
                                          </p:stCondLst>
                                        </p:cTn>
                                        <p:tgtEl>
                                          <p:spTgt spid="3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cxnSp>
        <p:nvCxnSpPr>
          <p:cNvPr id="376" name="Google Shape;376;p12"/>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377" name="Google Shape;377;p12"/>
          <p:cNvSpPr/>
          <p:nvPr/>
        </p:nvSpPr>
        <p:spPr>
          <a:xfrm>
            <a:off x="-1" y="0"/>
            <a:ext cx="663790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12"/>
          <p:cNvSpPr txBox="1"/>
          <p:nvPr/>
        </p:nvSpPr>
        <p:spPr>
          <a:xfrm>
            <a:off x="-13252" y="365125"/>
            <a:ext cx="665116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23F4F"/>
              </a:buClr>
              <a:buSzPts val="4800"/>
              <a:buFont typeface="Calibri"/>
              <a:buNone/>
            </a:pPr>
            <a:r>
              <a:rPr b="1" lang="en-US" sz="4800">
                <a:solidFill>
                  <a:srgbClr val="323F4F"/>
                </a:solidFill>
                <a:latin typeface="Calibri"/>
                <a:ea typeface="Calibri"/>
                <a:cs typeface="Calibri"/>
                <a:sym typeface="Calibri"/>
              </a:rPr>
              <a:t>NGS Flavors </a:t>
            </a:r>
            <a:r>
              <a:rPr b="1" lang="en-US" sz="2800">
                <a:solidFill>
                  <a:srgbClr val="323F4F"/>
                </a:solidFill>
                <a:latin typeface="Calibri"/>
                <a:ea typeface="Calibri"/>
                <a:cs typeface="Calibri"/>
                <a:sym typeface="Calibri"/>
              </a:rPr>
              <a:t>- bridge amplification</a:t>
            </a:r>
            <a:endParaRPr/>
          </a:p>
        </p:txBody>
      </p:sp>
      <p:pic>
        <p:nvPicPr>
          <p:cNvPr id="379" name="Google Shape;379;p12"/>
          <p:cNvPicPr preferRelativeResize="0"/>
          <p:nvPr/>
        </p:nvPicPr>
        <p:blipFill rotWithShape="1">
          <a:blip r:embed="rId3">
            <a:alphaModFix/>
          </a:blip>
          <a:srcRect b="0" l="0" r="0" t="0"/>
          <a:stretch/>
        </p:blipFill>
        <p:spPr>
          <a:xfrm>
            <a:off x="170720" y="1833172"/>
            <a:ext cx="6307735" cy="4828032"/>
          </a:xfrm>
          <a:prstGeom prst="rect">
            <a:avLst/>
          </a:prstGeom>
          <a:noFill/>
          <a:ln>
            <a:noFill/>
          </a:ln>
        </p:spPr>
      </p:pic>
      <p:grpSp>
        <p:nvGrpSpPr>
          <p:cNvPr id="380" name="Google Shape;380;p12"/>
          <p:cNvGrpSpPr/>
          <p:nvPr/>
        </p:nvGrpSpPr>
        <p:grpSpPr>
          <a:xfrm>
            <a:off x="8656450" y="2888143"/>
            <a:ext cx="1097280" cy="2176513"/>
            <a:chOff x="8656450" y="2888143"/>
            <a:chExt cx="1097280" cy="2176513"/>
          </a:xfrm>
        </p:grpSpPr>
        <p:sp>
          <p:nvSpPr>
            <p:cNvPr id="381" name="Google Shape;381;p12"/>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Illumina/Solexa</a:t>
              </a:r>
              <a:endParaRPr b="1" sz="1800">
                <a:solidFill>
                  <a:srgbClr val="323F4F"/>
                </a:solidFill>
                <a:latin typeface="Calibri"/>
                <a:ea typeface="Calibri"/>
                <a:cs typeface="Calibri"/>
                <a:sym typeface="Calibri"/>
              </a:endParaRPr>
            </a:p>
          </p:txBody>
        </p:sp>
        <p:cxnSp>
          <p:nvCxnSpPr>
            <p:cNvPr id="382" name="Google Shape;382;p12"/>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grpSp>
      <p:cxnSp>
        <p:nvCxnSpPr>
          <p:cNvPr id="383" name="Google Shape;383;p12"/>
          <p:cNvCxnSpPr/>
          <p:nvPr/>
        </p:nvCxnSpPr>
        <p:spPr>
          <a:xfrm rot="10800000">
            <a:off x="9760447" y="1489622"/>
            <a:ext cx="0" cy="1371600"/>
          </a:xfrm>
          <a:prstGeom prst="straightConnector1">
            <a:avLst/>
          </a:prstGeom>
          <a:noFill/>
          <a:ln cap="flat" cmpd="sng" w="19050">
            <a:solidFill>
              <a:srgbClr val="D8D8D8"/>
            </a:solidFill>
            <a:prstDash val="solid"/>
            <a:miter lim="800000"/>
            <a:headEnd len="sm" w="sm" type="none"/>
            <a:tailEnd len="sm" w="sm" type="none"/>
          </a:ln>
        </p:spPr>
      </p:cxnSp>
      <p:cxnSp>
        <p:nvCxnSpPr>
          <p:cNvPr id="384" name="Google Shape;384;p12"/>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385" name="Google Shape;385;p12"/>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386" name="Google Shape;386;p12"/>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387" name="Google Shape;387;p12"/>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PacBio</a:t>
            </a:r>
            <a:endParaRPr/>
          </a:p>
        </p:txBody>
      </p:sp>
      <p:sp>
        <p:nvSpPr>
          <p:cNvPr id="388" name="Google Shape;388;p12"/>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389" name="Google Shape;389;p12"/>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390" name="Google Shape;390;p12"/>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391" name="Google Shape;391;p12"/>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392" name="Google Shape;392;p12"/>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93" name="Google Shape;393;p12"/>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94" name="Google Shape;394;p12"/>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395" name="Google Shape;395;p12"/>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396" name="Google Shape;396;p12"/>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397" name="Google Shape;397;p12"/>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398" name="Google Shape;398;p12"/>
          <p:cNvCxnSpPr/>
          <p:nvPr/>
        </p:nvCxnSpPr>
        <p:spPr>
          <a:xfrm>
            <a:off x="10249143"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399" name="Google Shape;399;p12"/>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400">
                <a:solidFill>
                  <a:srgbClr val="323F4F"/>
                </a:solidFill>
                <a:latin typeface="Calibri"/>
                <a:ea typeface="Calibri"/>
                <a:cs typeface="Calibri"/>
                <a:sym typeface="Calibri"/>
              </a:rPr>
              <a:t>Oxford</a:t>
            </a:r>
            <a:endParaRPr/>
          </a:p>
          <a:p>
            <a:pPr indent="0" lvl="0" marL="0" marR="0" rtl="0" algn="ctr">
              <a:spcBef>
                <a:spcPts val="0"/>
              </a:spcBef>
              <a:spcAft>
                <a:spcPts val="0"/>
              </a:spcAft>
              <a:buNone/>
            </a:pPr>
            <a:r>
              <a:rPr b="1" lang="en-US" sz="1400">
                <a:solidFill>
                  <a:srgbClr val="323F4F"/>
                </a:solidFill>
                <a:latin typeface="Calibri"/>
                <a:ea typeface="Calibri"/>
                <a:cs typeface="Calibri"/>
                <a:sym typeface="Calibri"/>
              </a:rPr>
              <a:t>Nanopore</a:t>
            </a:r>
            <a:endParaRPr/>
          </a:p>
        </p:txBody>
      </p:sp>
      <p:sp>
        <p:nvSpPr>
          <p:cNvPr id="400" name="Google Shape;400;p12"/>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401" name="Google Shape;401;p12"/>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402" name="Google Shape;402;p12"/>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403" name="Google Shape;403;p12"/>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404" name="Google Shape;404;p12"/>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405" name="Google Shape;405;p12"/>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06" name="Google Shape;406;p12"/>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07" name="Google Shape;407;p12"/>
          <p:cNvSpPr txBox="1"/>
          <p:nvPr/>
        </p:nvSpPr>
        <p:spPr>
          <a:xfrm>
            <a:off x="6652204" y="6472606"/>
            <a:ext cx="53497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1 – 3 days, 30-300bp reads, PE or SE, 20 – 67,000 Mb/h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500"/>
                                        <p:tgtEl>
                                          <p:spTgt spid="391"/>
                                        </p:tgtEl>
                                      </p:cBhvr>
                                    </p:animEffect>
                                    <p:set>
                                      <p:cBhvr>
                                        <p:cTn dur="1" fill="hold">
                                          <p:stCondLst>
                                            <p:cond delay="500"/>
                                          </p:stCondLst>
                                        </p:cTn>
                                        <p:tgtEl>
                                          <p:spTgt spid="3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2"/>
                                        </p:tgtEl>
                                      </p:cBhvr>
                                    </p:animEffect>
                                    <p:set>
                                      <p:cBhvr>
                                        <p:cTn dur="1" fill="hold">
                                          <p:stCondLst>
                                            <p:cond delay="500"/>
                                          </p:stCondLst>
                                        </p:cTn>
                                        <p:tgtEl>
                                          <p:spTgt spid="39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3"/>
                                        </p:tgtEl>
                                      </p:cBhvr>
                                    </p:animEffect>
                                    <p:set>
                                      <p:cBhvr>
                                        <p:cTn dur="1" fill="hold">
                                          <p:stCondLst>
                                            <p:cond delay="500"/>
                                          </p:stCondLst>
                                        </p:cTn>
                                        <p:tgtEl>
                                          <p:spTgt spid="3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4"/>
                                        </p:tgtEl>
                                      </p:cBhvr>
                                    </p:animEffect>
                                    <p:set>
                                      <p:cBhvr>
                                        <p:cTn dur="1" fill="hold">
                                          <p:stCondLst>
                                            <p:cond delay="500"/>
                                          </p:stCondLst>
                                        </p:cTn>
                                        <p:tgtEl>
                                          <p:spTgt spid="39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5"/>
                                        </p:tgtEl>
                                      </p:cBhvr>
                                    </p:animEffect>
                                    <p:set>
                                      <p:cBhvr>
                                        <p:cTn dur="1" fill="hold">
                                          <p:stCondLst>
                                            <p:cond delay="500"/>
                                          </p:stCondLst>
                                        </p:cTn>
                                        <p:tgtEl>
                                          <p:spTgt spid="39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6"/>
                                        </p:tgtEl>
                                      </p:cBhvr>
                                    </p:animEffect>
                                    <p:set>
                                      <p:cBhvr>
                                        <p:cTn dur="1" fill="hold">
                                          <p:stCondLst>
                                            <p:cond delay="500"/>
                                          </p:stCondLst>
                                        </p:cTn>
                                        <p:tgtEl>
                                          <p:spTgt spid="39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7"/>
                                        </p:tgtEl>
                                      </p:cBhvr>
                                    </p:animEffect>
                                    <p:set>
                                      <p:cBhvr>
                                        <p:cTn dur="1" fill="hold">
                                          <p:stCondLst>
                                            <p:cond delay="500"/>
                                          </p:stCondLst>
                                        </p:cTn>
                                        <p:tgtEl>
                                          <p:spTgt spid="39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05"/>
                                        </p:tgtEl>
                                      </p:cBhvr>
                                    </p:animEffect>
                                    <p:set>
                                      <p:cBhvr>
                                        <p:cTn dur="1" fill="hold">
                                          <p:stCondLst>
                                            <p:cond delay="500"/>
                                          </p:stCondLst>
                                        </p:cTn>
                                        <p:tgtEl>
                                          <p:spTgt spid="40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descr="Illumina 1.jpg" id="412" name="Google Shape;412;p13"/>
          <p:cNvPicPr preferRelativeResize="0"/>
          <p:nvPr/>
        </p:nvPicPr>
        <p:blipFill rotWithShape="1">
          <a:blip r:embed="rId3">
            <a:alphaModFix/>
          </a:blip>
          <a:srcRect b="55966" l="0" r="0" t="0"/>
          <a:stretch/>
        </p:blipFill>
        <p:spPr>
          <a:xfrm>
            <a:off x="856697" y="284737"/>
            <a:ext cx="5223578" cy="3054491"/>
          </a:xfrm>
          <a:prstGeom prst="rect">
            <a:avLst/>
          </a:prstGeom>
          <a:noFill/>
          <a:ln>
            <a:noFill/>
          </a:ln>
        </p:spPr>
      </p:pic>
      <p:pic>
        <p:nvPicPr>
          <p:cNvPr descr="Illumina 1.jpg" id="413" name="Google Shape;413;p13"/>
          <p:cNvPicPr preferRelativeResize="0"/>
          <p:nvPr/>
        </p:nvPicPr>
        <p:blipFill rotWithShape="1">
          <a:blip r:embed="rId3">
            <a:alphaModFix/>
          </a:blip>
          <a:srcRect b="5898" l="0" r="0" t="49561"/>
          <a:stretch/>
        </p:blipFill>
        <p:spPr>
          <a:xfrm>
            <a:off x="6080275" y="284737"/>
            <a:ext cx="5223578" cy="3054491"/>
          </a:xfrm>
          <a:prstGeom prst="rect">
            <a:avLst/>
          </a:prstGeom>
          <a:noFill/>
          <a:ln>
            <a:noFill/>
          </a:ln>
        </p:spPr>
      </p:pic>
      <p:pic>
        <p:nvPicPr>
          <p:cNvPr descr="Images | Illumina images for general use" id="414" name="Google Shape;414;p13"/>
          <p:cNvPicPr preferRelativeResize="0"/>
          <p:nvPr/>
        </p:nvPicPr>
        <p:blipFill rotWithShape="1">
          <a:blip r:embed="rId4">
            <a:alphaModFix/>
          </a:blip>
          <a:srcRect b="0" l="38600" r="38599" t="0"/>
          <a:stretch/>
        </p:blipFill>
        <p:spPr>
          <a:xfrm rot="5400000">
            <a:off x="1928577" y="3195063"/>
            <a:ext cx="1158240" cy="3302000"/>
          </a:xfrm>
          <a:prstGeom prst="rect">
            <a:avLst/>
          </a:prstGeom>
          <a:noFill/>
          <a:ln>
            <a:noFill/>
          </a:ln>
        </p:spPr>
      </p:pic>
      <p:sp>
        <p:nvSpPr>
          <p:cNvPr id="415" name="Google Shape;415;p13"/>
          <p:cNvSpPr/>
          <p:nvPr/>
        </p:nvSpPr>
        <p:spPr>
          <a:xfrm>
            <a:off x="3748715" y="4500774"/>
            <a:ext cx="91440" cy="91440"/>
          </a:xfrm>
          <a:prstGeom prst="ellipse">
            <a:avLst/>
          </a:prstGeom>
          <a:solidFill>
            <a:srgbClr val="FF008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13"/>
          <p:cNvSpPr/>
          <p:nvPr/>
        </p:nvSpPr>
        <p:spPr>
          <a:xfrm>
            <a:off x="5589173" y="3761280"/>
            <a:ext cx="2286000" cy="2286000"/>
          </a:xfrm>
          <a:prstGeom prst="ellipse">
            <a:avLst/>
          </a:prstGeom>
          <a:solidFill>
            <a:schemeClr val="dk1"/>
          </a:solidFill>
          <a:ln cap="flat" cmpd="sng" w="12700">
            <a:solidFill>
              <a:srgbClr val="FF009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17" name="Google Shape;417;p13"/>
          <p:cNvGrpSpPr/>
          <p:nvPr/>
        </p:nvGrpSpPr>
        <p:grpSpPr>
          <a:xfrm>
            <a:off x="5837875" y="4027430"/>
            <a:ext cx="1788596" cy="1753700"/>
            <a:chOff x="5873448" y="4027320"/>
            <a:chExt cx="1788596" cy="1753700"/>
          </a:xfrm>
        </p:grpSpPr>
        <p:sp>
          <p:nvSpPr>
            <p:cNvPr id="418" name="Google Shape;418;p13"/>
            <p:cNvSpPr/>
            <p:nvPr/>
          </p:nvSpPr>
          <p:spPr>
            <a:xfrm>
              <a:off x="7350111" y="4216012"/>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13"/>
            <p:cNvSpPr/>
            <p:nvPr/>
          </p:nvSpPr>
          <p:spPr>
            <a:xfrm>
              <a:off x="7243370" y="505116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13"/>
            <p:cNvSpPr/>
            <p:nvPr/>
          </p:nvSpPr>
          <p:spPr>
            <a:xfrm>
              <a:off x="6214824" y="4027320"/>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2" name="Google Shape;422;p13"/>
            <p:cNvSpPr/>
            <p:nvPr/>
          </p:nvSpPr>
          <p:spPr>
            <a:xfrm>
              <a:off x="6695597" y="432956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p13"/>
            <p:cNvSpPr/>
            <p:nvPr/>
          </p:nvSpPr>
          <p:spPr>
            <a:xfrm>
              <a:off x="6386968" y="531119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13"/>
            <p:cNvSpPr/>
            <p:nvPr/>
          </p:nvSpPr>
          <p:spPr>
            <a:xfrm>
              <a:off x="6622445" y="563758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 name="Google Shape;425;p13"/>
            <p:cNvSpPr/>
            <p:nvPr/>
          </p:nvSpPr>
          <p:spPr>
            <a:xfrm>
              <a:off x="6768749" y="501458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 name="Google Shape;426;p13"/>
            <p:cNvSpPr/>
            <p:nvPr/>
          </p:nvSpPr>
          <p:spPr>
            <a:xfrm>
              <a:off x="5910024" y="4904280"/>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13"/>
            <p:cNvSpPr/>
            <p:nvPr/>
          </p:nvSpPr>
          <p:spPr>
            <a:xfrm>
              <a:off x="5946600" y="542518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13"/>
            <p:cNvSpPr/>
            <p:nvPr/>
          </p:nvSpPr>
          <p:spPr>
            <a:xfrm>
              <a:off x="5873448" y="467032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 name="Google Shape;429;p13"/>
            <p:cNvSpPr/>
            <p:nvPr/>
          </p:nvSpPr>
          <p:spPr>
            <a:xfrm>
              <a:off x="6141672" y="4536217"/>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1" name="Google Shape;431;p13"/>
            <p:cNvSpPr/>
            <p:nvPr/>
          </p:nvSpPr>
          <p:spPr>
            <a:xfrm>
              <a:off x="6934970" y="4772911"/>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32" name="Google Shape;432;p13"/>
          <p:cNvGrpSpPr/>
          <p:nvPr/>
        </p:nvGrpSpPr>
        <p:grpSpPr>
          <a:xfrm>
            <a:off x="5837875" y="4027430"/>
            <a:ext cx="1788596" cy="1753700"/>
            <a:chOff x="5873448" y="4027320"/>
            <a:chExt cx="1788596" cy="1753700"/>
          </a:xfrm>
        </p:grpSpPr>
        <p:sp>
          <p:nvSpPr>
            <p:cNvPr id="433" name="Google Shape;433;p13"/>
            <p:cNvSpPr/>
            <p:nvPr/>
          </p:nvSpPr>
          <p:spPr>
            <a:xfrm>
              <a:off x="7350111" y="4216012"/>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4" name="Google Shape;434;p13"/>
            <p:cNvSpPr/>
            <p:nvPr/>
          </p:nvSpPr>
          <p:spPr>
            <a:xfrm>
              <a:off x="7243370" y="5051164"/>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13"/>
            <p:cNvSpPr/>
            <p:nvPr/>
          </p:nvSpPr>
          <p:spPr>
            <a:xfrm>
              <a:off x="6214824" y="402732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 name="Google Shape;436;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 name="Google Shape;437;p13"/>
            <p:cNvSpPr/>
            <p:nvPr/>
          </p:nvSpPr>
          <p:spPr>
            <a:xfrm>
              <a:off x="6695597" y="4329564"/>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8" name="Google Shape;438;p13"/>
            <p:cNvSpPr/>
            <p:nvPr/>
          </p:nvSpPr>
          <p:spPr>
            <a:xfrm>
              <a:off x="6386968" y="531119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 name="Google Shape;439;p13"/>
            <p:cNvSpPr/>
            <p:nvPr/>
          </p:nvSpPr>
          <p:spPr>
            <a:xfrm>
              <a:off x="6622445" y="5637589"/>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0" name="Google Shape;440;p13"/>
            <p:cNvSpPr/>
            <p:nvPr/>
          </p:nvSpPr>
          <p:spPr>
            <a:xfrm>
              <a:off x="6768749" y="5014588"/>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1" name="Google Shape;441;p13"/>
            <p:cNvSpPr/>
            <p:nvPr/>
          </p:nvSpPr>
          <p:spPr>
            <a:xfrm>
              <a:off x="5910024" y="4904280"/>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13"/>
            <p:cNvSpPr/>
            <p:nvPr/>
          </p:nvSpPr>
          <p:spPr>
            <a:xfrm>
              <a:off x="5946600" y="5425183"/>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13"/>
            <p:cNvSpPr/>
            <p:nvPr/>
          </p:nvSpPr>
          <p:spPr>
            <a:xfrm>
              <a:off x="5873448" y="467032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13"/>
            <p:cNvSpPr/>
            <p:nvPr/>
          </p:nvSpPr>
          <p:spPr>
            <a:xfrm>
              <a:off x="6141672" y="4536217"/>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13"/>
            <p:cNvSpPr/>
            <p:nvPr/>
          </p:nvSpPr>
          <p:spPr>
            <a:xfrm>
              <a:off x="6934970" y="4772911"/>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47" name="Google Shape;447;p13"/>
          <p:cNvGrpSpPr/>
          <p:nvPr/>
        </p:nvGrpSpPr>
        <p:grpSpPr>
          <a:xfrm>
            <a:off x="5837875" y="4027430"/>
            <a:ext cx="1788596" cy="1753700"/>
            <a:chOff x="5873448" y="4027320"/>
            <a:chExt cx="1788596" cy="1753700"/>
          </a:xfrm>
        </p:grpSpPr>
        <p:sp>
          <p:nvSpPr>
            <p:cNvPr id="448" name="Google Shape;448;p13"/>
            <p:cNvSpPr/>
            <p:nvPr/>
          </p:nvSpPr>
          <p:spPr>
            <a:xfrm>
              <a:off x="7350111" y="4216012"/>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13"/>
            <p:cNvSpPr/>
            <p:nvPr/>
          </p:nvSpPr>
          <p:spPr>
            <a:xfrm>
              <a:off x="7243370" y="5051164"/>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 name="Google Shape;450;p13"/>
            <p:cNvSpPr/>
            <p:nvPr/>
          </p:nvSpPr>
          <p:spPr>
            <a:xfrm>
              <a:off x="6214824" y="402732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 name="Google Shape;452;p13"/>
            <p:cNvSpPr/>
            <p:nvPr/>
          </p:nvSpPr>
          <p:spPr>
            <a:xfrm>
              <a:off x="6695597" y="432956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 name="Google Shape;453;p13"/>
            <p:cNvSpPr/>
            <p:nvPr/>
          </p:nvSpPr>
          <p:spPr>
            <a:xfrm>
              <a:off x="6386968" y="5311194"/>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 name="Google Shape;454;p13"/>
            <p:cNvSpPr/>
            <p:nvPr/>
          </p:nvSpPr>
          <p:spPr>
            <a:xfrm>
              <a:off x="6622445" y="5637589"/>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5" name="Google Shape;455;p13"/>
            <p:cNvSpPr/>
            <p:nvPr/>
          </p:nvSpPr>
          <p:spPr>
            <a:xfrm>
              <a:off x="6768749" y="5014588"/>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 name="Google Shape;456;p13"/>
            <p:cNvSpPr/>
            <p:nvPr/>
          </p:nvSpPr>
          <p:spPr>
            <a:xfrm>
              <a:off x="5910024" y="490428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7" name="Google Shape;457;p13"/>
            <p:cNvSpPr/>
            <p:nvPr/>
          </p:nvSpPr>
          <p:spPr>
            <a:xfrm>
              <a:off x="5946600" y="542518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13"/>
            <p:cNvSpPr/>
            <p:nvPr/>
          </p:nvSpPr>
          <p:spPr>
            <a:xfrm>
              <a:off x="5873448" y="4670323"/>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13"/>
            <p:cNvSpPr/>
            <p:nvPr/>
          </p:nvSpPr>
          <p:spPr>
            <a:xfrm>
              <a:off x="6141672" y="4536217"/>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0" name="Google Shape;460;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p13"/>
            <p:cNvSpPr/>
            <p:nvPr/>
          </p:nvSpPr>
          <p:spPr>
            <a:xfrm>
              <a:off x="6934970" y="4772911"/>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62" name="Google Shape;462;p13"/>
          <p:cNvSpPr/>
          <p:nvPr/>
        </p:nvSpPr>
        <p:spPr>
          <a:xfrm>
            <a:off x="7220777" y="4106481"/>
            <a:ext cx="274320" cy="274320"/>
          </a:xfrm>
          <a:prstGeom prst="rect">
            <a:avLst/>
          </a:prstGeom>
          <a:noFill/>
          <a:ln cap="flat" cmpd="sng" w="12700">
            <a:solidFill>
              <a:srgbClr val="FFFD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13"/>
          <p:cNvSpPr txBox="1"/>
          <p:nvPr/>
        </p:nvSpPr>
        <p:spPr>
          <a:xfrm>
            <a:off x="8306291" y="3874309"/>
            <a:ext cx="109998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FFFDF2"/>
                </a:solidFill>
                <a:latin typeface="Calibri"/>
                <a:ea typeface="Calibri"/>
                <a:cs typeface="Calibri"/>
                <a:sym typeface="Calibri"/>
              </a:rPr>
              <a:t>Sequence</a:t>
            </a:r>
            <a:endParaRPr/>
          </a:p>
        </p:txBody>
      </p:sp>
      <p:grpSp>
        <p:nvGrpSpPr>
          <p:cNvPr id="464" name="Google Shape;464;p13"/>
          <p:cNvGrpSpPr/>
          <p:nvPr/>
        </p:nvGrpSpPr>
        <p:grpSpPr>
          <a:xfrm>
            <a:off x="5837875" y="4027430"/>
            <a:ext cx="1788596" cy="1753700"/>
            <a:chOff x="5873448" y="4027320"/>
            <a:chExt cx="1788596" cy="1753700"/>
          </a:xfrm>
        </p:grpSpPr>
        <p:sp>
          <p:nvSpPr>
            <p:cNvPr id="465" name="Google Shape;465;p13"/>
            <p:cNvSpPr/>
            <p:nvPr/>
          </p:nvSpPr>
          <p:spPr>
            <a:xfrm>
              <a:off x="7350111" y="4216012"/>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6" name="Google Shape;466;p13"/>
            <p:cNvSpPr/>
            <p:nvPr/>
          </p:nvSpPr>
          <p:spPr>
            <a:xfrm>
              <a:off x="7243370" y="5051164"/>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7" name="Google Shape;467;p13"/>
            <p:cNvSpPr/>
            <p:nvPr/>
          </p:nvSpPr>
          <p:spPr>
            <a:xfrm>
              <a:off x="6214824" y="4027320"/>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13"/>
            <p:cNvSpPr/>
            <p:nvPr/>
          </p:nvSpPr>
          <p:spPr>
            <a:xfrm>
              <a:off x="6695597" y="4329564"/>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13"/>
            <p:cNvSpPr/>
            <p:nvPr/>
          </p:nvSpPr>
          <p:spPr>
            <a:xfrm>
              <a:off x="6386968" y="5311194"/>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 name="Google Shape;471;p13"/>
            <p:cNvSpPr/>
            <p:nvPr/>
          </p:nvSpPr>
          <p:spPr>
            <a:xfrm>
              <a:off x="6622445" y="5637589"/>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2" name="Google Shape;472;p13"/>
            <p:cNvSpPr/>
            <p:nvPr/>
          </p:nvSpPr>
          <p:spPr>
            <a:xfrm>
              <a:off x="6768749" y="5014588"/>
              <a:ext cx="73152" cy="73152"/>
            </a:xfrm>
            <a:prstGeom prst="star10">
              <a:avLst>
                <a:gd fmla="val 42533" name="adj"/>
                <a:gd fmla="val 105146" name="hf"/>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3" name="Google Shape;473;p13"/>
            <p:cNvSpPr/>
            <p:nvPr/>
          </p:nvSpPr>
          <p:spPr>
            <a:xfrm>
              <a:off x="5910024" y="490428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 name="Google Shape;474;p13"/>
            <p:cNvSpPr/>
            <p:nvPr/>
          </p:nvSpPr>
          <p:spPr>
            <a:xfrm>
              <a:off x="5946600" y="542518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p13"/>
            <p:cNvSpPr/>
            <p:nvPr/>
          </p:nvSpPr>
          <p:spPr>
            <a:xfrm>
              <a:off x="5873448" y="4670323"/>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6" name="Google Shape;476;p13"/>
            <p:cNvSpPr/>
            <p:nvPr/>
          </p:nvSpPr>
          <p:spPr>
            <a:xfrm>
              <a:off x="6141672" y="4536217"/>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8" name="Google Shape;478;p13"/>
            <p:cNvSpPr/>
            <p:nvPr/>
          </p:nvSpPr>
          <p:spPr>
            <a:xfrm>
              <a:off x="6934970" y="4772911"/>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79" name="Google Shape;479;p13"/>
          <p:cNvSpPr/>
          <p:nvPr/>
        </p:nvSpPr>
        <p:spPr>
          <a:xfrm>
            <a:off x="8306291" y="4145008"/>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DF2"/>
                </a:solidFill>
                <a:latin typeface="Calibri"/>
                <a:ea typeface="Calibri"/>
                <a:cs typeface="Calibri"/>
                <a:sym typeface="Calibri"/>
              </a:rPr>
              <a:t> </a:t>
            </a:r>
            <a:r>
              <a:rPr b="1" lang="en-US" sz="1800">
                <a:solidFill>
                  <a:srgbClr val="FF0000"/>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480" name="Google Shape;480;p13"/>
          <p:cNvSpPr/>
          <p:nvPr/>
        </p:nvSpPr>
        <p:spPr>
          <a:xfrm>
            <a:off x="8564398" y="414500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2882FF"/>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481" name="Google Shape;481;p13"/>
          <p:cNvSpPr/>
          <p:nvPr/>
        </p:nvSpPr>
        <p:spPr>
          <a:xfrm>
            <a:off x="8751973" y="4145008"/>
            <a:ext cx="3321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00"/>
                </a:solidFill>
                <a:latin typeface="Calibri"/>
                <a:ea typeface="Calibri"/>
                <a:cs typeface="Calibri"/>
                <a:sym typeface="Calibri"/>
              </a:rPr>
              <a:t>G</a:t>
            </a:r>
            <a:endParaRPr sz="1800">
              <a:solidFill>
                <a:schemeClr val="dk1"/>
              </a:solidFill>
              <a:latin typeface="Calibri"/>
              <a:ea typeface="Calibri"/>
              <a:cs typeface="Calibri"/>
              <a:sym typeface="Calibri"/>
            </a:endParaRPr>
          </a:p>
        </p:txBody>
      </p:sp>
      <p:sp>
        <p:nvSpPr>
          <p:cNvPr id="482" name="Google Shape;482;p13"/>
          <p:cNvSpPr/>
          <p:nvPr/>
        </p:nvSpPr>
        <p:spPr>
          <a:xfrm>
            <a:off x="8965195" y="4145008"/>
            <a:ext cx="2984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6"/>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416"/>
                                        </p:tgtEl>
                                        <p:attrNameLst>
                                          <p:attrName>style.visibility</p:attrName>
                                        </p:attrNameLst>
                                      </p:cBhvr>
                                      <p:to>
                                        <p:strVal val="visible"/>
                                      </p:to>
                                    </p:set>
                                    <p:anim calcmode="lin" valueType="num">
                                      <p:cBhvr additive="base">
                                        <p:cTn dur="500"/>
                                        <p:tgtEl>
                                          <p:spTgt spid="416"/>
                                        </p:tgtEl>
                                        <p:attrNameLst>
                                          <p:attrName>ppt_w</p:attrName>
                                        </p:attrNameLst>
                                      </p:cBhvr>
                                      <p:tavLst>
                                        <p:tav fmla="" tm="0">
                                          <p:val>
                                            <p:strVal val="0"/>
                                          </p:val>
                                        </p:tav>
                                        <p:tav fmla="" tm="100000">
                                          <p:val>
                                            <p:strVal val="#ppt_w"/>
                                          </p:val>
                                        </p:tav>
                                      </p:tavLst>
                                    </p:anim>
                                    <p:anim calcmode="lin" valueType="num">
                                      <p:cBhvr additive="base">
                                        <p:cTn dur="500"/>
                                        <p:tgtEl>
                                          <p:spTgt spid="41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Illumina Short Reads</a:t>
            </a:r>
            <a:endParaRPr/>
          </a:p>
        </p:txBody>
      </p:sp>
      <p:sp>
        <p:nvSpPr>
          <p:cNvPr id="488" name="Google Shape;48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solidFill>
                  <a:schemeClr val="lt1"/>
                </a:solidFill>
              </a:rPr>
              <a:t>Varying length, increasing with time</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Can be “single end” or “paired end”</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Large output files, storage can be a limiting factor</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fastq file format – sequence (reads) + quality information</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Sequencing design can influence data quantity/quality</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PCR duplicates</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Optical duplicates</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Adapter contamination</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Overrepresented sequences </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Technical and biological replication is critical</a:t>
            </a:r>
            <a:endParaRPr/>
          </a:p>
        </p:txBody>
      </p:sp>
      <p:sp>
        <p:nvSpPr>
          <p:cNvPr id="489" name="Google Shape;489;p14"/>
          <p:cNvSpPr/>
          <p:nvPr/>
        </p:nvSpPr>
        <p:spPr>
          <a:xfrm>
            <a:off x="7823199" y="68103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 name="Google Shape;490;p14"/>
          <p:cNvSpPr/>
          <p:nvPr/>
        </p:nvSpPr>
        <p:spPr>
          <a:xfrm>
            <a:off x="7823200" y="285296"/>
            <a:ext cx="3904343"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 name="Google Shape;491;p14"/>
          <p:cNvSpPr/>
          <p:nvPr/>
        </p:nvSpPr>
        <p:spPr>
          <a:xfrm>
            <a:off x="8621484" y="88572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p14"/>
          <p:cNvSpPr/>
          <p:nvPr/>
        </p:nvSpPr>
        <p:spPr>
          <a:xfrm>
            <a:off x="8831941" y="1090405"/>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3" name="Google Shape;493;p14"/>
          <p:cNvSpPr/>
          <p:nvPr/>
        </p:nvSpPr>
        <p:spPr>
          <a:xfrm>
            <a:off x="7935682" y="170445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4" name="Google Shape;494;p14"/>
          <p:cNvSpPr/>
          <p:nvPr/>
        </p:nvSpPr>
        <p:spPr>
          <a:xfrm>
            <a:off x="8432799" y="1295089"/>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5" name="Google Shape;495;p14"/>
          <p:cNvSpPr/>
          <p:nvPr/>
        </p:nvSpPr>
        <p:spPr>
          <a:xfrm>
            <a:off x="10377714" y="272787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6" name="Google Shape;496;p14"/>
          <p:cNvSpPr/>
          <p:nvPr/>
        </p:nvSpPr>
        <p:spPr>
          <a:xfrm>
            <a:off x="9651999" y="190914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14"/>
          <p:cNvSpPr/>
          <p:nvPr/>
        </p:nvSpPr>
        <p:spPr>
          <a:xfrm>
            <a:off x="10105570" y="2318509"/>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8" name="Google Shape;498;p14"/>
          <p:cNvSpPr/>
          <p:nvPr/>
        </p:nvSpPr>
        <p:spPr>
          <a:xfrm>
            <a:off x="9042399" y="2113825"/>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9" name="Google Shape;499;p14"/>
          <p:cNvSpPr/>
          <p:nvPr/>
        </p:nvSpPr>
        <p:spPr>
          <a:xfrm>
            <a:off x="10377714" y="1499773"/>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14"/>
          <p:cNvSpPr/>
          <p:nvPr/>
        </p:nvSpPr>
        <p:spPr>
          <a:xfrm>
            <a:off x="10051140" y="3137245"/>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1" name="Google Shape;501;p14"/>
          <p:cNvSpPr/>
          <p:nvPr/>
        </p:nvSpPr>
        <p:spPr>
          <a:xfrm>
            <a:off x="9535883" y="293256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14"/>
          <p:cNvSpPr/>
          <p:nvPr/>
        </p:nvSpPr>
        <p:spPr>
          <a:xfrm>
            <a:off x="8222341" y="2523193"/>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14"/>
          <p:cNvSpPr/>
          <p:nvPr/>
        </p:nvSpPr>
        <p:spPr>
          <a:xfrm>
            <a:off x="10203540" y="3341929"/>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4" name="Google Shape;504;p14"/>
          <p:cNvSpPr/>
          <p:nvPr/>
        </p:nvSpPr>
        <p:spPr>
          <a:xfrm>
            <a:off x="10355940" y="3546613"/>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14"/>
          <p:cNvSpPr/>
          <p:nvPr/>
        </p:nvSpPr>
        <p:spPr>
          <a:xfrm>
            <a:off x="10508340" y="375129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6" name="Google Shape;506;p14"/>
          <p:cNvSpPr/>
          <p:nvPr/>
        </p:nvSpPr>
        <p:spPr>
          <a:xfrm>
            <a:off x="10660740" y="395598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 name="Google Shape;507;p14"/>
          <p:cNvSpPr/>
          <p:nvPr/>
        </p:nvSpPr>
        <p:spPr>
          <a:xfrm>
            <a:off x="10871197" y="4160672"/>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animEffect filter="fade" transition="in">
                                      <p:cBhvr>
                                        <p:cTn dur="500"/>
                                        <p:tgtEl>
                                          <p:spTgt spid="4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animEffect filter="fade" transition="in">
                                      <p:cBhvr>
                                        <p:cTn dur="500"/>
                                        <p:tgtEl>
                                          <p:spTgt spid="4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2" st="2"/>
                                            </p:txEl>
                                          </p:spTgt>
                                        </p:tgtEl>
                                        <p:attrNameLst>
                                          <p:attrName>style.visibility</p:attrName>
                                        </p:attrNameLst>
                                      </p:cBhvr>
                                      <p:to>
                                        <p:strVal val="visible"/>
                                      </p:to>
                                    </p:set>
                                    <p:animEffect filter="fade" transition="in">
                                      <p:cBhvr>
                                        <p:cTn dur="500"/>
                                        <p:tgtEl>
                                          <p:spTgt spid="4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3" st="3"/>
                                            </p:txEl>
                                          </p:spTgt>
                                        </p:tgtEl>
                                        <p:attrNameLst>
                                          <p:attrName>style.visibility</p:attrName>
                                        </p:attrNameLst>
                                      </p:cBhvr>
                                      <p:to>
                                        <p:strVal val="visible"/>
                                      </p:to>
                                    </p:set>
                                    <p:animEffect filter="fade" transition="in">
                                      <p:cBhvr>
                                        <p:cTn dur="500"/>
                                        <p:tgtEl>
                                          <p:spTgt spid="4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4" st="4"/>
                                            </p:txEl>
                                          </p:spTgt>
                                        </p:tgtEl>
                                        <p:attrNameLst>
                                          <p:attrName>style.visibility</p:attrName>
                                        </p:attrNameLst>
                                      </p:cBhvr>
                                      <p:to>
                                        <p:strVal val="visible"/>
                                      </p:to>
                                    </p:set>
                                    <p:animEffect filter="fade" transition="in">
                                      <p:cBhvr>
                                        <p:cTn dur="500"/>
                                        <p:tgtEl>
                                          <p:spTgt spid="4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5" st="5"/>
                                            </p:txEl>
                                          </p:spTgt>
                                        </p:tgtEl>
                                        <p:attrNameLst>
                                          <p:attrName>style.visibility</p:attrName>
                                        </p:attrNameLst>
                                      </p:cBhvr>
                                      <p:to>
                                        <p:strVal val="visible"/>
                                      </p:to>
                                    </p:set>
                                    <p:animEffect filter="fade" transition="in">
                                      <p:cBhvr>
                                        <p:cTn dur="500"/>
                                        <p:tgtEl>
                                          <p:spTgt spid="4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6" st="6"/>
                                            </p:txEl>
                                          </p:spTgt>
                                        </p:tgtEl>
                                        <p:attrNameLst>
                                          <p:attrName>style.visibility</p:attrName>
                                        </p:attrNameLst>
                                      </p:cBhvr>
                                      <p:to>
                                        <p:strVal val="visible"/>
                                      </p:to>
                                    </p:set>
                                    <p:animEffect filter="fade" transition="in">
                                      <p:cBhvr>
                                        <p:cTn dur="500"/>
                                        <p:tgtEl>
                                          <p:spTgt spid="4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7" st="7"/>
                                            </p:txEl>
                                          </p:spTgt>
                                        </p:tgtEl>
                                        <p:attrNameLst>
                                          <p:attrName>style.visibility</p:attrName>
                                        </p:attrNameLst>
                                      </p:cBhvr>
                                      <p:to>
                                        <p:strVal val="visible"/>
                                      </p:to>
                                    </p:set>
                                    <p:animEffect filter="fade" transition="in">
                                      <p:cBhvr>
                                        <p:cTn dur="500"/>
                                        <p:tgtEl>
                                          <p:spTgt spid="4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8" st="8"/>
                                            </p:txEl>
                                          </p:spTgt>
                                        </p:tgtEl>
                                        <p:attrNameLst>
                                          <p:attrName>style.visibility</p:attrName>
                                        </p:attrNameLst>
                                      </p:cBhvr>
                                      <p:to>
                                        <p:strVal val="visible"/>
                                      </p:to>
                                    </p:set>
                                    <p:animEffect filter="fade" transition="in">
                                      <p:cBhvr>
                                        <p:cTn dur="500"/>
                                        <p:tgtEl>
                                          <p:spTgt spid="4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9" st="9"/>
                                            </p:txEl>
                                          </p:spTgt>
                                        </p:tgtEl>
                                        <p:attrNameLst>
                                          <p:attrName>style.visibility</p:attrName>
                                        </p:attrNameLst>
                                      </p:cBhvr>
                                      <p:to>
                                        <p:strVal val="visible"/>
                                      </p:to>
                                    </p:set>
                                    <p:animEffect filter="fade" transition="in">
                                      <p:cBhvr>
                                        <p:cTn dur="500"/>
                                        <p:tgtEl>
                                          <p:spTgt spid="48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cxnSp>
        <p:nvCxnSpPr>
          <p:cNvPr id="512" name="Google Shape;512;p15"/>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513" name="Google Shape;513;p15"/>
          <p:cNvSpPr/>
          <p:nvPr/>
        </p:nvSpPr>
        <p:spPr>
          <a:xfrm>
            <a:off x="0" y="0"/>
            <a:ext cx="61341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14" name="Google Shape;514;p15"/>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515" name="Google Shape;515;p15"/>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516" name="Google Shape;516;p15"/>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grpSp>
        <p:nvGrpSpPr>
          <p:cNvPr id="517" name="Google Shape;517;p15"/>
          <p:cNvGrpSpPr/>
          <p:nvPr/>
        </p:nvGrpSpPr>
        <p:grpSpPr>
          <a:xfrm>
            <a:off x="9211807" y="554978"/>
            <a:ext cx="1097280" cy="2306244"/>
            <a:chOff x="9211807" y="554978"/>
            <a:chExt cx="1097280" cy="2306244"/>
          </a:xfrm>
        </p:grpSpPr>
        <p:cxnSp>
          <p:nvCxnSpPr>
            <p:cNvPr id="518" name="Google Shape;518;p15"/>
            <p:cNvCxnSpPr/>
            <p:nvPr/>
          </p:nvCxnSpPr>
          <p:spPr>
            <a:xfrm rot="10800000">
              <a:off x="9760447" y="1489622"/>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519" name="Google Shape;519;p15"/>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PacBio</a:t>
              </a:r>
              <a:endParaRPr/>
            </a:p>
          </p:txBody>
        </p:sp>
      </p:grpSp>
      <p:sp>
        <p:nvSpPr>
          <p:cNvPr id="520" name="Google Shape;520;p15"/>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521" name="Google Shape;521;p15"/>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522" name="Google Shape;522;p15"/>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523" name="Google Shape;523;p15"/>
          <p:cNvCxnSpPr/>
          <p:nvPr/>
        </p:nvCxnSpPr>
        <p:spPr>
          <a:xfrm>
            <a:off x="10264257"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524" name="Google Shape;524;p15"/>
          <p:cNvSpPr/>
          <p:nvPr/>
        </p:nvSpPr>
        <p:spPr>
          <a:xfrm>
            <a:off x="9715617"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MinION</a:t>
            </a:r>
            <a:endParaRPr b="1" sz="1800">
              <a:solidFill>
                <a:srgbClr val="323F4F"/>
              </a:solidFill>
              <a:latin typeface="Calibri"/>
              <a:ea typeface="Calibri"/>
              <a:cs typeface="Calibri"/>
              <a:sym typeface="Calibri"/>
            </a:endParaRPr>
          </a:p>
        </p:txBody>
      </p:sp>
      <p:sp>
        <p:nvSpPr>
          <p:cNvPr id="525" name="Google Shape;525;p15"/>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26" name="Google Shape;526;p15"/>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sp>
        <p:nvSpPr>
          <p:cNvPr id="527" name="Google Shape;527;p15"/>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28" name="Google Shape;528;p15"/>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529" name="Google Shape;529;p15"/>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30" name="Google Shape;530;p15"/>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531" name="Google Shape;531;p15"/>
          <p:cNvSpPr txBox="1"/>
          <p:nvPr>
            <p:ph type="title"/>
          </p:nvPr>
        </p:nvSpPr>
        <p:spPr>
          <a:xfrm>
            <a:off x="0" y="365125"/>
            <a:ext cx="61341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323F4F"/>
              </a:buClr>
              <a:buSzPts val="4800"/>
              <a:buFont typeface="Calibri"/>
              <a:buNone/>
            </a:pPr>
            <a:r>
              <a:rPr b="1" lang="en-US" sz="4800">
                <a:solidFill>
                  <a:srgbClr val="323F4F"/>
                </a:solidFill>
              </a:rPr>
              <a:t>NGS Flavors </a:t>
            </a:r>
            <a:r>
              <a:rPr b="1" lang="en-US" sz="2800">
                <a:solidFill>
                  <a:srgbClr val="323F4F"/>
                </a:solidFill>
              </a:rPr>
              <a:t>- single molecule</a:t>
            </a:r>
            <a:endParaRPr/>
          </a:p>
        </p:txBody>
      </p:sp>
      <p:pic>
        <p:nvPicPr>
          <p:cNvPr descr="Single molecule real time sequencing (SMRT). Pac- Bio. Single molecules of polymerase enzymes are attached to a sequencing matrix where just one DNA molecule will be synthesized. The enzymatic synthesis is followed individually, in real time, to reconstruct the sequence. SMRT technology does not require library construction as a prior step to sequencing, increasing the sequence production rate. Modified from Metzker (2010). " id="532" name="Google Shape;532;p15"/>
          <p:cNvPicPr preferRelativeResize="0"/>
          <p:nvPr/>
        </p:nvPicPr>
        <p:blipFill rotWithShape="1">
          <a:blip r:embed="rId3">
            <a:alphaModFix/>
          </a:blip>
          <a:srcRect b="0" l="0" r="0" t="0"/>
          <a:stretch/>
        </p:blipFill>
        <p:spPr>
          <a:xfrm>
            <a:off x="120581" y="2214834"/>
            <a:ext cx="5905550" cy="4536882"/>
          </a:xfrm>
          <a:prstGeom prst="rect">
            <a:avLst/>
          </a:prstGeom>
          <a:noFill/>
          <a:ln>
            <a:noFill/>
          </a:ln>
        </p:spPr>
      </p:pic>
      <p:sp>
        <p:nvSpPr>
          <p:cNvPr id="533" name="Google Shape;533;p15"/>
          <p:cNvSpPr txBox="1"/>
          <p:nvPr/>
        </p:nvSpPr>
        <p:spPr>
          <a:xfrm>
            <a:off x="8389266" y="867457"/>
            <a:ext cx="3740210" cy="132343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2000"/>
              <a:buFont typeface="Arial"/>
              <a:buChar char="•"/>
            </a:pPr>
            <a:r>
              <a:rPr lang="en-US" sz="2000">
                <a:solidFill>
                  <a:schemeClr val="lt1"/>
                </a:solidFill>
                <a:latin typeface="Calibri"/>
                <a:ea typeface="Calibri"/>
                <a:cs typeface="Calibri"/>
                <a:sym typeface="Calibri"/>
              </a:rPr>
              <a:t>132 Gb of long-read sequences</a:t>
            </a:r>
            <a:endParaRPr/>
          </a:p>
          <a:p>
            <a:pPr indent="-285750" lvl="0" marL="285750" marR="0" rtl="0" algn="l">
              <a:spcBef>
                <a:spcPts val="0"/>
              </a:spcBef>
              <a:spcAft>
                <a:spcPts val="0"/>
              </a:spcAft>
              <a:buClr>
                <a:schemeClr val="lt1"/>
              </a:buClr>
              <a:buSzPts val="2000"/>
              <a:buFont typeface="Arial"/>
              <a:buChar char="•"/>
            </a:pPr>
            <a:r>
              <a:rPr lang="en-US" sz="2000">
                <a:solidFill>
                  <a:schemeClr val="lt1"/>
                </a:solidFill>
                <a:latin typeface="Calibri"/>
                <a:ea typeface="Calibri"/>
                <a:cs typeface="Calibri"/>
                <a:sym typeface="Calibri"/>
              </a:rPr>
              <a:t>36x coverage</a:t>
            </a:r>
            <a:endParaRPr/>
          </a:p>
          <a:p>
            <a:pPr indent="-285750" lvl="0" marL="285750" marR="0" rtl="0" algn="l">
              <a:spcBef>
                <a:spcPts val="0"/>
              </a:spcBef>
              <a:spcAft>
                <a:spcPts val="0"/>
              </a:spcAft>
              <a:buClr>
                <a:schemeClr val="lt1"/>
              </a:buClr>
              <a:buSzPts val="2000"/>
              <a:buFont typeface="Arial"/>
              <a:buChar char="•"/>
            </a:pPr>
            <a:r>
              <a:rPr lang="en-US" sz="2000">
                <a:solidFill>
                  <a:schemeClr val="lt1"/>
                </a:solidFill>
                <a:latin typeface="Calibri"/>
                <a:ea typeface="Calibri"/>
                <a:cs typeface="Calibri"/>
                <a:sym typeface="Calibri"/>
              </a:rPr>
              <a:t>96.8% of conserved genes</a:t>
            </a:r>
            <a:endParaRPr/>
          </a:p>
          <a:p>
            <a:pPr indent="-285750" lvl="0" marL="285750" marR="0" rtl="0" algn="l">
              <a:spcBef>
                <a:spcPts val="0"/>
              </a:spcBef>
              <a:spcAft>
                <a:spcPts val="0"/>
              </a:spcAft>
              <a:buClr>
                <a:schemeClr val="lt1"/>
              </a:buClr>
              <a:buSzPts val="2000"/>
              <a:buFont typeface="Arial"/>
              <a:buChar char="•"/>
            </a:pPr>
            <a:r>
              <a:rPr lang="en-US" sz="2000">
                <a:solidFill>
                  <a:schemeClr val="lt1"/>
                </a:solidFill>
                <a:latin typeface="Calibri"/>
                <a:ea typeface="Calibri"/>
                <a:cs typeface="Calibri"/>
                <a:sym typeface="Calibri"/>
              </a:rPr>
              <a:t>2 microbial symbionts</a:t>
            </a:r>
            <a:endParaRPr/>
          </a:p>
        </p:txBody>
      </p:sp>
      <p:pic>
        <p:nvPicPr>
          <p:cNvPr descr="All life stages of the spotted lanternfly, from egg to adult." id="534" name="Google Shape;534;p15"/>
          <p:cNvPicPr preferRelativeResize="0"/>
          <p:nvPr/>
        </p:nvPicPr>
        <p:blipFill rotWithShape="1">
          <a:blip r:embed="rId4">
            <a:alphaModFix/>
          </a:blip>
          <a:srcRect b="5344" l="2589" r="2484" t="3771"/>
          <a:stretch/>
        </p:blipFill>
        <p:spPr>
          <a:xfrm>
            <a:off x="6213686" y="3119328"/>
            <a:ext cx="5915789" cy="3467741"/>
          </a:xfrm>
          <a:prstGeom prst="rect">
            <a:avLst/>
          </a:prstGeom>
          <a:noFill/>
          <a:ln>
            <a:noFill/>
          </a:ln>
        </p:spPr>
      </p:pic>
      <p:sp>
        <p:nvSpPr>
          <p:cNvPr id="535" name="Google Shape;535;p15"/>
          <p:cNvSpPr txBox="1"/>
          <p:nvPr/>
        </p:nvSpPr>
        <p:spPr>
          <a:xfrm>
            <a:off x="6100660" y="6530662"/>
            <a:ext cx="39655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10-20 hours, 10-30 kb reads, 1300 Mb/h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500"/>
                                        <p:tgtEl>
                                          <p:spTgt spid="520"/>
                                        </p:tgtEl>
                                      </p:cBhvr>
                                    </p:animEffect>
                                    <p:set>
                                      <p:cBhvr>
                                        <p:cTn dur="1" fill="hold">
                                          <p:stCondLst>
                                            <p:cond delay="500"/>
                                          </p:stCondLst>
                                        </p:cTn>
                                        <p:tgtEl>
                                          <p:spTgt spid="52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14"/>
                                        </p:tgtEl>
                                      </p:cBhvr>
                                    </p:animEffect>
                                    <p:set>
                                      <p:cBhvr>
                                        <p:cTn dur="1" fill="hold">
                                          <p:stCondLst>
                                            <p:cond delay="500"/>
                                          </p:stCondLst>
                                        </p:cTn>
                                        <p:tgtEl>
                                          <p:spTgt spid="51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1"/>
                                        </p:tgtEl>
                                      </p:cBhvr>
                                    </p:animEffect>
                                    <p:set>
                                      <p:cBhvr>
                                        <p:cTn dur="1" fill="hold">
                                          <p:stCondLst>
                                            <p:cond delay="500"/>
                                          </p:stCondLst>
                                        </p:cTn>
                                        <p:tgtEl>
                                          <p:spTgt spid="5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15"/>
                                        </p:tgtEl>
                                      </p:cBhvr>
                                    </p:animEffect>
                                    <p:set>
                                      <p:cBhvr>
                                        <p:cTn dur="1" fill="hold">
                                          <p:stCondLst>
                                            <p:cond delay="500"/>
                                          </p:stCondLst>
                                        </p:cTn>
                                        <p:tgtEl>
                                          <p:spTgt spid="5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2"/>
                                        </p:tgtEl>
                                      </p:cBhvr>
                                    </p:animEffect>
                                    <p:set>
                                      <p:cBhvr>
                                        <p:cTn dur="1" fill="hold">
                                          <p:stCondLst>
                                            <p:cond delay="500"/>
                                          </p:stCondLst>
                                        </p:cTn>
                                        <p:tgtEl>
                                          <p:spTgt spid="52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16"/>
                                        </p:tgtEl>
                                      </p:cBhvr>
                                    </p:animEffect>
                                    <p:set>
                                      <p:cBhvr>
                                        <p:cTn dur="1" fill="hold">
                                          <p:stCondLst>
                                            <p:cond delay="500"/>
                                          </p:stCondLst>
                                        </p:cTn>
                                        <p:tgtEl>
                                          <p:spTgt spid="5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cxnSp>
        <p:nvCxnSpPr>
          <p:cNvPr id="540" name="Google Shape;540;p16"/>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541" name="Google Shape;541;p16"/>
          <p:cNvSpPr/>
          <p:nvPr/>
        </p:nvSpPr>
        <p:spPr>
          <a:xfrm>
            <a:off x="0" y="0"/>
            <a:ext cx="61341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16"/>
          <p:cNvSpPr txBox="1"/>
          <p:nvPr/>
        </p:nvSpPr>
        <p:spPr>
          <a:xfrm>
            <a:off x="0" y="365125"/>
            <a:ext cx="61341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23F4F"/>
              </a:buClr>
              <a:buSzPts val="4800"/>
              <a:buFont typeface="Calibri"/>
              <a:buNone/>
            </a:pPr>
            <a:r>
              <a:rPr b="1" lang="en-US" sz="4800">
                <a:solidFill>
                  <a:srgbClr val="323F4F"/>
                </a:solidFill>
                <a:latin typeface="Calibri"/>
                <a:ea typeface="Calibri"/>
                <a:cs typeface="Calibri"/>
                <a:sym typeface="Calibri"/>
              </a:rPr>
              <a:t>NGS Flavors </a:t>
            </a:r>
            <a:r>
              <a:rPr b="1" lang="en-US" sz="2800">
                <a:solidFill>
                  <a:srgbClr val="323F4F"/>
                </a:solidFill>
                <a:latin typeface="Calibri"/>
                <a:ea typeface="Calibri"/>
                <a:cs typeface="Calibri"/>
                <a:sym typeface="Calibri"/>
              </a:rPr>
              <a:t>- nanopore</a:t>
            </a:r>
            <a:endParaRPr/>
          </a:p>
        </p:txBody>
      </p:sp>
      <p:grpSp>
        <p:nvGrpSpPr>
          <p:cNvPr id="543" name="Google Shape;543;p16"/>
          <p:cNvGrpSpPr/>
          <p:nvPr/>
        </p:nvGrpSpPr>
        <p:grpSpPr>
          <a:xfrm>
            <a:off x="9715617" y="2864825"/>
            <a:ext cx="1097280" cy="3511873"/>
            <a:chOff x="9715617" y="2864825"/>
            <a:chExt cx="1097280" cy="3511873"/>
          </a:xfrm>
        </p:grpSpPr>
        <p:cxnSp>
          <p:nvCxnSpPr>
            <p:cNvPr id="544" name="Google Shape;544;p16"/>
            <p:cNvCxnSpPr/>
            <p:nvPr/>
          </p:nvCxnSpPr>
          <p:spPr>
            <a:xfrm>
              <a:off x="10264257"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545" name="Google Shape;545;p16"/>
            <p:cNvSpPr/>
            <p:nvPr/>
          </p:nvSpPr>
          <p:spPr>
            <a:xfrm>
              <a:off x="9715617"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323F4F"/>
                  </a:solidFill>
                  <a:latin typeface="Calibri"/>
                  <a:ea typeface="Calibri"/>
                  <a:cs typeface="Calibri"/>
                  <a:sym typeface="Calibri"/>
                </a:rPr>
                <a:t>minION</a:t>
              </a:r>
              <a:endParaRPr b="1" sz="1800">
                <a:solidFill>
                  <a:srgbClr val="323F4F"/>
                </a:solidFill>
                <a:latin typeface="Calibri"/>
                <a:ea typeface="Calibri"/>
                <a:cs typeface="Calibri"/>
                <a:sym typeface="Calibri"/>
              </a:endParaRPr>
            </a:p>
          </p:txBody>
        </p:sp>
      </p:grpSp>
      <p:sp>
        <p:nvSpPr>
          <p:cNvPr id="546" name="Google Shape;546;p16"/>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47" name="Google Shape;547;p16"/>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sp>
        <p:nvSpPr>
          <p:cNvPr id="548" name="Google Shape;548;p16"/>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49" name="Google Shape;549;p16"/>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550" name="Google Shape;550;p16"/>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51" name="Google Shape;551;p16"/>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pic>
        <p:nvPicPr>
          <p:cNvPr id="552" name="Google Shape;552;p16"/>
          <p:cNvPicPr preferRelativeResize="0"/>
          <p:nvPr/>
        </p:nvPicPr>
        <p:blipFill rotWithShape="1">
          <a:blip r:embed="rId3">
            <a:alphaModFix/>
          </a:blip>
          <a:srcRect b="0" l="0" r="0" t="0"/>
          <a:stretch/>
        </p:blipFill>
        <p:spPr>
          <a:xfrm>
            <a:off x="-45001" y="1037108"/>
            <a:ext cx="6232109" cy="5924892"/>
          </a:xfrm>
          <a:prstGeom prst="rect">
            <a:avLst/>
          </a:prstGeom>
          <a:noFill/>
          <a:ln>
            <a:noFill/>
          </a:ln>
        </p:spPr>
      </p:pic>
      <p:pic>
        <p:nvPicPr>
          <p:cNvPr id="553" name="Google Shape;553;p16"/>
          <p:cNvPicPr preferRelativeResize="0"/>
          <p:nvPr/>
        </p:nvPicPr>
        <p:blipFill rotWithShape="1">
          <a:blip r:embed="rId4">
            <a:alphaModFix/>
          </a:blip>
          <a:srcRect b="13606" l="26701" r="15358" t="10667"/>
          <a:stretch/>
        </p:blipFill>
        <p:spPr>
          <a:xfrm>
            <a:off x="6262590" y="97118"/>
            <a:ext cx="2829155" cy="2468880"/>
          </a:xfrm>
          <a:prstGeom prst="rect">
            <a:avLst/>
          </a:prstGeom>
          <a:noFill/>
          <a:ln>
            <a:noFill/>
          </a:ln>
        </p:spPr>
      </p:pic>
      <p:pic>
        <p:nvPicPr>
          <p:cNvPr descr="MinION portable DNA sequencer" id="554" name="Google Shape;554;p16"/>
          <p:cNvPicPr preferRelativeResize="0"/>
          <p:nvPr/>
        </p:nvPicPr>
        <p:blipFill rotWithShape="1">
          <a:blip r:embed="rId5">
            <a:alphaModFix/>
          </a:blip>
          <a:srcRect b="9868" l="22249" r="24812" t="8075"/>
          <a:stretch/>
        </p:blipFill>
        <p:spPr>
          <a:xfrm>
            <a:off x="9219152" y="97118"/>
            <a:ext cx="2856803" cy="2468880"/>
          </a:xfrm>
          <a:prstGeom prst="rect">
            <a:avLst/>
          </a:prstGeom>
          <a:noFill/>
          <a:ln>
            <a:noFill/>
          </a:ln>
        </p:spPr>
      </p:pic>
      <p:sp>
        <p:nvSpPr>
          <p:cNvPr id="555" name="Google Shape;555;p16"/>
          <p:cNvSpPr txBox="1"/>
          <p:nvPr/>
        </p:nvSpPr>
        <p:spPr>
          <a:xfrm>
            <a:off x="6100660" y="6530662"/>
            <a:ext cx="33796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3 days, 13-20kb reads, 700 Mb/h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500"/>
                                        <p:tgtEl>
                                          <p:spTgt spid="546"/>
                                        </p:tgtEl>
                                      </p:cBhvr>
                                    </p:animEffect>
                                    <p:set>
                                      <p:cBhvr>
                                        <p:cTn dur="1" fill="hold">
                                          <p:stCondLst>
                                            <p:cond delay="500"/>
                                          </p:stCondLst>
                                        </p:cTn>
                                        <p:tgtEl>
                                          <p:spTgt spid="5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7"/>
                                        </p:tgtEl>
                                      </p:cBhvr>
                                    </p:animEffect>
                                    <p:set>
                                      <p:cBhvr>
                                        <p:cTn dur="1" fill="hold">
                                          <p:stCondLst>
                                            <p:cond delay="500"/>
                                          </p:stCondLst>
                                        </p:cTn>
                                        <p:tgtEl>
                                          <p:spTgt spid="54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0"/>
                                        </p:tgtEl>
                                      </p:cBhvr>
                                    </p:animEffect>
                                    <p:set>
                                      <p:cBhvr>
                                        <p:cTn dur="1" fill="hold">
                                          <p:stCondLst>
                                            <p:cond delay="500"/>
                                          </p:stCondLst>
                                        </p:cTn>
                                        <p:tgtEl>
                                          <p:spTgt spid="5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1"/>
                                        </p:tgtEl>
                                      </p:cBhvr>
                                    </p:animEffect>
                                    <p:set>
                                      <p:cBhvr>
                                        <p:cTn dur="1" fill="hold">
                                          <p:stCondLst>
                                            <p:cond delay="500"/>
                                          </p:stCondLst>
                                        </p:cTn>
                                        <p:tgtEl>
                                          <p:spTgt spid="5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9"/>
                                        </p:tgtEl>
                                      </p:cBhvr>
                                    </p:animEffect>
                                    <p:set>
                                      <p:cBhvr>
                                        <p:cTn dur="1" fill="hold">
                                          <p:stCondLst>
                                            <p:cond delay="500"/>
                                          </p:stCondLst>
                                        </p:cTn>
                                        <p:tgtEl>
                                          <p:spTgt spid="5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8"/>
                                        </p:tgtEl>
                                      </p:cBhvr>
                                    </p:animEffect>
                                    <p:set>
                                      <p:cBhvr>
                                        <p:cTn dur="1" fill="hold">
                                          <p:stCondLst>
                                            <p:cond delay="500"/>
                                          </p:stCondLst>
                                        </p:cTn>
                                        <p:tgtEl>
                                          <p:spTgt spid="5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id="560" name="Google Shape;560;p17"/>
          <p:cNvPicPr preferRelativeResize="0"/>
          <p:nvPr/>
        </p:nvPicPr>
        <p:blipFill rotWithShape="1">
          <a:blip r:embed="rId3">
            <a:alphaModFix/>
          </a:blip>
          <a:srcRect b="3311" l="2262" r="3137" t="2935"/>
          <a:stretch/>
        </p:blipFill>
        <p:spPr>
          <a:xfrm>
            <a:off x="6241143" y="981957"/>
            <a:ext cx="5820230" cy="4798357"/>
          </a:xfrm>
          <a:prstGeom prst="rect">
            <a:avLst/>
          </a:prstGeom>
          <a:noFill/>
          <a:ln>
            <a:noFill/>
          </a:ln>
        </p:spPr>
      </p:pic>
      <p:pic>
        <p:nvPicPr>
          <p:cNvPr id="561" name="Google Shape;561;p17"/>
          <p:cNvPicPr preferRelativeResize="0"/>
          <p:nvPr/>
        </p:nvPicPr>
        <p:blipFill rotWithShape="1">
          <a:blip r:embed="rId4">
            <a:alphaModFix/>
          </a:blip>
          <a:srcRect b="3284" l="1862" r="2235" t="1194"/>
          <a:stretch/>
        </p:blipFill>
        <p:spPr>
          <a:xfrm>
            <a:off x="125185" y="972457"/>
            <a:ext cx="5979887" cy="480785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18"/>
          <p:cNvPicPr preferRelativeResize="0"/>
          <p:nvPr/>
        </p:nvPicPr>
        <p:blipFill rotWithShape="1">
          <a:blip r:embed="rId3">
            <a:alphaModFix/>
          </a:blip>
          <a:srcRect b="15067" l="55224" r="0" t="45108"/>
          <a:stretch/>
        </p:blipFill>
        <p:spPr>
          <a:xfrm>
            <a:off x="7220642" y="939255"/>
            <a:ext cx="3933798" cy="4979489"/>
          </a:xfrm>
          <a:prstGeom prst="rect">
            <a:avLst/>
          </a:prstGeom>
          <a:noFill/>
          <a:ln>
            <a:noFill/>
          </a:ln>
        </p:spPr>
      </p:pic>
      <p:sp>
        <p:nvSpPr>
          <p:cNvPr id="567" name="Google Shape;567;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Applications</a:t>
            </a:r>
            <a:endParaRPr/>
          </a:p>
        </p:txBody>
      </p:sp>
      <p:sp>
        <p:nvSpPr>
          <p:cNvPr id="568" name="Google Shape;568;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US">
                <a:solidFill>
                  <a:schemeClr val="lt1"/>
                </a:solidFill>
              </a:rPr>
              <a:t>Epigenetics – WGBS, Chip-Seq</a:t>
            </a:r>
            <a:endParaRPr/>
          </a:p>
          <a:p>
            <a:pPr indent="0" lvl="0" marL="0" rtl="0" algn="l">
              <a:lnSpc>
                <a:spcPct val="90000"/>
              </a:lnSpc>
              <a:spcBef>
                <a:spcPts val="1000"/>
              </a:spcBef>
              <a:spcAft>
                <a:spcPts val="0"/>
              </a:spcAft>
              <a:buClr>
                <a:schemeClr val="lt1"/>
              </a:buClr>
              <a:buSzPts val="2800"/>
              <a:buNone/>
            </a:pPr>
            <a:r>
              <a:rPr lang="en-US">
                <a:solidFill>
                  <a:schemeClr val="lt1"/>
                </a:solidFill>
              </a:rPr>
              <a:t>Personalized/Precision Medicine</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Drug metabolism - CYP2D6</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Organ transplants -  HLA </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Prenatal testing</a:t>
            </a:r>
            <a:endParaRPr/>
          </a:p>
          <a:p>
            <a:pPr indent="0" lvl="0" marL="0" rtl="0" algn="l">
              <a:lnSpc>
                <a:spcPct val="90000"/>
              </a:lnSpc>
              <a:spcBef>
                <a:spcPts val="1000"/>
              </a:spcBef>
              <a:spcAft>
                <a:spcPts val="0"/>
              </a:spcAft>
              <a:buClr>
                <a:schemeClr val="lt1"/>
              </a:buClr>
              <a:buSzPts val="2800"/>
              <a:buNone/>
            </a:pPr>
            <a:r>
              <a:rPr lang="en-US">
                <a:solidFill>
                  <a:schemeClr val="lt1"/>
                </a:solidFill>
              </a:rPr>
              <a:t>Forensic Science</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Mystery meat!</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Traditional Chinese Medicine</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Soil metagenomes</a:t>
            </a:r>
            <a:endParaRPr/>
          </a:p>
          <a:p>
            <a:pPr indent="0" lvl="0" marL="0" rtl="0" algn="l">
              <a:lnSpc>
                <a:spcPct val="90000"/>
              </a:lnSpc>
              <a:spcBef>
                <a:spcPts val="1000"/>
              </a:spcBef>
              <a:spcAft>
                <a:spcPts val="0"/>
              </a:spcAft>
              <a:buClr>
                <a:schemeClr val="dk1"/>
              </a:buClr>
              <a:buSzPts val="2800"/>
              <a:buNone/>
            </a:pPr>
            <a:r>
              <a:t/>
            </a:r>
            <a:endParaRPr>
              <a:solidFill>
                <a:schemeClr val="lt1"/>
              </a:solidFill>
            </a:endParaRPr>
          </a:p>
          <a:p>
            <a:pPr indent="-50800" lvl="0" marL="228600" rtl="0" algn="l">
              <a:lnSpc>
                <a:spcPct val="90000"/>
              </a:lnSpc>
              <a:spcBef>
                <a:spcPts val="1000"/>
              </a:spcBef>
              <a:spcAft>
                <a:spcPts val="0"/>
              </a:spcAft>
              <a:buClr>
                <a:schemeClr val="dk1"/>
              </a:buClr>
              <a:buSzPts val="2800"/>
              <a:buNone/>
            </a:pPr>
            <a:r>
              <a:t/>
            </a:r>
            <a:endParaRPr>
              <a:solidFill>
                <a:schemeClr val="lt1"/>
              </a:solidFill>
            </a:endParaRPr>
          </a:p>
          <a:p>
            <a:pPr indent="-50800" lvl="0" marL="228600" rtl="0" algn="l">
              <a:lnSpc>
                <a:spcPct val="90000"/>
              </a:lnSpc>
              <a:spcBef>
                <a:spcPts val="1000"/>
              </a:spcBef>
              <a:spcAft>
                <a:spcPts val="0"/>
              </a:spcAft>
              <a:buClr>
                <a:schemeClr val="dk1"/>
              </a:buClr>
              <a:buSzPts val="2800"/>
              <a:buNone/>
            </a:pPr>
            <a:r>
              <a:t/>
            </a:r>
            <a:endParaRPr/>
          </a:p>
        </p:txBody>
      </p:sp>
      <p:pic>
        <p:nvPicPr>
          <p:cNvPr id="569" name="Google Shape;569;p18"/>
          <p:cNvPicPr preferRelativeResize="0"/>
          <p:nvPr/>
        </p:nvPicPr>
        <p:blipFill rotWithShape="1">
          <a:blip r:embed="rId4">
            <a:alphaModFix/>
          </a:blip>
          <a:srcRect b="0" l="0" r="0" t="0"/>
          <a:stretch/>
        </p:blipFill>
        <p:spPr>
          <a:xfrm>
            <a:off x="6458856" y="939255"/>
            <a:ext cx="5457371" cy="49794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9"/>
          <p:cNvSpPr/>
          <p:nvPr/>
        </p:nvSpPr>
        <p:spPr>
          <a:xfrm rot="10800000">
            <a:off x="491652" y="2113595"/>
            <a:ext cx="5623916" cy="4144596"/>
          </a:xfrm>
          <a:prstGeom prst="downArrow">
            <a:avLst>
              <a:gd fmla="val 50000" name="adj1"/>
              <a:gd fmla="val 50000" name="adj2"/>
            </a:avLst>
          </a:prstGeom>
          <a:solidFill>
            <a:srgbClr val="FFF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5" name="Google Shape;575;p19"/>
          <p:cNvSpPr txBox="1"/>
          <p:nvPr>
            <p:ph type="title"/>
          </p:nvPr>
        </p:nvSpPr>
        <p:spPr>
          <a:xfrm>
            <a:off x="838200" y="35127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DF2"/>
              </a:buClr>
              <a:buSzPts val="4800"/>
              <a:buFont typeface="Calibri"/>
              <a:buNone/>
            </a:pPr>
            <a:r>
              <a:rPr b="1" lang="en-US" sz="4800">
                <a:solidFill>
                  <a:srgbClr val="FFFDF2"/>
                </a:solidFill>
              </a:rPr>
              <a:t>Next Generation Sequencing</a:t>
            </a:r>
            <a:endParaRPr/>
          </a:p>
        </p:txBody>
      </p:sp>
      <p:sp>
        <p:nvSpPr>
          <p:cNvPr id="576" name="Google Shape;576;p19"/>
          <p:cNvSpPr/>
          <p:nvPr/>
        </p:nvSpPr>
        <p:spPr>
          <a:xfrm>
            <a:off x="6134100" y="2113595"/>
            <a:ext cx="5623916" cy="4144596"/>
          </a:xfrm>
          <a:prstGeom prst="downArrow">
            <a:avLst>
              <a:gd fmla="val 50000" name="adj1"/>
              <a:gd fmla="val 50000" name="adj2"/>
            </a:avLst>
          </a:prstGeom>
          <a:solidFill>
            <a:srgbClr val="FFF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19"/>
          <p:cNvSpPr txBox="1"/>
          <p:nvPr/>
        </p:nvSpPr>
        <p:spPr>
          <a:xfrm>
            <a:off x="8437938" y="3846285"/>
            <a:ext cx="10162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002060"/>
                </a:solidFill>
                <a:latin typeface="Calibri"/>
                <a:ea typeface="Calibri"/>
                <a:cs typeface="Calibri"/>
                <a:sym typeface="Calibri"/>
              </a:rPr>
              <a:t>Cost</a:t>
            </a:r>
            <a:endParaRPr/>
          </a:p>
        </p:txBody>
      </p:sp>
      <p:sp>
        <p:nvSpPr>
          <p:cNvPr id="578" name="Google Shape;578;p19"/>
          <p:cNvSpPr txBox="1"/>
          <p:nvPr/>
        </p:nvSpPr>
        <p:spPr>
          <a:xfrm>
            <a:off x="8378435" y="4357019"/>
            <a:ext cx="113524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002060"/>
                </a:solidFill>
                <a:latin typeface="Calibri"/>
                <a:ea typeface="Calibri"/>
                <a:cs typeface="Calibri"/>
                <a:sym typeface="Calibri"/>
              </a:rPr>
              <a:t>Time</a:t>
            </a:r>
            <a:endParaRPr/>
          </a:p>
        </p:txBody>
      </p:sp>
      <p:sp>
        <p:nvSpPr>
          <p:cNvPr id="579" name="Google Shape;579;p19"/>
          <p:cNvSpPr txBox="1"/>
          <p:nvPr/>
        </p:nvSpPr>
        <p:spPr>
          <a:xfrm>
            <a:off x="2429011" y="5087216"/>
            <a:ext cx="174919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2060"/>
                </a:solidFill>
                <a:latin typeface="Calibri"/>
                <a:ea typeface="Calibri"/>
                <a:cs typeface="Calibri"/>
                <a:sym typeface="Calibri"/>
              </a:rPr>
              <a:t>Accessibility</a:t>
            </a:r>
            <a:endParaRPr/>
          </a:p>
        </p:txBody>
      </p:sp>
      <p:sp>
        <p:nvSpPr>
          <p:cNvPr id="580" name="Google Shape;580;p19"/>
          <p:cNvSpPr txBox="1"/>
          <p:nvPr/>
        </p:nvSpPr>
        <p:spPr>
          <a:xfrm>
            <a:off x="2050510" y="3744020"/>
            <a:ext cx="250619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2060"/>
                </a:solidFill>
                <a:latin typeface="Calibri"/>
                <a:ea typeface="Calibri"/>
                <a:cs typeface="Calibri"/>
                <a:sym typeface="Calibri"/>
              </a:rPr>
              <a:t>Sequencing Depth</a:t>
            </a:r>
            <a:endParaRPr/>
          </a:p>
        </p:txBody>
      </p:sp>
      <p:sp>
        <p:nvSpPr>
          <p:cNvPr id="581" name="Google Shape;581;p19"/>
          <p:cNvSpPr txBox="1"/>
          <p:nvPr/>
        </p:nvSpPr>
        <p:spPr>
          <a:xfrm>
            <a:off x="1864882" y="3072422"/>
            <a:ext cx="28774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2060"/>
                </a:solidFill>
                <a:latin typeface="Calibri"/>
                <a:ea typeface="Calibri"/>
                <a:cs typeface="Calibri"/>
                <a:sym typeface="Calibri"/>
              </a:rPr>
              <a:t>Sequencing Precision</a:t>
            </a:r>
            <a:endParaRPr/>
          </a:p>
        </p:txBody>
      </p:sp>
      <p:sp>
        <p:nvSpPr>
          <p:cNvPr id="582" name="Google Shape;582;p19"/>
          <p:cNvSpPr txBox="1"/>
          <p:nvPr/>
        </p:nvSpPr>
        <p:spPr>
          <a:xfrm>
            <a:off x="1847217" y="4415618"/>
            <a:ext cx="291278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2060"/>
                </a:solidFill>
                <a:latin typeface="Calibri"/>
                <a:ea typeface="Calibri"/>
                <a:cs typeface="Calibri"/>
                <a:sym typeface="Calibri"/>
              </a:rPr>
              <a:t>Bioinformatic Burden</a:t>
            </a:r>
            <a:endParaRPr/>
          </a:p>
        </p:txBody>
      </p:sp>
      <p:sp>
        <p:nvSpPr>
          <p:cNvPr id="583" name="Google Shape;583;p19"/>
          <p:cNvSpPr txBox="1"/>
          <p:nvPr/>
        </p:nvSpPr>
        <p:spPr>
          <a:xfrm>
            <a:off x="852051" y="365120"/>
            <a:ext cx="105156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FFFDF2"/>
              </a:buClr>
              <a:buSzPts val="4800"/>
              <a:buFont typeface="Calibri"/>
              <a:buNone/>
            </a:pPr>
            <a:r>
              <a:rPr b="1" lang="en-US" sz="4800">
                <a:solidFill>
                  <a:srgbClr val="FFFDF2"/>
                </a:solidFill>
                <a:latin typeface="Calibri"/>
                <a:ea typeface="Calibri"/>
                <a:cs typeface="Calibri"/>
                <a:sym typeface="Calibri"/>
              </a:rPr>
              <a:t>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75"/>
                                        </p:tgtEl>
                                      </p:cBhvr>
                                    </p:animEffect>
                                    <p:set>
                                      <p:cBhvr>
                                        <p:cTn dur="1" fill="hold">
                                          <p:stCondLst>
                                            <p:cond delay="500"/>
                                          </p:stCondLst>
                                        </p:cTn>
                                        <p:tgtEl>
                                          <p:spTgt spid="5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2020-02-25T15:54:34Z</dcterms:created>
  <dc:creator>Nicole Garrison</dc:creator>
</cp:coreProperties>
</file>