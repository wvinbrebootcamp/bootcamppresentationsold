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2"/>
  </p:notesMasterIdLst>
  <p:sldIdLst>
    <p:sldId id="258" r:id="rId2"/>
    <p:sldId id="441" r:id="rId3"/>
    <p:sldId id="401" r:id="rId4"/>
    <p:sldId id="442" r:id="rId5"/>
    <p:sldId id="443" r:id="rId6"/>
    <p:sldId id="444" r:id="rId7"/>
    <p:sldId id="399" r:id="rId8"/>
    <p:sldId id="435" r:id="rId9"/>
    <p:sldId id="459" r:id="rId10"/>
    <p:sldId id="460" r:id="rId11"/>
    <p:sldId id="400" r:id="rId12"/>
    <p:sldId id="454" r:id="rId13"/>
    <p:sldId id="455" r:id="rId14"/>
    <p:sldId id="456" r:id="rId15"/>
    <p:sldId id="437" r:id="rId16"/>
    <p:sldId id="462" r:id="rId17"/>
    <p:sldId id="457" r:id="rId18"/>
    <p:sldId id="263" r:id="rId19"/>
    <p:sldId id="361" r:id="rId20"/>
    <p:sldId id="369" r:id="rId21"/>
    <p:sldId id="370" r:id="rId22"/>
    <p:sldId id="440" r:id="rId23"/>
    <p:sldId id="374" r:id="rId24"/>
    <p:sldId id="338" r:id="rId25"/>
    <p:sldId id="339" r:id="rId26"/>
    <p:sldId id="340" r:id="rId27"/>
    <p:sldId id="264" r:id="rId28"/>
    <p:sldId id="256" r:id="rId29"/>
    <p:sldId id="350" r:id="rId30"/>
    <p:sldId id="351" r:id="rId31"/>
    <p:sldId id="359" r:id="rId32"/>
    <p:sldId id="360" r:id="rId33"/>
    <p:sldId id="464" r:id="rId34"/>
    <p:sldId id="465" r:id="rId35"/>
    <p:sldId id="365" r:id="rId36"/>
    <p:sldId id="352" r:id="rId37"/>
    <p:sldId id="366" r:id="rId38"/>
    <p:sldId id="367" r:id="rId39"/>
    <p:sldId id="368" r:id="rId40"/>
    <p:sldId id="466" r:id="rId41"/>
    <p:sldId id="355" r:id="rId42"/>
    <p:sldId id="356" r:id="rId43"/>
    <p:sldId id="468" r:id="rId44"/>
    <p:sldId id="357" r:id="rId45"/>
    <p:sldId id="358" r:id="rId46"/>
    <p:sldId id="467" r:id="rId47"/>
    <p:sldId id="469" r:id="rId48"/>
    <p:sldId id="363" r:id="rId49"/>
    <p:sldId id="463" r:id="rId50"/>
    <p:sldId id="461"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6133"/>
    <p:restoredTop sz="96296"/>
  </p:normalViewPr>
  <p:slideViewPr>
    <p:cSldViewPr snapToGrid="0" snapToObjects="1">
      <p:cViewPr>
        <p:scale>
          <a:sx n="110" d="100"/>
          <a:sy n="110" d="100"/>
        </p:scale>
        <p:origin x="536" y="5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241770-F3DD-5F47-804C-1EB67763059F}" type="datetimeFigureOut">
              <a:rPr lang="en-US" smtClean="0"/>
              <a:t>7/6/21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6369C5-918F-5E4A-96E5-246C5F482631}" type="slidenum">
              <a:rPr lang="en-US" smtClean="0"/>
              <a:t>‹#›</a:t>
            </a:fld>
            <a:endParaRPr lang="en-US"/>
          </a:p>
        </p:txBody>
      </p:sp>
    </p:spTree>
    <p:extLst>
      <p:ext uri="{BB962C8B-B14F-4D97-AF65-F5344CB8AC3E}">
        <p14:creationId xmlns:p14="http://schemas.microsoft.com/office/powerpoint/2010/main" val="36852595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a:t>
            </a:r>
          </a:p>
          <a:p>
            <a:r>
              <a:rPr lang="en-US" dirty="0"/>
              <a:t>ls</a:t>
            </a:r>
          </a:p>
          <a:p>
            <a:r>
              <a:rPr lang="en-US" dirty="0" err="1"/>
              <a:t>pwd</a:t>
            </a:r>
            <a:endParaRPr lang="en-US" dirty="0"/>
          </a:p>
          <a:p>
            <a:r>
              <a:rPr lang="en-US" dirty="0"/>
              <a:t>paths</a:t>
            </a:r>
          </a:p>
          <a:p>
            <a:r>
              <a:rPr lang="en-US" dirty="0"/>
              <a:t>home directory</a:t>
            </a:r>
          </a:p>
          <a:p>
            <a:r>
              <a:rPr lang="en-US" dirty="0"/>
              <a:t>man</a:t>
            </a:r>
          </a:p>
          <a:p>
            <a:r>
              <a:rPr lang="en-US" dirty="0"/>
              <a:t>which</a:t>
            </a:r>
          </a:p>
        </p:txBody>
      </p:sp>
      <p:sp>
        <p:nvSpPr>
          <p:cNvPr id="4" name="Slide Number Placeholder 3"/>
          <p:cNvSpPr>
            <a:spLocks noGrp="1"/>
          </p:cNvSpPr>
          <p:nvPr>
            <p:ph type="sldNum" sz="quarter" idx="5"/>
          </p:nvPr>
        </p:nvSpPr>
        <p:spPr/>
        <p:txBody>
          <a:bodyPr/>
          <a:lstStyle/>
          <a:p>
            <a:fld id="{E35C05FB-121D-BA4D-A2BA-B3733D6E9A8A}" type="slidenum">
              <a:rPr lang="en-US" smtClean="0"/>
              <a:t>2</a:t>
            </a:fld>
            <a:endParaRPr lang="en-US"/>
          </a:p>
        </p:txBody>
      </p:sp>
    </p:spTree>
    <p:extLst>
      <p:ext uri="{BB962C8B-B14F-4D97-AF65-F5344CB8AC3E}">
        <p14:creationId xmlns:p14="http://schemas.microsoft.com/office/powerpoint/2010/main" val="1323658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 autocomplete</a:t>
            </a:r>
          </a:p>
        </p:txBody>
      </p:sp>
      <p:sp>
        <p:nvSpPr>
          <p:cNvPr id="4" name="Slide Number Placeholder 3"/>
          <p:cNvSpPr>
            <a:spLocks noGrp="1"/>
          </p:cNvSpPr>
          <p:nvPr>
            <p:ph type="sldNum" sz="quarter" idx="5"/>
          </p:nvPr>
        </p:nvSpPr>
        <p:spPr/>
        <p:txBody>
          <a:bodyPr/>
          <a:lstStyle/>
          <a:p>
            <a:fld id="{E35C05FB-121D-BA4D-A2BA-B3733D6E9A8A}" type="slidenum">
              <a:rPr lang="en-US" smtClean="0"/>
              <a:t>3</a:t>
            </a:fld>
            <a:endParaRPr lang="en-US"/>
          </a:p>
        </p:txBody>
      </p:sp>
    </p:spTree>
    <p:extLst>
      <p:ext uri="{BB962C8B-B14F-4D97-AF65-F5344CB8AC3E}">
        <p14:creationId xmlns:p14="http://schemas.microsoft.com/office/powerpoint/2010/main" val="33403247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 autocomplete</a:t>
            </a:r>
          </a:p>
        </p:txBody>
      </p:sp>
      <p:sp>
        <p:nvSpPr>
          <p:cNvPr id="4" name="Slide Number Placeholder 3"/>
          <p:cNvSpPr>
            <a:spLocks noGrp="1"/>
          </p:cNvSpPr>
          <p:nvPr>
            <p:ph type="sldNum" sz="quarter" idx="5"/>
          </p:nvPr>
        </p:nvSpPr>
        <p:spPr/>
        <p:txBody>
          <a:bodyPr/>
          <a:lstStyle/>
          <a:p>
            <a:fld id="{E35C05FB-121D-BA4D-A2BA-B3733D6E9A8A}" type="slidenum">
              <a:rPr lang="en-US" smtClean="0"/>
              <a:t>4</a:t>
            </a:fld>
            <a:endParaRPr lang="en-US"/>
          </a:p>
        </p:txBody>
      </p:sp>
    </p:spTree>
    <p:extLst>
      <p:ext uri="{BB962C8B-B14F-4D97-AF65-F5344CB8AC3E}">
        <p14:creationId xmlns:p14="http://schemas.microsoft.com/office/powerpoint/2010/main" val="3372607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a:t>
            </a:r>
          </a:p>
          <a:p>
            <a:r>
              <a:rPr lang="en-US" dirty="0"/>
              <a:t>ls</a:t>
            </a:r>
          </a:p>
          <a:p>
            <a:r>
              <a:rPr lang="en-US" dirty="0" err="1"/>
              <a:t>pwd</a:t>
            </a:r>
            <a:endParaRPr lang="en-US" dirty="0"/>
          </a:p>
          <a:p>
            <a:r>
              <a:rPr lang="en-US" dirty="0"/>
              <a:t>paths</a:t>
            </a:r>
          </a:p>
          <a:p>
            <a:r>
              <a:rPr lang="en-US" dirty="0"/>
              <a:t>home directory</a:t>
            </a:r>
          </a:p>
          <a:p>
            <a:r>
              <a:rPr lang="en-US" dirty="0"/>
              <a:t>man</a:t>
            </a:r>
          </a:p>
          <a:p>
            <a:r>
              <a:rPr lang="en-US" dirty="0"/>
              <a:t>which</a:t>
            </a:r>
          </a:p>
        </p:txBody>
      </p:sp>
      <p:sp>
        <p:nvSpPr>
          <p:cNvPr id="4" name="Slide Number Placeholder 3"/>
          <p:cNvSpPr>
            <a:spLocks noGrp="1"/>
          </p:cNvSpPr>
          <p:nvPr>
            <p:ph type="sldNum" sz="quarter" idx="5"/>
          </p:nvPr>
        </p:nvSpPr>
        <p:spPr/>
        <p:txBody>
          <a:bodyPr/>
          <a:lstStyle/>
          <a:p>
            <a:fld id="{E35C05FB-121D-BA4D-A2BA-B3733D6E9A8A}" type="slidenum">
              <a:rPr lang="en-US" smtClean="0"/>
              <a:t>5</a:t>
            </a:fld>
            <a:endParaRPr lang="en-US"/>
          </a:p>
        </p:txBody>
      </p:sp>
    </p:spTree>
    <p:extLst>
      <p:ext uri="{BB962C8B-B14F-4D97-AF65-F5344CB8AC3E}">
        <p14:creationId xmlns:p14="http://schemas.microsoft.com/office/powerpoint/2010/main" val="30677823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 autocomplete, ls, options</a:t>
            </a:r>
          </a:p>
        </p:txBody>
      </p:sp>
      <p:sp>
        <p:nvSpPr>
          <p:cNvPr id="4" name="Slide Number Placeholder 3"/>
          <p:cNvSpPr>
            <a:spLocks noGrp="1"/>
          </p:cNvSpPr>
          <p:nvPr>
            <p:ph type="sldNum" sz="quarter" idx="5"/>
          </p:nvPr>
        </p:nvSpPr>
        <p:spPr/>
        <p:txBody>
          <a:bodyPr/>
          <a:lstStyle/>
          <a:p>
            <a:fld id="{E35C05FB-121D-BA4D-A2BA-B3733D6E9A8A}" type="slidenum">
              <a:rPr lang="en-US" smtClean="0"/>
              <a:t>6</a:t>
            </a:fld>
            <a:endParaRPr lang="en-US"/>
          </a:p>
        </p:txBody>
      </p:sp>
    </p:spTree>
    <p:extLst>
      <p:ext uri="{BB962C8B-B14F-4D97-AF65-F5344CB8AC3E}">
        <p14:creationId xmlns:p14="http://schemas.microsoft.com/office/powerpoint/2010/main" val="4149294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4FF64E-C3E6-8641-97EA-5F8D1BC504D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061437-E04E-7C4A-AE14-F0C6E5A33E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C5A94CD-E43A-5E4C-A993-CA8D63ADAF59}"/>
              </a:ext>
            </a:extLst>
          </p:cNvPr>
          <p:cNvSpPr>
            <a:spLocks noGrp="1"/>
          </p:cNvSpPr>
          <p:nvPr>
            <p:ph type="dt" sz="half" idx="10"/>
          </p:nvPr>
        </p:nvSpPr>
        <p:spPr/>
        <p:txBody>
          <a:bodyPr/>
          <a:lstStyle/>
          <a:p>
            <a:fld id="{9F428DFC-3592-304B-BCE4-5D7C24245733}" type="datetimeFigureOut">
              <a:rPr lang="en-US" smtClean="0"/>
              <a:t>7/6/21</a:t>
            </a:fld>
            <a:endParaRPr lang="en-US"/>
          </a:p>
        </p:txBody>
      </p:sp>
      <p:sp>
        <p:nvSpPr>
          <p:cNvPr id="5" name="Footer Placeholder 4">
            <a:extLst>
              <a:ext uri="{FF2B5EF4-FFF2-40B4-BE49-F238E27FC236}">
                <a16:creationId xmlns:a16="http://schemas.microsoft.com/office/drawing/2014/main" id="{DDB77030-E26A-FC4D-A16A-6AB34E6E923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6C4D1C-4120-5C48-A2A7-9D9C3CFED488}"/>
              </a:ext>
            </a:extLst>
          </p:cNvPr>
          <p:cNvSpPr>
            <a:spLocks noGrp="1"/>
          </p:cNvSpPr>
          <p:nvPr>
            <p:ph type="sldNum" sz="quarter" idx="12"/>
          </p:nvPr>
        </p:nvSpPr>
        <p:spPr/>
        <p:txBody>
          <a:bodyPr/>
          <a:lstStyle/>
          <a:p>
            <a:fld id="{407BB42D-96AE-EC40-81E7-9E8F9C61A093}" type="slidenum">
              <a:rPr lang="en-US" smtClean="0"/>
              <a:t>‹#›</a:t>
            </a:fld>
            <a:endParaRPr lang="en-US"/>
          </a:p>
        </p:txBody>
      </p:sp>
    </p:spTree>
    <p:extLst>
      <p:ext uri="{BB962C8B-B14F-4D97-AF65-F5344CB8AC3E}">
        <p14:creationId xmlns:p14="http://schemas.microsoft.com/office/powerpoint/2010/main" val="1660040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A3273-DFEA-E347-9A86-D616614756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5D51F98-FF8F-BD49-B47B-B4E5BF619E5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A96BD1-2CA0-6441-A5CF-6B468B53C414}"/>
              </a:ext>
            </a:extLst>
          </p:cNvPr>
          <p:cNvSpPr>
            <a:spLocks noGrp="1"/>
          </p:cNvSpPr>
          <p:nvPr>
            <p:ph type="dt" sz="half" idx="10"/>
          </p:nvPr>
        </p:nvSpPr>
        <p:spPr/>
        <p:txBody>
          <a:bodyPr/>
          <a:lstStyle/>
          <a:p>
            <a:fld id="{9F428DFC-3592-304B-BCE4-5D7C24245733}" type="datetimeFigureOut">
              <a:rPr lang="en-US" smtClean="0"/>
              <a:t>7/6/21</a:t>
            </a:fld>
            <a:endParaRPr lang="en-US"/>
          </a:p>
        </p:txBody>
      </p:sp>
      <p:sp>
        <p:nvSpPr>
          <p:cNvPr id="5" name="Footer Placeholder 4">
            <a:extLst>
              <a:ext uri="{FF2B5EF4-FFF2-40B4-BE49-F238E27FC236}">
                <a16:creationId xmlns:a16="http://schemas.microsoft.com/office/drawing/2014/main" id="{AD3298D8-B831-BF4C-AF8B-D11F9A5F977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157BE5-7828-7C44-986A-8C02C12CE2AE}"/>
              </a:ext>
            </a:extLst>
          </p:cNvPr>
          <p:cNvSpPr>
            <a:spLocks noGrp="1"/>
          </p:cNvSpPr>
          <p:nvPr>
            <p:ph type="sldNum" sz="quarter" idx="12"/>
          </p:nvPr>
        </p:nvSpPr>
        <p:spPr/>
        <p:txBody>
          <a:bodyPr/>
          <a:lstStyle/>
          <a:p>
            <a:fld id="{407BB42D-96AE-EC40-81E7-9E8F9C61A093}" type="slidenum">
              <a:rPr lang="en-US" smtClean="0"/>
              <a:t>‹#›</a:t>
            </a:fld>
            <a:endParaRPr lang="en-US"/>
          </a:p>
        </p:txBody>
      </p:sp>
    </p:spTree>
    <p:extLst>
      <p:ext uri="{BB962C8B-B14F-4D97-AF65-F5344CB8AC3E}">
        <p14:creationId xmlns:p14="http://schemas.microsoft.com/office/powerpoint/2010/main" val="3146678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C96E6-67D1-4B4D-9242-E4DE137BA8A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8829888-7AF7-784A-9BA9-05B1C1F5EF7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0E3D0C6-620D-314D-97FA-52D96F9D74F7}"/>
              </a:ext>
            </a:extLst>
          </p:cNvPr>
          <p:cNvSpPr>
            <a:spLocks noGrp="1"/>
          </p:cNvSpPr>
          <p:nvPr>
            <p:ph type="dt" sz="half" idx="10"/>
          </p:nvPr>
        </p:nvSpPr>
        <p:spPr/>
        <p:txBody>
          <a:bodyPr/>
          <a:lstStyle/>
          <a:p>
            <a:fld id="{9F428DFC-3592-304B-BCE4-5D7C24245733}" type="datetimeFigureOut">
              <a:rPr lang="en-US" smtClean="0"/>
              <a:t>7/6/21</a:t>
            </a:fld>
            <a:endParaRPr lang="en-US"/>
          </a:p>
        </p:txBody>
      </p:sp>
      <p:sp>
        <p:nvSpPr>
          <p:cNvPr id="5" name="Footer Placeholder 4">
            <a:extLst>
              <a:ext uri="{FF2B5EF4-FFF2-40B4-BE49-F238E27FC236}">
                <a16:creationId xmlns:a16="http://schemas.microsoft.com/office/drawing/2014/main" id="{598E1A87-2155-B34A-BC23-8FB7F79268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44AA76-4972-B545-9566-FBEFA5DF7786}"/>
              </a:ext>
            </a:extLst>
          </p:cNvPr>
          <p:cNvSpPr>
            <a:spLocks noGrp="1"/>
          </p:cNvSpPr>
          <p:nvPr>
            <p:ph type="sldNum" sz="quarter" idx="12"/>
          </p:nvPr>
        </p:nvSpPr>
        <p:spPr/>
        <p:txBody>
          <a:bodyPr/>
          <a:lstStyle/>
          <a:p>
            <a:fld id="{407BB42D-96AE-EC40-81E7-9E8F9C61A093}" type="slidenum">
              <a:rPr lang="en-US" smtClean="0"/>
              <a:t>‹#›</a:t>
            </a:fld>
            <a:endParaRPr lang="en-US"/>
          </a:p>
        </p:txBody>
      </p:sp>
    </p:spTree>
    <p:extLst>
      <p:ext uri="{BB962C8B-B14F-4D97-AF65-F5344CB8AC3E}">
        <p14:creationId xmlns:p14="http://schemas.microsoft.com/office/powerpoint/2010/main" val="34382424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87B4A7-7838-3E49-8A56-793523CF5D9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D19DFAC-F9DE-D249-A8E4-68FD0A1408B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8A9BAFD-8F28-064A-999D-5E26CC86FE7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6266F20-8D53-4241-ABCF-BF1739E7BD19}"/>
              </a:ext>
            </a:extLst>
          </p:cNvPr>
          <p:cNvSpPr>
            <a:spLocks noGrp="1"/>
          </p:cNvSpPr>
          <p:nvPr>
            <p:ph type="dt" sz="half" idx="10"/>
          </p:nvPr>
        </p:nvSpPr>
        <p:spPr/>
        <p:txBody>
          <a:bodyPr/>
          <a:lstStyle/>
          <a:p>
            <a:fld id="{9F428DFC-3592-304B-BCE4-5D7C24245733}" type="datetimeFigureOut">
              <a:rPr lang="en-US" smtClean="0"/>
              <a:t>7/6/21</a:t>
            </a:fld>
            <a:endParaRPr lang="en-US"/>
          </a:p>
        </p:txBody>
      </p:sp>
      <p:sp>
        <p:nvSpPr>
          <p:cNvPr id="6" name="Footer Placeholder 5">
            <a:extLst>
              <a:ext uri="{FF2B5EF4-FFF2-40B4-BE49-F238E27FC236}">
                <a16:creationId xmlns:a16="http://schemas.microsoft.com/office/drawing/2014/main" id="{AFB81465-5AA6-1847-A327-8CF1BEA39DC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45E3B2-EC1A-7C4D-BF33-6151940E4AA5}"/>
              </a:ext>
            </a:extLst>
          </p:cNvPr>
          <p:cNvSpPr>
            <a:spLocks noGrp="1"/>
          </p:cNvSpPr>
          <p:nvPr>
            <p:ph type="sldNum" sz="quarter" idx="12"/>
          </p:nvPr>
        </p:nvSpPr>
        <p:spPr/>
        <p:txBody>
          <a:bodyPr/>
          <a:lstStyle/>
          <a:p>
            <a:fld id="{407BB42D-96AE-EC40-81E7-9E8F9C61A093}" type="slidenum">
              <a:rPr lang="en-US" smtClean="0"/>
              <a:t>‹#›</a:t>
            </a:fld>
            <a:endParaRPr lang="en-US"/>
          </a:p>
        </p:txBody>
      </p:sp>
    </p:spTree>
    <p:extLst>
      <p:ext uri="{BB962C8B-B14F-4D97-AF65-F5344CB8AC3E}">
        <p14:creationId xmlns:p14="http://schemas.microsoft.com/office/powerpoint/2010/main" val="1283878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DFFB0-F3A1-3041-889B-EBE291ECB2C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64262F3-F18E-B148-B68F-F81CA8B6C66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CCA43C1-BB36-1541-958D-3DC139AE539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801066A-426D-9A42-A0AA-5252948EC9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CF66389-60B1-CE40-9B6C-7E5F9D10569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38C56BD-C4A7-B247-BB0B-5BDC2EBE343A}"/>
              </a:ext>
            </a:extLst>
          </p:cNvPr>
          <p:cNvSpPr>
            <a:spLocks noGrp="1"/>
          </p:cNvSpPr>
          <p:nvPr>
            <p:ph type="dt" sz="half" idx="10"/>
          </p:nvPr>
        </p:nvSpPr>
        <p:spPr/>
        <p:txBody>
          <a:bodyPr/>
          <a:lstStyle/>
          <a:p>
            <a:fld id="{9F428DFC-3592-304B-BCE4-5D7C24245733}" type="datetimeFigureOut">
              <a:rPr lang="en-US" smtClean="0"/>
              <a:t>7/6/21</a:t>
            </a:fld>
            <a:endParaRPr lang="en-US"/>
          </a:p>
        </p:txBody>
      </p:sp>
      <p:sp>
        <p:nvSpPr>
          <p:cNvPr id="8" name="Footer Placeholder 7">
            <a:extLst>
              <a:ext uri="{FF2B5EF4-FFF2-40B4-BE49-F238E27FC236}">
                <a16:creationId xmlns:a16="http://schemas.microsoft.com/office/drawing/2014/main" id="{EA2DAB5B-AD4A-FB4D-8C04-A018CF21495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5B91BB-1445-914F-9E25-0346723778F0}"/>
              </a:ext>
            </a:extLst>
          </p:cNvPr>
          <p:cNvSpPr>
            <a:spLocks noGrp="1"/>
          </p:cNvSpPr>
          <p:nvPr>
            <p:ph type="sldNum" sz="quarter" idx="12"/>
          </p:nvPr>
        </p:nvSpPr>
        <p:spPr/>
        <p:txBody>
          <a:bodyPr/>
          <a:lstStyle/>
          <a:p>
            <a:fld id="{407BB42D-96AE-EC40-81E7-9E8F9C61A093}" type="slidenum">
              <a:rPr lang="en-US" smtClean="0"/>
              <a:t>‹#›</a:t>
            </a:fld>
            <a:endParaRPr lang="en-US"/>
          </a:p>
        </p:txBody>
      </p:sp>
    </p:spTree>
    <p:extLst>
      <p:ext uri="{BB962C8B-B14F-4D97-AF65-F5344CB8AC3E}">
        <p14:creationId xmlns:p14="http://schemas.microsoft.com/office/powerpoint/2010/main" val="1522017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1B43F-B58D-464F-A047-77B1EDE2700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49B0C02-40EF-BC43-B843-D1799683A1E4}"/>
              </a:ext>
            </a:extLst>
          </p:cNvPr>
          <p:cNvSpPr>
            <a:spLocks noGrp="1"/>
          </p:cNvSpPr>
          <p:nvPr>
            <p:ph type="dt" sz="half" idx="10"/>
          </p:nvPr>
        </p:nvSpPr>
        <p:spPr/>
        <p:txBody>
          <a:bodyPr/>
          <a:lstStyle/>
          <a:p>
            <a:fld id="{9F428DFC-3592-304B-BCE4-5D7C24245733}" type="datetimeFigureOut">
              <a:rPr lang="en-US" smtClean="0"/>
              <a:t>7/6/21</a:t>
            </a:fld>
            <a:endParaRPr lang="en-US"/>
          </a:p>
        </p:txBody>
      </p:sp>
      <p:sp>
        <p:nvSpPr>
          <p:cNvPr id="4" name="Footer Placeholder 3">
            <a:extLst>
              <a:ext uri="{FF2B5EF4-FFF2-40B4-BE49-F238E27FC236}">
                <a16:creationId xmlns:a16="http://schemas.microsoft.com/office/drawing/2014/main" id="{E6D4CEEC-7E34-0C4B-B80C-36FBE32C8C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EBEE086-14E1-0E44-B7C8-377C1538CE72}"/>
              </a:ext>
            </a:extLst>
          </p:cNvPr>
          <p:cNvSpPr>
            <a:spLocks noGrp="1"/>
          </p:cNvSpPr>
          <p:nvPr>
            <p:ph type="sldNum" sz="quarter" idx="12"/>
          </p:nvPr>
        </p:nvSpPr>
        <p:spPr/>
        <p:txBody>
          <a:bodyPr/>
          <a:lstStyle/>
          <a:p>
            <a:fld id="{407BB42D-96AE-EC40-81E7-9E8F9C61A093}" type="slidenum">
              <a:rPr lang="en-US" smtClean="0"/>
              <a:t>‹#›</a:t>
            </a:fld>
            <a:endParaRPr lang="en-US"/>
          </a:p>
        </p:txBody>
      </p:sp>
    </p:spTree>
    <p:extLst>
      <p:ext uri="{BB962C8B-B14F-4D97-AF65-F5344CB8AC3E}">
        <p14:creationId xmlns:p14="http://schemas.microsoft.com/office/powerpoint/2010/main" val="1401600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C17755-4394-884B-BC66-924B8DBEE684}"/>
              </a:ext>
            </a:extLst>
          </p:cNvPr>
          <p:cNvSpPr>
            <a:spLocks noGrp="1"/>
          </p:cNvSpPr>
          <p:nvPr>
            <p:ph type="dt" sz="half" idx="10"/>
          </p:nvPr>
        </p:nvSpPr>
        <p:spPr/>
        <p:txBody>
          <a:bodyPr/>
          <a:lstStyle/>
          <a:p>
            <a:fld id="{9F428DFC-3592-304B-BCE4-5D7C24245733}" type="datetimeFigureOut">
              <a:rPr lang="en-US" smtClean="0"/>
              <a:t>7/6/21</a:t>
            </a:fld>
            <a:endParaRPr lang="en-US"/>
          </a:p>
        </p:txBody>
      </p:sp>
      <p:sp>
        <p:nvSpPr>
          <p:cNvPr id="3" name="Footer Placeholder 2">
            <a:extLst>
              <a:ext uri="{FF2B5EF4-FFF2-40B4-BE49-F238E27FC236}">
                <a16:creationId xmlns:a16="http://schemas.microsoft.com/office/drawing/2014/main" id="{BD15D151-0D41-6F4F-B569-C500531EF4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348513A-3D1B-1044-93C9-BD08A809AF6B}"/>
              </a:ext>
            </a:extLst>
          </p:cNvPr>
          <p:cNvSpPr>
            <a:spLocks noGrp="1"/>
          </p:cNvSpPr>
          <p:nvPr>
            <p:ph type="sldNum" sz="quarter" idx="12"/>
          </p:nvPr>
        </p:nvSpPr>
        <p:spPr/>
        <p:txBody>
          <a:bodyPr/>
          <a:lstStyle/>
          <a:p>
            <a:fld id="{407BB42D-96AE-EC40-81E7-9E8F9C61A093}" type="slidenum">
              <a:rPr lang="en-US" smtClean="0"/>
              <a:t>‹#›</a:t>
            </a:fld>
            <a:endParaRPr lang="en-US"/>
          </a:p>
        </p:txBody>
      </p:sp>
    </p:spTree>
    <p:extLst>
      <p:ext uri="{BB962C8B-B14F-4D97-AF65-F5344CB8AC3E}">
        <p14:creationId xmlns:p14="http://schemas.microsoft.com/office/powerpoint/2010/main" val="4141163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82DB2-0A49-1146-A642-2BCEDC6B4A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83518D1-9E47-C742-B41B-BF9F81F861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7FB1A0-DF8F-BB4C-8DEB-A905C056B7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E1F255-24E1-D146-9836-72FD8E9288E9}"/>
              </a:ext>
            </a:extLst>
          </p:cNvPr>
          <p:cNvSpPr>
            <a:spLocks noGrp="1"/>
          </p:cNvSpPr>
          <p:nvPr>
            <p:ph type="dt" sz="half" idx="10"/>
          </p:nvPr>
        </p:nvSpPr>
        <p:spPr/>
        <p:txBody>
          <a:bodyPr/>
          <a:lstStyle/>
          <a:p>
            <a:fld id="{9F428DFC-3592-304B-BCE4-5D7C24245733}" type="datetimeFigureOut">
              <a:rPr lang="en-US" smtClean="0"/>
              <a:t>7/6/21</a:t>
            </a:fld>
            <a:endParaRPr lang="en-US"/>
          </a:p>
        </p:txBody>
      </p:sp>
      <p:sp>
        <p:nvSpPr>
          <p:cNvPr id="6" name="Footer Placeholder 5">
            <a:extLst>
              <a:ext uri="{FF2B5EF4-FFF2-40B4-BE49-F238E27FC236}">
                <a16:creationId xmlns:a16="http://schemas.microsoft.com/office/drawing/2014/main" id="{3C755DB2-366E-0746-8C0E-E141C212BC0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AA5DF8-CF91-4B49-BA49-B82F560BD09E}"/>
              </a:ext>
            </a:extLst>
          </p:cNvPr>
          <p:cNvSpPr>
            <a:spLocks noGrp="1"/>
          </p:cNvSpPr>
          <p:nvPr>
            <p:ph type="sldNum" sz="quarter" idx="12"/>
          </p:nvPr>
        </p:nvSpPr>
        <p:spPr/>
        <p:txBody>
          <a:bodyPr/>
          <a:lstStyle/>
          <a:p>
            <a:fld id="{407BB42D-96AE-EC40-81E7-9E8F9C61A093}" type="slidenum">
              <a:rPr lang="en-US" smtClean="0"/>
              <a:t>‹#›</a:t>
            </a:fld>
            <a:endParaRPr lang="en-US"/>
          </a:p>
        </p:txBody>
      </p:sp>
    </p:spTree>
    <p:extLst>
      <p:ext uri="{BB962C8B-B14F-4D97-AF65-F5344CB8AC3E}">
        <p14:creationId xmlns:p14="http://schemas.microsoft.com/office/powerpoint/2010/main" val="329898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E9027-98D9-9F4E-8CCE-E1B00426C2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1D1EECD-0DD5-5A47-A537-1846826CF50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92799BC-35E1-2B4B-8FF1-67A89A94952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317486-EDAF-0943-8C60-7C6000C98FA5}"/>
              </a:ext>
            </a:extLst>
          </p:cNvPr>
          <p:cNvSpPr>
            <a:spLocks noGrp="1"/>
          </p:cNvSpPr>
          <p:nvPr>
            <p:ph type="dt" sz="half" idx="10"/>
          </p:nvPr>
        </p:nvSpPr>
        <p:spPr/>
        <p:txBody>
          <a:bodyPr/>
          <a:lstStyle/>
          <a:p>
            <a:fld id="{9F428DFC-3592-304B-BCE4-5D7C24245733}" type="datetimeFigureOut">
              <a:rPr lang="en-US" smtClean="0"/>
              <a:t>7/6/21</a:t>
            </a:fld>
            <a:endParaRPr lang="en-US"/>
          </a:p>
        </p:txBody>
      </p:sp>
      <p:sp>
        <p:nvSpPr>
          <p:cNvPr id="6" name="Footer Placeholder 5">
            <a:extLst>
              <a:ext uri="{FF2B5EF4-FFF2-40B4-BE49-F238E27FC236}">
                <a16:creationId xmlns:a16="http://schemas.microsoft.com/office/drawing/2014/main" id="{2CADEAC6-2489-3D4E-B823-D9E67B6252E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A117D-51DE-A344-B385-3AA450B74009}"/>
              </a:ext>
            </a:extLst>
          </p:cNvPr>
          <p:cNvSpPr>
            <a:spLocks noGrp="1"/>
          </p:cNvSpPr>
          <p:nvPr>
            <p:ph type="sldNum" sz="quarter" idx="12"/>
          </p:nvPr>
        </p:nvSpPr>
        <p:spPr/>
        <p:txBody>
          <a:bodyPr/>
          <a:lstStyle/>
          <a:p>
            <a:fld id="{407BB42D-96AE-EC40-81E7-9E8F9C61A093}" type="slidenum">
              <a:rPr lang="en-US" smtClean="0"/>
              <a:t>‹#›</a:t>
            </a:fld>
            <a:endParaRPr lang="en-US"/>
          </a:p>
        </p:txBody>
      </p:sp>
    </p:spTree>
    <p:extLst>
      <p:ext uri="{BB962C8B-B14F-4D97-AF65-F5344CB8AC3E}">
        <p14:creationId xmlns:p14="http://schemas.microsoft.com/office/powerpoint/2010/main" val="11637440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FF894-784E-BE42-BA3F-FDCF51B5425F}"/>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42626D-16D5-0245-B994-8C3F7C8676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3D58B1-CF11-CC42-AA17-637F4DA48760}"/>
              </a:ext>
            </a:extLst>
          </p:cNvPr>
          <p:cNvSpPr>
            <a:spLocks noGrp="1"/>
          </p:cNvSpPr>
          <p:nvPr>
            <p:ph type="dt" sz="half" idx="10"/>
          </p:nvPr>
        </p:nvSpPr>
        <p:spPr/>
        <p:txBody>
          <a:bodyPr/>
          <a:lstStyle/>
          <a:p>
            <a:fld id="{9F428DFC-3592-304B-BCE4-5D7C24245733}" type="datetimeFigureOut">
              <a:rPr lang="en-US" smtClean="0"/>
              <a:t>7/6/21</a:t>
            </a:fld>
            <a:endParaRPr lang="en-US"/>
          </a:p>
        </p:txBody>
      </p:sp>
      <p:sp>
        <p:nvSpPr>
          <p:cNvPr id="5" name="Footer Placeholder 4">
            <a:extLst>
              <a:ext uri="{FF2B5EF4-FFF2-40B4-BE49-F238E27FC236}">
                <a16:creationId xmlns:a16="http://schemas.microsoft.com/office/drawing/2014/main" id="{64E75458-F0BC-5944-BE0A-DD74A3467F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3D0C3B-2E70-954E-8B6E-AD433506CB80}"/>
              </a:ext>
            </a:extLst>
          </p:cNvPr>
          <p:cNvSpPr>
            <a:spLocks noGrp="1"/>
          </p:cNvSpPr>
          <p:nvPr>
            <p:ph type="sldNum" sz="quarter" idx="12"/>
          </p:nvPr>
        </p:nvSpPr>
        <p:spPr/>
        <p:txBody>
          <a:bodyPr/>
          <a:lstStyle/>
          <a:p>
            <a:fld id="{407BB42D-96AE-EC40-81E7-9E8F9C61A093}" type="slidenum">
              <a:rPr lang="en-US" smtClean="0"/>
              <a:t>‹#›</a:t>
            </a:fld>
            <a:endParaRPr lang="en-US"/>
          </a:p>
        </p:txBody>
      </p:sp>
    </p:spTree>
    <p:extLst>
      <p:ext uri="{BB962C8B-B14F-4D97-AF65-F5344CB8AC3E}">
        <p14:creationId xmlns:p14="http://schemas.microsoft.com/office/powerpoint/2010/main" val="2115652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EB0B361-04C6-1F40-88AE-D9FB6A37A7D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3B5FD6B-00D7-0A4D-9026-C7D5B53AC8B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F4EBC4-D79C-0946-82EC-BDB37D39F95D}"/>
              </a:ext>
            </a:extLst>
          </p:cNvPr>
          <p:cNvSpPr>
            <a:spLocks noGrp="1"/>
          </p:cNvSpPr>
          <p:nvPr>
            <p:ph type="dt" sz="half" idx="10"/>
          </p:nvPr>
        </p:nvSpPr>
        <p:spPr/>
        <p:txBody>
          <a:bodyPr/>
          <a:lstStyle/>
          <a:p>
            <a:fld id="{9F428DFC-3592-304B-BCE4-5D7C24245733}" type="datetimeFigureOut">
              <a:rPr lang="en-US" smtClean="0"/>
              <a:t>7/6/21</a:t>
            </a:fld>
            <a:endParaRPr lang="en-US"/>
          </a:p>
        </p:txBody>
      </p:sp>
      <p:sp>
        <p:nvSpPr>
          <p:cNvPr id="5" name="Footer Placeholder 4">
            <a:extLst>
              <a:ext uri="{FF2B5EF4-FFF2-40B4-BE49-F238E27FC236}">
                <a16:creationId xmlns:a16="http://schemas.microsoft.com/office/drawing/2014/main" id="{E203BCAD-C604-674A-8E27-A94AB7D3B2B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C14460-7E0B-1347-ADE0-0D86D29A720C}"/>
              </a:ext>
            </a:extLst>
          </p:cNvPr>
          <p:cNvSpPr>
            <a:spLocks noGrp="1"/>
          </p:cNvSpPr>
          <p:nvPr>
            <p:ph type="sldNum" sz="quarter" idx="12"/>
          </p:nvPr>
        </p:nvSpPr>
        <p:spPr/>
        <p:txBody>
          <a:bodyPr/>
          <a:lstStyle/>
          <a:p>
            <a:fld id="{407BB42D-96AE-EC40-81E7-9E8F9C61A093}" type="slidenum">
              <a:rPr lang="en-US" smtClean="0"/>
              <a:t>‹#›</a:t>
            </a:fld>
            <a:endParaRPr lang="en-US"/>
          </a:p>
        </p:txBody>
      </p:sp>
    </p:spTree>
    <p:extLst>
      <p:ext uri="{BB962C8B-B14F-4D97-AF65-F5344CB8AC3E}">
        <p14:creationId xmlns:p14="http://schemas.microsoft.com/office/powerpoint/2010/main" val="25068249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CDA74ED-24D1-0545-ADB0-C871D345B73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37DA699-26A3-634E-9DE9-1F93A30973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BA0322A-C847-D34D-A1F8-AF0691A2482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F428DFC-3592-304B-BCE4-5D7C24245733}" type="datetimeFigureOut">
              <a:rPr lang="en-US" smtClean="0"/>
              <a:t>7/6/21</a:t>
            </a:fld>
            <a:endParaRPr lang="en-US"/>
          </a:p>
        </p:txBody>
      </p:sp>
      <p:sp>
        <p:nvSpPr>
          <p:cNvPr id="5" name="Footer Placeholder 4">
            <a:extLst>
              <a:ext uri="{FF2B5EF4-FFF2-40B4-BE49-F238E27FC236}">
                <a16:creationId xmlns:a16="http://schemas.microsoft.com/office/drawing/2014/main" id="{243BAE77-B3FD-4542-8602-E4004554BB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CE5AC1B-1108-AB4E-ABDC-C27040A2126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BB42D-96AE-EC40-81E7-9E8F9C61A093}" type="slidenum">
              <a:rPr lang="en-US" smtClean="0"/>
              <a:t>‹#›</a:t>
            </a:fld>
            <a:endParaRPr lang="en-US"/>
          </a:p>
        </p:txBody>
      </p:sp>
    </p:spTree>
    <p:extLst>
      <p:ext uri="{BB962C8B-B14F-4D97-AF65-F5344CB8AC3E}">
        <p14:creationId xmlns:p14="http://schemas.microsoft.com/office/powerpoint/2010/main" val="16603464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5D9EB-343F-2346-85F8-085306F085FE}"/>
              </a:ext>
            </a:extLst>
          </p:cNvPr>
          <p:cNvSpPr>
            <a:spLocks noGrp="1"/>
          </p:cNvSpPr>
          <p:nvPr>
            <p:ph type="title"/>
          </p:nvPr>
        </p:nvSpPr>
        <p:spPr/>
        <p:txBody>
          <a:bodyPr>
            <a:normAutofit/>
          </a:bodyPr>
          <a:lstStyle/>
          <a:p>
            <a:pPr algn="ctr"/>
            <a:r>
              <a:rPr lang="en-US" sz="5400" b="1" dirty="0"/>
              <a:t>Exploring Use of CLI</a:t>
            </a:r>
          </a:p>
        </p:txBody>
      </p:sp>
      <p:sp>
        <p:nvSpPr>
          <p:cNvPr id="3" name="Content Placeholder 2">
            <a:extLst>
              <a:ext uri="{FF2B5EF4-FFF2-40B4-BE49-F238E27FC236}">
                <a16:creationId xmlns:a16="http://schemas.microsoft.com/office/drawing/2014/main" id="{39744CB5-C66E-E042-85E9-55667BE35115}"/>
              </a:ext>
            </a:extLst>
          </p:cNvPr>
          <p:cNvSpPr>
            <a:spLocks noGrp="1"/>
          </p:cNvSpPr>
          <p:nvPr>
            <p:ph idx="1"/>
          </p:nvPr>
        </p:nvSpPr>
        <p:spPr/>
        <p:txBody>
          <a:bodyPr>
            <a:normAutofit fontScale="85000" lnSpcReduction="10000"/>
          </a:bodyPr>
          <a:lstStyle/>
          <a:p>
            <a:pPr>
              <a:lnSpc>
                <a:spcPct val="170000"/>
              </a:lnSpc>
            </a:pPr>
            <a:r>
              <a:rPr lang="en-US" dirty="0">
                <a:effectLst/>
              </a:rPr>
              <a:t>locate your cursor/command prompt: this is where you will type commands</a:t>
            </a:r>
          </a:p>
          <a:p>
            <a:pPr>
              <a:lnSpc>
                <a:spcPct val="170000"/>
              </a:lnSpc>
            </a:pPr>
            <a:r>
              <a:rPr lang="en-US" dirty="0"/>
              <a:t>programs are run in the command line following this pattern:</a:t>
            </a:r>
          </a:p>
          <a:p>
            <a:pPr marL="0" indent="0">
              <a:lnSpc>
                <a:spcPct val="170000"/>
              </a:lnSpc>
              <a:buNone/>
            </a:pPr>
            <a:r>
              <a:rPr lang="en-US" dirty="0">
                <a:effectLst/>
              </a:rPr>
              <a:t>		$ </a:t>
            </a:r>
            <a:r>
              <a:rPr lang="en-US" b="1" dirty="0">
                <a:solidFill>
                  <a:srgbClr val="FF0000"/>
                </a:solidFill>
                <a:effectLst/>
                <a:latin typeface="Courier New" panose="02070309020205020404" pitchFamily="49" charset="0"/>
                <a:cs typeface="Courier New" panose="02070309020205020404" pitchFamily="49" charset="0"/>
              </a:rPr>
              <a:t>command</a:t>
            </a:r>
            <a:r>
              <a:rPr lang="en-US" dirty="0">
                <a:effectLst/>
              </a:rPr>
              <a:t> </a:t>
            </a:r>
            <a:r>
              <a:rPr lang="en-US" dirty="0">
                <a:solidFill>
                  <a:srgbClr val="FF0000"/>
                </a:solidFill>
              </a:rPr>
              <a:t>-options</a:t>
            </a:r>
            <a:r>
              <a:rPr lang="en-US" i="1" dirty="0">
                <a:solidFill>
                  <a:srgbClr val="FF0000"/>
                </a:solidFill>
                <a:effectLst/>
              </a:rPr>
              <a:t> </a:t>
            </a:r>
            <a:r>
              <a:rPr lang="en-US" dirty="0">
                <a:effectLst/>
              </a:rPr>
              <a:t>&lt;</a:t>
            </a:r>
            <a:r>
              <a:rPr lang="en-US" i="1" dirty="0">
                <a:solidFill>
                  <a:srgbClr val="FF0000"/>
                </a:solidFill>
                <a:effectLst/>
              </a:rPr>
              <a:t>file or other input</a:t>
            </a:r>
            <a:r>
              <a:rPr lang="en-US" dirty="0">
                <a:effectLst/>
              </a:rPr>
              <a:t>&gt;</a:t>
            </a:r>
          </a:p>
          <a:p>
            <a:pPr>
              <a:lnSpc>
                <a:spcPct val="170000"/>
              </a:lnSpc>
            </a:pPr>
            <a:r>
              <a:rPr lang="en-US" dirty="0"/>
              <a:t>the $ in this context and throughout the presentation represents your prompt – you do not type that part out each time things I want you to type will be in red</a:t>
            </a:r>
            <a:endParaRPr lang="en-US" dirty="0">
              <a:effectLst/>
            </a:endParaRPr>
          </a:p>
          <a:p>
            <a:pPr>
              <a:lnSpc>
                <a:spcPct val="170000"/>
              </a:lnSpc>
            </a:pPr>
            <a:r>
              <a:rPr lang="en-US" dirty="0">
                <a:effectLst/>
              </a:rPr>
              <a:t>Example: type the command </a:t>
            </a:r>
            <a:r>
              <a:rPr lang="en-US" b="1" dirty="0" err="1">
                <a:solidFill>
                  <a:srgbClr val="FF0000"/>
                </a:solidFill>
                <a:effectLst/>
                <a:latin typeface="Courier New" panose="02070309020205020404" pitchFamily="49" charset="0"/>
                <a:cs typeface="Courier New" panose="02070309020205020404" pitchFamily="49" charset="0"/>
              </a:rPr>
              <a:t>pwd</a:t>
            </a:r>
            <a:r>
              <a:rPr lang="en-US" dirty="0">
                <a:effectLst/>
              </a:rPr>
              <a:t> and see what happens…</a:t>
            </a:r>
            <a:endParaRPr lang="en-US" dirty="0"/>
          </a:p>
        </p:txBody>
      </p:sp>
    </p:spTree>
    <p:extLst>
      <p:ext uri="{BB962C8B-B14F-4D97-AF65-F5344CB8AC3E}">
        <p14:creationId xmlns:p14="http://schemas.microsoft.com/office/powerpoint/2010/main" val="3473197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DA3B-E6C0-244C-90A9-571B7034D83C}"/>
              </a:ext>
            </a:extLst>
          </p:cNvPr>
          <p:cNvSpPr>
            <a:spLocks noGrp="1"/>
          </p:cNvSpPr>
          <p:nvPr>
            <p:ph type="title"/>
          </p:nvPr>
        </p:nvSpPr>
        <p:spPr/>
        <p:txBody>
          <a:bodyPr/>
          <a:lstStyle/>
          <a:p>
            <a:endParaRPr lang="en-US"/>
          </a:p>
        </p:txBody>
      </p:sp>
      <p:pic>
        <p:nvPicPr>
          <p:cNvPr id="5" name="Content Placeholder 4" descr="Diagram&#10;&#10;Description automatically generated">
            <a:extLst>
              <a:ext uri="{FF2B5EF4-FFF2-40B4-BE49-F238E27FC236}">
                <a16:creationId xmlns:a16="http://schemas.microsoft.com/office/drawing/2014/main" id="{F06A077C-2533-FC43-BBE2-1D10CDE89B22}"/>
              </a:ext>
            </a:extLst>
          </p:cNvPr>
          <p:cNvPicPr>
            <a:picLocks noGrp="1" noChangeAspect="1"/>
          </p:cNvPicPr>
          <p:nvPr>
            <p:ph idx="1"/>
          </p:nvPr>
        </p:nvPicPr>
        <p:blipFill>
          <a:blip r:embed="rId3"/>
          <a:stretch>
            <a:fillRect/>
          </a:stretch>
        </p:blipFill>
        <p:spPr>
          <a:xfrm>
            <a:off x="0" y="0"/>
            <a:ext cx="12192000" cy="6858000"/>
          </a:xfrm>
        </p:spPr>
      </p:pic>
      <p:sp>
        <p:nvSpPr>
          <p:cNvPr id="6" name="TextBox 5">
            <a:extLst>
              <a:ext uri="{FF2B5EF4-FFF2-40B4-BE49-F238E27FC236}">
                <a16:creationId xmlns:a16="http://schemas.microsoft.com/office/drawing/2014/main" id="{7B8F01D2-3377-5E4D-988B-81E391A67BD7}"/>
              </a:ext>
            </a:extLst>
          </p:cNvPr>
          <p:cNvSpPr txBox="1"/>
          <p:nvPr/>
        </p:nvSpPr>
        <p:spPr>
          <a:xfrm>
            <a:off x="0" y="-109825"/>
            <a:ext cx="1967975" cy="584775"/>
          </a:xfrm>
          <a:prstGeom prst="rect">
            <a:avLst/>
          </a:prstGeom>
          <a:noFill/>
        </p:spPr>
        <p:txBody>
          <a:bodyPr wrap="none" rtlCol="0">
            <a:spAutoFit/>
          </a:bodyPr>
          <a:lstStyle/>
          <a:p>
            <a:r>
              <a:rPr lang="en-US" sz="3200" b="1" dirty="0"/>
              <a:t>Filesystem</a:t>
            </a:r>
          </a:p>
        </p:txBody>
      </p:sp>
    </p:spTree>
    <p:extLst>
      <p:ext uri="{BB962C8B-B14F-4D97-AF65-F5344CB8AC3E}">
        <p14:creationId xmlns:p14="http://schemas.microsoft.com/office/powerpoint/2010/main" val="7001336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5D9EB-343F-2346-85F8-085306F085FE}"/>
              </a:ext>
            </a:extLst>
          </p:cNvPr>
          <p:cNvSpPr>
            <a:spLocks noGrp="1"/>
          </p:cNvSpPr>
          <p:nvPr>
            <p:ph type="title"/>
          </p:nvPr>
        </p:nvSpPr>
        <p:spPr/>
        <p:txBody>
          <a:bodyPr>
            <a:normAutofit/>
          </a:bodyPr>
          <a:lstStyle/>
          <a:p>
            <a:pPr algn="ctr"/>
            <a:r>
              <a:rPr lang="en-US" sz="5400" b="1" dirty="0"/>
              <a:t>Exploring Use of CLI</a:t>
            </a:r>
          </a:p>
        </p:txBody>
      </p:sp>
      <p:sp>
        <p:nvSpPr>
          <p:cNvPr id="3" name="Content Placeholder 2">
            <a:extLst>
              <a:ext uri="{FF2B5EF4-FFF2-40B4-BE49-F238E27FC236}">
                <a16:creationId xmlns:a16="http://schemas.microsoft.com/office/drawing/2014/main" id="{39744CB5-C66E-E042-85E9-55667BE35115}"/>
              </a:ext>
            </a:extLst>
          </p:cNvPr>
          <p:cNvSpPr>
            <a:spLocks noGrp="1"/>
          </p:cNvSpPr>
          <p:nvPr>
            <p:ph idx="1"/>
          </p:nvPr>
        </p:nvSpPr>
        <p:spPr/>
        <p:txBody>
          <a:bodyPr>
            <a:normAutofit/>
          </a:bodyPr>
          <a:lstStyle/>
          <a:p>
            <a:r>
              <a:rPr lang="en-US" dirty="0">
                <a:effectLst/>
              </a:rPr>
              <a:t>we can change directories (move up and down the filesystem structure) </a:t>
            </a:r>
            <a:r>
              <a:rPr lang="en-US" dirty="0"/>
              <a:t>using the command </a:t>
            </a:r>
            <a:r>
              <a:rPr lang="en-US" b="1" dirty="0">
                <a:solidFill>
                  <a:srgbClr val="FF0000"/>
                </a:solidFill>
                <a:latin typeface="Courier New" panose="02070309020205020404" pitchFamily="49" charset="0"/>
                <a:cs typeface="Courier New" panose="02070309020205020404" pitchFamily="49" charset="0"/>
              </a:rPr>
              <a:t>cd</a:t>
            </a:r>
            <a:br>
              <a:rPr lang="en-US" dirty="0">
                <a:effectLst/>
              </a:rPr>
            </a:br>
            <a:br>
              <a:rPr lang="en-US" dirty="0">
                <a:effectLst/>
              </a:rPr>
            </a:br>
            <a:r>
              <a:rPr lang="en-US" dirty="0">
                <a:effectLst/>
              </a:rPr>
              <a:t>$ </a:t>
            </a:r>
            <a:r>
              <a:rPr lang="en-US" b="1" dirty="0">
                <a:solidFill>
                  <a:srgbClr val="FF0000"/>
                </a:solidFill>
                <a:effectLst/>
                <a:latin typeface="Courier New" panose="02070309020205020404" pitchFamily="49" charset="0"/>
                <a:cs typeface="Courier New" panose="02070309020205020404" pitchFamily="49" charset="0"/>
              </a:rPr>
              <a:t>cd</a:t>
            </a:r>
            <a:r>
              <a:rPr lang="en-US" dirty="0">
                <a:solidFill>
                  <a:srgbClr val="FF0000"/>
                </a:solidFill>
                <a:effectLst/>
              </a:rPr>
              <a:t> ..</a:t>
            </a:r>
            <a:br>
              <a:rPr lang="en-US" dirty="0">
                <a:effectLst/>
              </a:rPr>
            </a:br>
            <a:r>
              <a:rPr lang="en-US" dirty="0">
                <a:effectLst/>
              </a:rPr>
              <a:t>$ </a:t>
            </a:r>
            <a:r>
              <a:rPr lang="en-US" b="1" dirty="0" err="1">
                <a:solidFill>
                  <a:srgbClr val="FF0000"/>
                </a:solidFill>
                <a:effectLst/>
                <a:latin typeface="Courier New" panose="02070309020205020404" pitchFamily="49" charset="0"/>
                <a:cs typeface="Courier New" panose="02070309020205020404" pitchFamily="49" charset="0"/>
              </a:rPr>
              <a:t>pwd</a:t>
            </a:r>
            <a:br>
              <a:rPr lang="en-US" dirty="0">
                <a:effectLst/>
              </a:rPr>
            </a:br>
            <a:br>
              <a:rPr lang="en-US" dirty="0">
                <a:effectLst/>
              </a:rPr>
            </a:br>
            <a:br>
              <a:rPr lang="en-US" dirty="0">
                <a:effectLst/>
              </a:rPr>
            </a:br>
            <a:endParaRPr lang="en-US" dirty="0"/>
          </a:p>
        </p:txBody>
      </p:sp>
    </p:spTree>
    <p:extLst>
      <p:ext uri="{BB962C8B-B14F-4D97-AF65-F5344CB8AC3E}">
        <p14:creationId xmlns:p14="http://schemas.microsoft.com/office/powerpoint/2010/main" val="41892156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5D9EB-343F-2346-85F8-085306F085FE}"/>
              </a:ext>
            </a:extLst>
          </p:cNvPr>
          <p:cNvSpPr>
            <a:spLocks noGrp="1"/>
          </p:cNvSpPr>
          <p:nvPr>
            <p:ph type="title"/>
          </p:nvPr>
        </p:nvSpPr>
        <p:spPr/>
        <p:txBody>
          <a:bodyPr>
            <a:normAutofit/>
          </a:bodyPr>
          <a:lstStyle/>
          <a:p>
            <a:pPr algn="ctr"/>
            <a:r>
              <a:rPr lang="en-US" sz="5400" b="1" dirty="0"/>
              <a:t>Exploring Use of CLI</a:t>
            </a:r>
          </a:p>
        </p:txBody>
      </p:sp>
      <p:sp>
        <p:nvSpPr>
          <p:cNvPr id="3" name="Content Placeholder 2">
            <a:extLst>
              <a:ext uri="{FF2B5EF4-FFF2-40B4-BE49-F238E27FC236}">
                <a16:creationId xmlns:a16="http://schemas.microsoft.com/office/drawing/2014/main" id="{39744CB5-C66E-E042-85E9-55667BE35115}"/>
              </a:ext>
            </a:extLst>
          </p:cNvPr>
          <p:cNvSpPr>
            <a:spLocks noGrp="1"/>
          </p:cNvSpPr>
          <p:nvPr>
            <p:ph idx="1"/>
          </p:nvPr>
        </p:nvSpPr>
        <p:spPr/>
        <p:txBody>
          <a:bodyPr>
            <a:normAutofit lnSpcReduction="10000"/>
          </a:bodyPr>
          <a:lstStyle/>
          <a:p>
            <a:r>
              <a:rPr lang="en-US" dirty="0">
                <a:effectLst/>
              </a:rPr>
              <a:t>we can </a:t>
            </a:r>
            <a:r>
              <a:rPr lang="en-US" u="sng" dirty="0">
                <a:effectLst/>
              </a:rPr>
              <a:t>change directories</a:t>
            </a:r>
            <a:r>
              <a:rPr lang="en-US" dirty="0">
                <a:effectLst/>
              </a:rPr>
              <a:t> (move up and down the filesystem structure) </a:t>
            </a:r>
            <a:r>
              <a:rPr lang="en-US" dirty="0"/>
              <a:t>using the command </a:t>
            </a:r>
            <a:r>
              <a:rPr lang="en-US" b="1" dirty="0">
                <a:solidFill>
                  <a:srgbClr val="FF0000"/>
                </a:solidFill>
                <a:latin typeface="Courier New" panose="02070309020205020404" pitchFamily="49" charset="0"/>
                <a:cs typeface="Courier New" panose="02070309020205020404" pitchFamily="49" charset="0"/>
              </a:rPr>
              <a:t>cd</a:t>
            </a:r>
            <a:br>
              <a:rPr lang="en-US" dirty="0">
                <a:effectLst/>
              </a:rPr>
            </a:br>
            <a:br>
              <a:rPr lang="en-US" dirty="0">
                <a:effectLst/>
              </a:rPr>
            </a:br>
            <a:r>
              <a:rPr lang="en-US" dirty="0">
                <a:effectLst/>
              </a:rPr>
              <a:t>$ </a:t>
            </a:r>
            <a:r>
              <a:rPr lang="en-US" b="1" dirty="0">
                <a:solidFill>
                  <a:srgbClr val="FF0000"/>
                </a:solidFill>
                <a:effectLst/>
                <a:latin typeface="Courier New" panose="02070309020205020404" pitchFamily="49" charset="0"/>
                <a:cs typeface="Courier New" panose="02070309020205020404" pitchFamily="49" charset="0"/>
              </a:rPr>
              <a:t>cd</a:t>
            </a:r>
            <a:r>
              <a:rPr lang="en-US" dirty="0">
                <a:solidFill>
                  <a:srgbClr val="FF0000"/>
                </a:solidFill>
                <a:effectLst/>
              </a:rPr>
              <a:t> ..</a:t>
            </a:r>
            <a:br>
              <a:rPr lang="en-US" dirty="0">
                <a:effectLst/>
              </a:rPr>
            </a:br>
            <a:r>
              <a:rPr lang="en-US" dirty="0">
                <a:effectLst/>
              </a:rPr>
              <a:t>$ </a:t>
            </a:r>
            <a:r>
              <a:rPr lang="en-US" b="1" dirty="0" err="1">
                <a:solidFill>
                  <a:srgbClr val="FF0000"/>
                </a:solidFill>
                <a:effectLst/>
                <a:latin typeface="Courier New" panose="02070309020205020404" pitchFamily="49" charset="0"/>
                <a:cs typeface="Courier New" panose="02070309020205020404" pitchFamily="49" charset="0"/>
              </a:rPr>
              <a:t>pwd</a:t>
            </a:r>
            <a:endParaRPr lang="en-US" b="1" dirty="0">
              <a:solidFill>
                <a:srgbClr val="FF0000"/>
              </a:solidFill>
              <a:effectLst/>
              <a:latin typeface="Courier New" panose="02070309020205020404" pitchFamily="49" charset="0"/>
              <a:cs typeface="Courier New" panose="02070309020205020404" pitchFamily="49" charset="0"/>
            </a:endParaRPr>
          </a:p>
          <a:p>
            <a:pPr marL="0" indent="0">
              <a:buNone/>
            </a:pPr>
            <a:endParaRPr lang="en-US" b="1" dirty="0">
              <a:solidFill>
                <a:srgbClr val="FF0000"/>
              </a:solidFill>
              <a:effectLst/>
              <a:latin typeface="Courier New" panose="02070309020205020404" pitchFamily="49" charset="0"/>
              <a:cs typeface="Courier New" panose="02070309020205020404" pitchFamily="49" charset="0"/>
            </a:endParaRPr>
          </a:p>
          <a:p>
            <a:r>
              <a:rPr lang="en-US" dirty="0"/>
              <a:t>try moving all the way up the filesystem using cd </a:t>
            </a:r>
          </a:p>
          <a:p>
            <a:r>
              <a:rPr lang="en-US" dirty="0">
                <a:effectLst/>
              </a:rPr>
              <a:t>how far can you go…what directory are you in?</a:t>
            </a:r>
            <a:br>
              <a:rPr lang="en-US" dirty="0">
                <a:effectLst/>
              </a:rPr>
            </a:br>
            <a:br>
              <a:rPr lang="en-US" dirty="0">
                <a:effectLst/>
              </a:rPr>
            </a:br>
            <a:br>
              <a:rPr lang="en-US" dirty="0">
                <a:effectLst/>
              </a:rPr>
            </a:br>
            <a:endParaRPr lang="en-US" dirty="0"/>
          </a:p>
        </p:txBody>
      </p:sp>
    </p:spTree>
    <p:extLst>
      <p:ext uri="{BB962C8B-B14F-4D97-AF65-F5344CB8AC3E}">
        <p14:creationId xmlns:p14="http://schemas.microsoft.com/office/powerpoint/2010/main" val="3227142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DA3B-E6C0-244C-90A9-571B7034D83C}"/>
              </a:ext>
            </a:extLst>
          </p:cNvPr>
          <p:cNvSpPr>
            <a:spLocks noGrp="1"/>
          </p:cNvSpPr>
          <p:nvPr>
            <p:ph type="title"/>
          </p:nvPr>
        </p:nvSpPr>
        <p:spPr/>
        <p:txBody>
          <a:bodyPr/>
          <a:lstStyle/>
          <a:p>
            <a:endParaRPr lang="en-US"/>
          </a:p>
        </p:txBody>
      </p:sp>
      <p:pic>
        <p:nvPicPr>
          <p:cNvPr id="5" name="Content Placeholder 4" descr="Diagram&#10;&#10;Description automatically generated">
            <a:extLst>
              <a:ext uri="{FF2B5EF4-FFF2-40B4-BE49-F238E27FC236}">
                <a16:creationId xmlns:a16="http://schemas.microsoft.com/office/drawing/2014/main" id="{F06A077C-2533-FC43-BBE2-1D10CDE89B22}"/>
              </a:ext>
            </a:extLst>
          </p:cNvPr>
          <p:cNvPicPr>
            <a:picLocks noGrp="1" noChangeAspect="1"/>
          </p:cNvPicPr>
          <p:nvPr>
            <p:ph idx="1"/>
          </p:nvPr>
        </p:nvPicPr>
        <p:blipFill>
          <a:blip r:embed="rId3"/>
          <a:stretch>
            <a:fillRect/>
          </a:stretch>
        </p:blipFill>
        <p:spPr>
          <a:xfrm>
            <a:off x="0" y="0"/>
            <a:ext cx="12192000" cy="6858000"/>
          </a:xfrm>
        </p:spPr>
      </p:pic>
      <p:sp>
        <p:nvSpPr>
          <p:cNvPr id="6" name="TextBox 5">
            <a:extLst>
              <a:ext uri="{FF2B5EF4-FFF2-40B4-BE49-F238E27FC236}">
                <a16:creationId xmlns:a16="http://schemas.microsoft.com/office/drawing/2014/main" id="{7B8F01D2-3377-5E4D-988B-81E391A67BD7}"/>
              </a:ext>
            </a:extLst>
          </p:cNvPr>
          <p:cNvSpPr txBox="1"/>
          <p:nvPr/>
        </p:nvSpPr>
        <p:spPr>
          <a:xfrm>
            <a:off x="0" y="-109825"/>
            <a:ext cx="1967975" cy="584775"/>
          </a:xfrm>
          <a:prstGeom prst="rect">
            <a:avLst/>
          </a:prstGeom>
          <a:noFill/>
        </p:spPr>
        <p:txBody>
          <a:bodyPr wrap="none" rtlCol="0">
            <a:spAutoFit/>
          </a:bodyPr>
          <a:lstStyle/>
          <a:p>
            <a:r>
              <a:rPr lang="en-US" sz="3200" b="1" dirty="0"/>
              <a:t>Filesystem</a:t>
            </a:r>
          </a:p>
        </p:txBody>
      </p:sp>
    </p:spTree>
    <p:extLst>
      <p:ext uri="{BB962C8B-B14F-4D97-AF65-F5344CB8AC3E}">
        <p14:creationId xmlns:p14="http://schemas.microsoft.com/office/powerpoint/2010/main" val="23853834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5D9EB-343F-2346-85F8-085306F085FE}"/>
              </a:ext>
            </a:extLst>
          </p:cNvPr>
          <p:cNvSpPr>
            <a:spLocks noGrp="1"/>
          </p:cNvSpPr>
          <p:nvPr>
            <p:ph type="title"/>
          </p:nvPr>
        </p:nvSpPr>
        <p:spPr/>
        <p:txBody>
          <a:bodyPr>
            <a:normAutofit/>
          </a:bodyPr>
          <a:lstStyle/>
          <a:p>
            <a:pPr algn="ctr"/>
            <a:r>
              <a:rPr lang="en-US" sz="5400" b="1" dirty="0"/>
              <a:t>Exploring Use of CLI</a:t>
            </a:r>
          </a:p>
        </p:txBody>
      </p:sp>
      <p:sp>
        <p:nvSpPr>
          <p:cNvPr id="3" name="Content Placeholder 2">
            <a:extLst>
              <a:ext uri="{FF2B5EF4-FFF2-40B4-BE49-F238E27FC236}">
                <a16:creationId xmlns:a16="http://schemas.microsoft.com/office/drawing/2014/main" id="{39744CB5-C66E-E042-85E9-55667BE35115}"/>
              </a:ext>
            </a:extLst>
          </p:cNvPr>
          <p:cNvSpPr>
            <a:spLocks noGrp="1"/>
          </p:cNvSpPr>
          <p:nvPr>
            <p:ph idx="1"/>
          </p:nvPr>
        </p:nvSpPr>
        <p:spPr/>
        <p:txBody>
          <a:bodyPr>
            <a:normAutofit/>
          </a:bodyPr>
          <a:lstStyle/>
          <a:p>
            <a:r>
              <a:rPr lang="en-US" dirty="0">
                <a:effectLst/>
              </a:rPr>
              <a:t>we can </a:t>
            </a:r>
            <a:r>
              <a:rPr lang="en-US" u="sng" dirty="0">
                <a:effectLst/>
              </a:rPr>
              <a:t>change directories</a:t>
            </a:r>
            <a:r>
              <a:rPr lang="en-US" dirty="0">
                <a:effectLst/>
              </a:rPr>
              <a:t> (move up and down the filesystem structure) </a:t>
            </a:r>
            <a:r>
              <a:rPr lang="en-US" dirty="0"/>
              <a:t>using the command </a:t>
            </a:r>
            <a:r>
              <a:rPr lang="en-US" b="1" dirty="0">
                <a:solidFill>
                  <a:srgbClr val="FF0000"/>
                </a:solidFill>
                <a:latin typeface="Courier New" panose="02070309020205020404" pitchFamily="49" charset="0"/>
                <a:cs typeface="Courier New" panose="02070309020205020404" pitchFamily="49" charset="0"/>
              </a:rPr>
              <a:t>cd</a:t>
            </a:r>
          </a:p>
          <a:p>
            <a:pPr marL="0" indent="0">
              <a:buNone/>
            </a:pPr>
            <a:r>
              <a:rPr lang="en-US" dirty="0">
                <a:effectLst/>
                <a:latin typeface="Courier New" panose="02070309020205020404" pitchFamily="49" charset="0"/>
                <a:cs typeface="Courier New" panose="02070309020205020404" pitchFamily="49" charset="0"/>
              </a:rPr>
              <a:t>$ </a:t>
            </a:r>
            <a:r>
              <a:rPr lang="en-US" b="1" dirty="0">
                <a:solidFill>
                  <a:srgbClr val="FF0000"/>
                </a:solidFill>
                <a:effectLst/>
                <a:latin typeface="Courier New" panose="02070309020205020404" pitchFamily="49" charset="0"/>
                <a:cs typeface="Courier New" panose="02070309020205020404" pitchFamily="49" charset="0"/>
              </a:rPr>
              <a:t>cd</a:t>
            </a:r>
            <a:r>
              <a:rPr lang="en-US" dirty="0">
                <a:solidFill>
                  <a:srgbClr val="FF0000"/>
                </a:solidFill>
                <a:effectLst/>
                <a:latin typeface="Courier New" panose="02070309020205020404" pitchFamily="49" charset="0"/>
                <a:cs typeface="Courier New" panose="02070309020205020404" pitchFamily="49" charset="0"/>
              </a:rPr>
              <a:t> ..</a:t>
            </a:r>
            <a:br>
              <a:rPr lang="en-US" dirty="0">
                <a:effectLst/>
                <a:latin typeface="Courier New" panose="02070309020205020404" pitchFamily="49" charset="0"/>
                <a:cs typeface="Courier New" panose="02070309020205020404" pitchFamily="49" charset="0"/>
              </a:rPr>
            </a:br>
            <a:r>
              <a:rPr lang="en-US" dirty="0">
                <a:effectLst/>
                <a:latin typeface="Courier New" panose="02070309020205020404" pitchFamily="49" charset="0"/>
                <a:cs typeface="Courier New" panose="02070309020205020404" pitchFamily="49" charset="0"/>
              </a:rPr>
              <a:t>$ </a:t>
            </a:r>
            <a:r>
              <a:rPr lang="en-US" b="1" dirty="0" err="1">
                <a:solidFill>
                  <a:srgbClr val="FF0000"/>
                </a:solidFill>
                <a:effectLst/>
                <a:latin typeface="Courier New" panose="02070309020205020404" pitchFamily="49" charset="0"/>
                <a:cs typeface="Courier New" panose="02070309020205020404" pitchFamily="49" charset="0"/>
              </a:rPr>
              <a:t>pwd</a:t>
            </a:r>
            <a:endParaRPr lang="en-US" b="1" dirty="0">
              <a:solidFill>
                <a:srgbClr val="FF0000"/>
              </a:solidFill>
              <a:effectLst/>
              <a:latin typeface="Courier New" panose="02070309020205020404" pitchFamily="49" charset="0"/>
              <a:cs typeface="Courier New" panose="02070309020205020404" pitchFamily="49" charset="0"/>
            </a:endParaRPr>
          </a:p>
          <a:p>
            <a:r>
              <a:rPr lang="en-US" dirty="0"/>
              <a:t>try moving all the way up the filesystem using </a:t>
            </a:r>
            <a:r>
              <a:rPr lang="en-US" b="1" dirty="0">
                <a:solidFill>
                  <a:srgbClr val="FF0000"/>
                </a:solidFill>
                <a:latin typeface="Courier New" panose="02070309020205020404" pitchFamily="49" charset="0"/>
                <a:cs typeface="Courier New" panose="02070309020205020404" pitchFamily="49" charset="0"/>
              </a:rPr>
              <a:t>cd</a:t>
            </a:r>
            <a:r>
              <a:rPr lang="en-US" dirty="0"/>
              <a:t> </a:t>
            </a:r>
          </a:p>
          <a:p>
            <a:pPr marL="0" indent="0">
              <a:buNone/>
            </a:pPr>
            <a:endParaRPr lang="en-US" dirty="0"/>
          </a:p>
          <a:p>
            <a:r>
              <a:rPr lang="en-US" dirty="0">
                <a:effectLst/>
              </a:rPr>
              <a:t>Use the list command </a:t>
            </a:r>
            <a:r>
              <a:rPr lang="en-US" b="1" dirty="0">
                <a:solidFill>
                  <a:srgbClr val="FF0000"/>
                </a:solidFill>
                <a:latin typeface="Courier New" panose="02070309020205020404" pitchFamily="49" charset="0"/>
                <a:cs typeface="Courier New" panose="02070309020205020404" pitchFamily="49" charset="0"/>
              </a:rPr>
              <a:t>ls</a:t>
            </a:r>
            <a:r>
              <a:rPr lang="en-US" dirty="0">
                <a:effectLst/>
              </a:rPr>
              <a:t> to see which directories</a:t>
            </a:r>
            <a:r>
              <a:rPr lang="en-US" dirty="0"/>
              <a:t> exist</a:t>
            </a:r>
          </a:p>
          <a:p>
            <a:r>
              <a:rPr lang="en-US" dirty="0"/>
              <a:t>type cd by itself to return to your home directory</a:t>
            </a:r>
          </a:p>
          <a:p>
            <a:pPr marL="0" indent="0">
              <a:buNone/>
            </a:pPr>
            <a:r>
              <a:rPr lang="en-US" dirty="0">
                <a:effectLst/>
                <a:latin typeface="Courier New" panose="02070309020205020404" pitchFamily="49" charset="0"/>
                <a:cs typeface="Courier New" panose="02070309020205020404" pitchFamily="49" charset="0"/>
              </a:rPr>
              <a:t>$ </a:t>
            </a:r>
            <a:r>
              <a:rPr lang="en-US" b="1" dirty="0">
                <a:solidFill>
                  <a:srgbClr val="FF0000"/>
                </a:solidFill>
                <a:effectLst/>
                <a:latin typeface="Courier New" panose="02070309020205020404" pitchFamily="49" charset="0"/>
                <a:cs typeface="Courier New" panose="02070309020205020404" pitchFamily="49" charset="0"/>
              </a:rPr>
              <a:t>cd</a:t>
            </a:r>
            <a:endParaRPr lang="en-US" dirty="0">
              <a:latin typeface="Courier New" panose="02070309020205020404" pitchFamily="49" charset="0"/>
              <a:cs typeface="Courier New" panose="02070309020205020404" pitchFamily="49" charset="0"/>
            </a:endParaRPr>
          </a:p>
          <a:p>
            <a:pPr marL="0" indent="0">
              <a:buNone/>
            </a:pPr>
            <a:endParaRPr lang="en-US" dirty="0"/>
          </a:p>
        </p:txBody>
      </p:sp>
    </p:spTree>
    <p:extLst>
      <p:ext uri="{BB962C8B-B14F-4D97-AF65-F5344CB8AC3E}">
        <p14:creationId xmlns:p14="http://schemas.microsoft.com/office/powerpoint/2010/main" val="2337788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dissolve">
                                      <p:cBhvr>
                                        <p:cTn id="7" dur="500"/>
                                        <p:tgtEl>
                                          <p:spTgt spid="3">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dissolve">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animEffect transition="in" filter="dissolve">
                                      <p:cBhvr>
                                        <p:cTn id="1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5ED9D-8AE4-9D41-A960-5C6029D3BD81}"/>
              </a:ext>
            </a:extLst>
          </p:cNvPr>
          <p:cNvSpPr>
            <a:spLocks noGrp="1"/>
          </p:cNvSpPr>
          <p:nvPr>
            <p:ph type="title"/>
          </p:nvPr>
        </p:nvSpPr>
        <p:spPr/>
        <p:txBody>
          <a:bodyPr>
            <a:normAutofit/>
          </a:bodyPr>
          <a:lstStyle/>
          <a:p>
            <a:pPr algn="ctr"/>
            <a:r>
              <a:rPr lang="en-US" sz="5400" b="1" dirty="0"/>
              <a:t>Files and Directories</a:t>
            </a:r>
          </a:p>
        </p:txBody>
      </p:sp>
      <p:sp>
        <p:nvSpPr>
          <p:cNvPr id="3" name="Content Placeholder 2">
            <a:extLst>
              <a:ext uri="{FF2B5EF4-FFF2-40B4-BE49-F238E27FC236}">
                <a16:creationId xmlns:a16="http://schemas.microsoft.com/office/drawing/2014/main" id="{FDA5B700-6680-164E-A64F-D84A11E0F720}"/>
              </a:ext>
            </a:extLst>
          </p:cNvPr>
          <p:cNvSpPr>
            <a:spLocks noGrp="1"/>
          </p:cNvSpPr>
          <p:nvPr>
            <p:ph idx="1"/>
          </p:nvPr>
        </p:nvSpPr>
        <p:spPr/>
        <p:txBody>
          <a:bodyPr>
            <a:normAutofit/>
          </a:bodyPr>
          <a:lstStyle/>
          <a:p>
            <a:r>
              <a:rPr lang="en-US" dirty="0"/>
              <a:t>Think of directories like folders that contain individual files</a:t>
            </a:r>
          </a:p>
          <a:p>
            <a:r>
              <a:rPr lang="en-US" dirty="0">
                <a:effectLst/>
              </a:rPr>
              <a:t>We can create a directory with the command </a:t>
            </a:r>
            <a:r>
              <a:rPr lang="en-US" b="1" dirty="0" err="1">
                <a:solidFill>
                  <a:srgbClr val="FF0000"/>
                </a:solidFill>
                <a:effectLst/>
                <a:latin typeface="Courier New" panose="02070309020205020404" pitchFamily="49" charset="0"/>
                <a:cs typeface="Courier New" panose="02070309020205020404" pitchFamily="49" charset="0"/>
              </a:rPr>
              <a:t>mkdir</a:t>
            </a:r>
            <a:endParaRPr lang="en-US" b="1" dirty="0">
              <a:solidFill>
                <a:srgbClr val="FF0000"/>
              </a:solidFill>
              <a:effectLst/>
              <a:latin typeface="Courier New" panose="02070309020205020404" pitchFamily="49" charset="0"/>
              <a:cs typeface="Courier New" panose="02070309020205020404" pitchFamily="49" charset="0"/>
            </a:endParaRPr>
          </a:p>
          <a:p>
            <a:r>
              <a:rPr lang="en-US" dirty="0"/>
              <a:t>Create 2 directories called “scripts” and “data” and then use ls to see them listed:</a:t>
            </a:r>
            <a:br>
              <a:rPr lang="en-US" dirty="0">
                <a:effectLst/>
              </a:rPr>
            </a:br>
            <a:br>
              <a:rPr lang="en-US" dirty="0">
                <a:effectLst/>
              </a:rPr>
            </a:br>
            <a:r>
              <a:rPr lang="en-US" dirty="0">
                <a:effectLst/>
                <a:latin typeface="Courier New" panose="02070309020205020404" pitchFamily="49" charset="0"/>
                <a:cs typeface="Courier New" panose="02070309020205020404" pitchFamily="49" charset="0"/>
              </a:rPr>
              <a:t>$</a:t>
            </a:r>
            <a:r>
              <a:rPr lang="en-US" b="1" dirty="0">
                <a:solidFill>
                  <a:srgbClr val="FF0000"/>
                </a:solidFill>
                <a:effectLst/>
                <a:latin typeface="Courier New" panose="02070309020205020404" pitchFamily="49" charset="0"/>
                <a:cs typeface="Courier New" panose="02070309020205020404" pitchFamily="49" charset="0"/>
              </a:rPr>
              <a:t> </a:t>
            </a:r>
            <a:r>
              <a:rPr lang="en-US" b="1" dirty="0" err="1">
                <a:solidFill>
                  <a:srgbClr val="FF0000"/>
                </a:solidFill>
                <a:effectLst/>
                <a:latin typeface="Courier New" panose="02070309020205020404" pitchFamily="49" charset="0"/>
                <a:cs typeface="Courier New" panose="02070309020205020404" pitchFamily="49" charset="0"/>
              </a:rPr>
              <a:t>mkdir</a:t>
            </a:r>
            <a:r>
              <a:rPr lang="en-US" b="1" dirty="0">
                <a:solidFill>
                  <a:srgbClr val="FF0000"/>
                </a:solidFill>
                <a:effectLst/>
                <a:latin typeface="Courier New" panose="02070309020205020404" pitchFamily="49" charset="0"/>
                <a:cs typeface="Courier New" panose="02070309020205020404" pitchFamily="49" charset="0"/>
              </a:rPr>
              <a:t> </a:t>
            </a:r>
            <a:r>
              <a:rPr lang="en-US" dirty="0">
                <a:solidFill>
                  <a:srgbClr val="FF0000"/>
                </a:solidFill>
                <a:effectLst/>
                <a:latin typeface="Courier New" panose="02070309020205020404" pitchFamily="49" charset="0"/>
                <a:cs typeface="Courier New" panose="02070309020205020404" pitchFamily="49" charset="0"/>
              </a:rPr>
              <a:t>scripts</a:t>
            </a:r>
            <a:br>
              <a:rPr lang="en-US" b="1" dirty="0">
                <a:solidFill>
                  <a:srgbClr val="FF0000"/>
                </a:solidFill>
                <a:effectLst/>
                <a:latin typeface="Courier New" panose="02070309020205020404" pitchFamily="49" charset="0"/>
                <a:cs typeface="Courier New" panose="02070309020205020404" pitchFamily="49" charset="0"/>
              </a:rPr>
            </a:br>
            <a:r>
              <a:rPr lang="en-US" dirty="0">
                <a:effectLst/>
                <a:latin typeface="Courier New" panose="02070309020205020404" pitchFamily="49" charset="0"/>
                <a:cs typeface="Courier New" panose="02070309020205020404" pitchFamily="49" charset="0"/>
              </a:rPr>
              <a:t>$</a:t>
            </a:r>
            <a:r>
              <a:rPr lang="en-US" b="1" dirty="0">
                <a:solidFill>
                  <a:srgbClr val="FF0000"/>
                </a:solidFill>
                <a:effectLst/>
                <a:latin typeface="Courier New" panose="02070309020205020404" pitchFamily="49" charset="0"/>
                <a:cs typeface="Courier New" panose="02070309020205020404" pitchFamily="49" charset="0"/>
              </a:rPr>
              <a:t> </a:t>
            </a:r>
            <a:r>
              <a:rPr lang="en-US" b="1" dirty="0" err="1">
                <a:solidFill>
                  <a:srgbClr val="FF0000"/>
                </a:solidFill>
                <a:effectLst/>
                <a:latin typeface="Courier New" panose="02070309020205020404" pitchFamily="49" charset="0"/>
                <a:cs typeface="Courier New" panose="02070309020205020404" pitchFamily="49" charset="0"/>
              </a:rPr>
              <a:t>mkdir</a:t>
            </a:r>
            <a:r>
              <a:rPr lang="en-US" b="1" dirty="0">
                <a:solidFill>
                  <a:srgbClr val="FF0000"/>
                </a:solidFill>
                <a:effectLst/>
                <a:latin typeface="Courier New" panose="02070309020205020404" pitchFamily="49" charset="0"/>
                <a:cs typeface="Courier New" panose="02070309020205020404" pitchFamily="49" charset="0"/>
              </a:rPr>
              <a:t> </a:t>
            </a:r>
            <a:r>
              <a:rPr lang="en-US" dirty="0">
                <a:solidFill>
                  <a:srgbClr val="FF0000"/>
                </a:solidFill>
                <a:effectLst/>
                <a:latin typeface="Courier New" panose="02070309020205020404" pitchFamily="49" charset="0"/>
                <a:cs typeface="Courier New" panose="02070309020205020404" pitchFamily="49" charset="0"/>
              </a:rPr>
              <a:t>data</a:t>
            </a:r>
            <a:br>
              <a:rPr lang="en-US" b="1" dirty="0">
                <a:solidFill>
                  <a:srgbClr val="FF0000"/>
                </a:solidFill>
                <a:effectLst/>
                <a:latin typeface="Courier New" panose="02070309020205020404" pitchFamily="49" charset="0"/>
                <a:cs typeface="Courier New" panose="02070309020205020404" pitchFamily="49" charset="0"/>
              </a:rPr>
            </a:br>
            <a:r>
              <a:rPr lang="en-US" dirty="0">
                <a:effectLst/>
                <a:latin typeface="Courier New" panose="02070309020205020404" pitchFamily="49" charset="0"/>
                <a:cs typeface="Courier New" panose="02070309020205020404" pitchFamily="49" charset="0"/>
              </a:rPr>
              <a:t>$</a:t>
            </a:r>
            <a:r>
              <a:rPr lang="en-US" b="1" dirty="0">
                <a:solidFill>
                  <a:srgbClr val="FF0000"/>
                </a:solidFill>
                <a:effectLst/>
                <a:latin typeface="Courier New" panose="02070309020205020404" pitchFamily="49" charset="0"/>
                <a:cs typeface="Courier New" panose="02070309020205020404" pitchFamily="49" charset="0"/>
              </a:rPr>
              <a:t> ls</a:t>
            </a:r>
            <a:endParaRPr lang="en-US" b="1"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400403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5ED9D-8AE4-9D41-A960-5C6029D3BD81}"/>
              </a:ext>
            </a:extLst>
          </p:cNvPr>
          <p:cNvSpPr>
            <a:spLocks noGrp="1"/>
          </p:cNvSpPr>
          <p:nvPr>
            <p:ph type="title"/>
          </p:nvPr>
        </p:nvSpPr>
        <p:spPr/>
        <p:txBody>
          <a:bodyPr>
            <a:normAutofit/>
          </a:bodyPr>
          <a:lstStyle/>
          <a:p>
            <a:pPr algn="ctr"/>
            <a:r>
              <a:rPr lang="en-US" sz="5400" b="1" dirty="0"/>
              <a:t>Files and Directories</a:t>
            </a:r>
          </a:p>
        </p:txBody>
      </p:sp>
      <p:sp>
        <p:nvSpPr>
          <p:cNvPr id="3" name="Content Placeholder 2">
            <a:extLst>
              <a:ext uri="{FF2B5EF4-FFF2-40B4-BE49-F238E27FC236}">
                <a16:creationId xmlns:a16="http://schemas.microsoft.com/office/drawing/2014/main" id="{FDA5B700-6680-164E-A64F-D84A11E0F720}"/>
              </a:ext>
            </a:extLst>
          </p:cNvPr>
          <p:cNvSpPr>
            <a:spLocks noGrp="1"/>
          </p:cNvSpPr>
          <p:nvPr>
            <p:ph idx="1"/>
          </p:nvPr>
        </p:nvSpPr>
        <p:spPr/>
        <p:txBody>
          <a:bodyPr>
            <a:normAutofit/>
          </a:bodyPr>
          <a:lstStyle/>
          <a:p>
            <a:r>
              <a:rPr lang="en-US" dirty="0"/>
              <a:t>Alternatively, we could have taken a shortcut and made the two directories simultaneously:</a:t>
            </a:r>
            <a:br>
              <a:rPr lang="en-US" dirty="0">
                <a:effectLst/>
              </a:rPr>
            </a:br>
            <a:br>
              <a:rPr lang="en-US" dirty="0">
                <a:effectLst/>
              </a:rPr>
            </a:br>
            <a:r>
              <a:rPr lang="en-US" dirty="0">
                <a:effectLst/>
                <a:latin typeface="Courier New" panose="02070309020205020404" pitchFamily="49" charset="0"/>
                <a:cs typeface="Courier New" panose="02070309020205020404" pitchFamily="49" charset="0"/>
              </a:rPr>
              <a:t>$</a:t>
            </a:r>
            <a:r>
              <a:rPr lang="en-US" b="1" dirty="0">
                <a:effectLst/>
                <a:latin typeface="Courier New" panose="02070309020205020404" pitchFamily="49" charset="0"/>
                <a:cs typeface="Courier New" panose="02070309020205020404" pitchFamily="49" charset="0"/>
              </a:rPr>
              <a:t> </a:t>
            </a:r>
            <a:r>
              <a:rPr lang="en-US" b="1" dirty="0" err="1">
                <a:solidFill>
                  <a:srgbClr val="FF0000"/>
                </a:solidFill>
                <a:effectLst/>
                <a:latin typeface="Courier New" panose="02070309020205020404" pitchFamily="49" charset="0"/>
                <a:cs typeface="Courier New" panose="02070309020205020404" pitchFamily="49" charset="0"/>
              </a:rPr>
              <a:t>mkdir</a:t>
            </a:r>
            <a:r>
              <a:rPr lang="en-US" b="1" dirty="0">
                <a:solidFill>
                  <a:srgbClr val="FF0000"/>
                </a:solidFill>
                <a:effectLst/>
                <a:latin typeface="Courier New" panose="02070309020205020404" pitchFamily="49" charset="0"/>
                <a:cs typeface="Courier New" panose="02070309020205020404" pitchFamily="49" charset="0"/>
              </a:rPr>
              <a:t> </a:t>
            </a:r>
            <a:r>
              <a:rPr lang="en-US" dirty="0">
                <a:solidFill>
                  <a:srgbClr val="FF0000"/>
                </a:solidFill>
                <a:effectLst/>
                <a:latin typeface="Courier New" panose="02070309020205020404" pitchFamily="49" charset="0"/>
                <a:cs typeface="Courier New" panose="02070309020205020404" pitchFamily="49" charset="0"/>
              </a:rPr>
              <a:t>scripts data</a:t>
            </a:r>
          </a:p>
          <a:p>
            <a:endParaRPr lang="en-US" dirty="0">
              <a:solidFill>
                <a:srgbClr val="FF0000"/>
              </a:solidFill>
              <a:latin typeface="Courier New" panose="02070309020205020404" pitchFamily="49" charset="0"/>
              <a:cs typeface="Courier New" panose="02070309020205020404" pitchFamily="49" charset="0"/>
            </a:endParaRPr>
          </a:p>
          <a:p>
            <a:pPr marL="0" indent="0">
              <a:buNone/>
            </a:pPr>
            <a:endParaRPr lang="en-US" dirty="0">
              <a:solidFill>
                <a:srgbClr val="FF0000"/>
              </a:solidFill>
              <a:effectLst/>
              <a:latin typeface="Courier New" panose="02070309020205020404" pitchFamily="49" charset="0"/>
              <a:cs typeface="Courier New" panose="02070309020205020404" pitchFamily="49" charset="0"/>
            </a:endParaRPr>
          </a:p>
          <a:p>
            <a:r>
              <a:rPr lang="en-US" dirty="0">
                <a:effectLst/>
                <a:cs typeface="Courier New" panose="02070309020205020404" pitchFamily="49" charset="0"/>
              </a:rPr>
              <a:t>Try making a directory named whatever you want</a:t>
            </a:r>
          </a:p>
          <a:p>
            <a:r>
              <a:rPr lang="en-US" dirty="0">
                <a:cs typeface="Courier New" panose="02070309020205020404" pitchFamily="49" charset="0"/>
              </a:rPr>
              <a:t>Now remove it using </a:t>
            </a:r>
            <a:r>
              <a:rPr lang="en-US" b="1" dirty="0" err="1">
                <a:solidFill>
                  <a:srgbClr val="FF0000"/>
                </a:solidFill>
                <a:latin typeface="Courier New" panose="02070309020205020404" pitchFamily="49" charset="0"/>
                <a:cs typeface="Courier New" panose="02070309020205020404" pitchFamily="49" charset="0"/>
              </a:rPr>
              <a:t>rmdir</a:t>
            </a:r>
            <a:br>
              <a:rPr lang="en-US" dirty="0">
                <a:effectLst/>
              </a:rPr>
            </a:br>
            <a:endParaRPr lang="en-US" dirty="0"/>
          </a:p>
        </p:txBody>
      </p:sp>
    </p:spTree>
    <p:extLst>
      <p:ext uri="{BB962C8B-B14F-4D97-AF65-F5344CB8AC3E}">
        <p14:creationId xmlns:p14="http://schemas.microsoft.com/office/powerpoint/2010/main" val="4117504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5ED9D-8AE4-9D41-A960-5C6029D3BD81}"/>
              </a:ext>
            </a:extLst>
          </p:cNvPr>
          <p:cNvSpPr>
            <a:spLocks noGrp="1"/>
          </p:cNvSpPr>
          <p:nvPr>
            <p:ph type="title"/>
          </p:nvPr>
        </p:nvSpPr>
        <p:spPr/>
        <p:txBody>
          <a:bodyPr>
            <a:normAutofit/>
          </a:bodyPr>
          <a:lstStyle/>
          <a:p>
            <a:pPr algn="ctr"/>
            <a:r>
              <a:rPr lang="en-US" sz="5400" b="1" dirty="0"/>
              <a:t>Files and Directories</a:t>
            </a:r>
          </a:p>
        </p:txBody>
      </p:sp>
      <p:sp>
        <p:nvSpPr>
          <p:cNvPr id="3" name="Content Placeholder 2">
            <a:extLst>
              <a:ext uri="{FF2B5EF4-FFF2-40B4-BE49-F238E27FC236}">
                <a16:creationId xmlns:a16="http://schemas.microsoft.com/office/drawing/2014/main" id="{FDA5B700-6680-164E-A64F-D84A11E0F720}"/>
              </a:ext>
            </a:extLst>
          </p:cNvPr>
          <p:cNvSpPr>
            <a:spLocks noGrp="1"/>
          </p:cNvSpPr>
          <p:nvPr>
            <p:ph idx="1"/>
          </p:nvPr>
        </p:nvSpPr>
        <p:spPr/>
        <p:txBody>
          <a:bodyPr>
            <a:normAutofit/>
          </a:bodyPr>
          <a:lstStyle/>
          <a:p>
            <a:r>
              <a:rPr lang="en-US" dirty="0"/>
              <a:t>Alternatively, we could have taken a shortcut and made the two directories simultaneously:</a:t>
            </a:r>
            <a:br>
              <a:rPr lang="en-US" dirty="0">
                <a:effectLst/>
              </a:rPr>
            </a:br>
            <a:br>
              <a:rPr lang="en-US" dirty="0">
                <a:effectLst/>
              </a:rPr>
            </a:br>
            <a:r>
              <a:rPr lang="en-US" dirty="0">
                <a:effectLst/>
                <a:latin typeface="Courier New" panose="02070309020205020404" pitchFamily="49" charset="0"/>
                <a:cs typeface="Courier New" panose="02070309020205020404" pitchFamily="49" charset="0"/>
              </a:rPr>
              <a:t>$</a:t>
            </a:r>
            <a:r>
              <a:rPr lang="en-US" b="1" dirty="0">
                <a:effectLst/>
                <a:latin typeface="Courier New" panose="02070309020205020404" pitchFamily="49" charset="0"/>
                <a:cs typeface="Courier New" panose="02070309020205020404" pitchFamily="49" charset="0"/>
              </a:rPr>
              <a:t> </a:t>
            </a:r>
            <a:r>
              <a:rPr lang="en-US" b="1" dirty="0" err="1">
                <a:solidFill>
                  <a:srgbClr val="FF0000"/>
                </a:solidFill>
                <a:effectLst/>
                <a:latin typeface="Courier New" panose="02070309020205020404" pitchFamily="49" charset="0"/>
                <a:cs typeface="Courier New" panose="02070309020205020404" pitchFamily="49" charset="0"/>
              </a:rPr>
              <a:t>mkdir</a:t>
            </a:r>
            <a:r>
              <a:rPr lang="en-US" b="1" dirty="0">
                <a:solidFill>
                  <a:srgbClr val="FF0000"/>
                </a:solidFill>
                <a:effectLst/>
                <a:latin typeface="Courier New" panose="02070309020205020404" pitchFamily="49" charset="0"/>
                <a:cs typeface="Courier New" panose="02070309020205020404" pitchFamily="49" charset="0"/>
              </a:rPr>
              <a:t> </a:t>
            </a:r>
            <a:r>
              <a:rPr lang="en-US" dirty="0">
                <a:solidFill>
                  <a:srgbClr val="FF0000"/>
                </a:solidFill>
                <a:effectLst/>
                <a:latin typeface="Courier New" panose="02070309020205020404" pitchFamily="49" charset="0"/>
                <a:cs typeface="Courier New" panose="02070309020205020404" pitchFamily="49" charset="0"/>
              </a:rPr>
              <a:t>scripts data</a:t>
            </a:r>
          </a:p>
          <a:p>
            <a:pPr marL="0" indent="0">
              <a:buNone/>
            </a:pPr>
            <a:br>
              <a:rPr lang="en-US" dirty="0">
                <a:effectLst/>
              </a:rPr>
            </a:br>
            <a:endParaRPr lang="en-US" dirty="0"/>
          </a:p>
        </p:txBody>
      </p:sp>
    </p:spTree>
    <p:extLst>
      <p:ext uri="{BB962C8B-B14F-4D97-AF65-F5344CB8AC3E}">
        <p14:creationId xmlns:p14="http://schemas.microsoft.com/office/powerpoint/2010/main" val="7142711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5ED9D-8AE4-9D41-A960-5C6029D3BD81}"/>
              </a:ext>
            </a:extLst>
          </p:cNvPr>
          <p:cNvSpPr>
            <a:spLocks noGrp="1"/>
          </p:cNvSpPr>
          <p:nvPr>
            <p:ph type="title"/>
          </p:nvPr>
        </p:nvSpPr>
        <p:spPr/>
        <p:txBody>
          <a:bodyPr>
            <a:normAutofit/>
          </a:bodyPr>
          <a:lstStyle/>
          <a:p>
            <a:pPr algn="ctr"/>
            <a:r>
              <a:rPr lang="en-US" sz="5400" b="1" dirty="0"/>
              <a:t>Files and Directories</a:t>
            </a:r>
          </a:p>
        </p:txBody>
      </p:sp>
      <p:sp>
        <p:nvSpPr>
          <p:cNvPr id="3" name="Content Placeholder 2">
            <a:extLst>
              <a:ext uri="{FF2B5EF4-FFF2-40B4-BE49-F238E27FC236}">
                <a16:creationId xmlns:a16="http://schemas.microsoft.com/office/drawing/2014/main" id="{FDA5B700-6680-164E-A64F-D84A11E0F720}"/>
              </a:ext>
            </a:extLst>
          </p:cNvPr>
          <p:cNvSpPr>
            <a:spLocks noGrp="1"/>
          </p:cNvSpPr>
          <p:nvPr>
            <p:ph idx="1"/>
          </p:nvPr>
        </p:nvSpPr>
        <p:spPr/>
        <p:txBody>
          <a:bodyPr>
            <a:normAutofit fontScale="92500" lnSpcReduction="10000"/>
          </a:bodyPr>
          <a:lstStyle/>
          <a:p>
            <a:r>
              <a:rPr lang="en-US" dirty="0"/>
              <a:t>Make a new directory in your home directory (use cd to get back if you aren’t sure):</a:t>
            </a:r>
            <a:br>
              <a:rPr lang="en-US" dirty="0">
                <a:effectLst/>
              </a:rPr>
            </a:br>
            <a:br>
              <a:rPr lang="en-US" dirty="0">
                <a:effectLst/>
              </a:rPr>
            </a:br>
            <a:r>
              <a:rPr lang="en-US" dirty="0">
                <a:effectLst/>
                <a:latin typeface="Courier New" panose="02070309020205020404" pitchFamily="49" charset="0"/>
                <a:cs typeface="Courier New" panose="02070309020205020404" pitchFamily="49" charset="0"/>
              </a:rPr>
              <a:t>$</a:t>
            </a:r>
            <a:r>
              <a:rPr lang="en-US" b="1" dirty="0">
                <a:effectLst/>
                <a:latin typeface="Courier New" panose="02070309020205020404" pitchFamily="49" charset="0"/>
                <a:cs typeface="Courier New" panose="02070309020205020404" pitchFamily="49" charset="0"/>
              </a:rPr>
              <a:t> </a:t>
            </a:r>
            <a:r>
              <a:rPr lang="en-US" b="1" dirty="0" err="1">
                <a:solidFill>
                  <a:srgbClr val="FF0000"/>
                </a:solidFill>
                <a:effectLst/>
                <a:latin typeface="Courier New" panose="02070309020205020404" pitchFamily="49" charset="0"/>
                <a:cs typeface="Courier New" panose="02070309020205020404" pitchFamily="49" charset="0"/>
              </a:rPr>
              <a:t>mkdir</a:t>
            </a:r>
            <a:r>
              <a:rPr lang="en-US" b="1" dirty="0">
                <a:solidFill>
                  <a:srgbClr val="FF0000"/>
                </a:solidFill>
                <a:effectLst/>
                <a:latin typeface="Courier New" panose="02070309020205020404" pitchFamily="49" charset="0"/>
                <a:cs typeface="Courier New" panose="02070309020205020404" pitchFamily="49" charset="0"/>
              </a:rPr>
              <a:t> </a:t>
            </a:r>
            <a:r>
              <a:rPr lang="en-US" dirty="0">
                <a:solidFill>
                  <a:srgbClr val="FF0000"/>
                </a:solidFill>
                <a:effectLst/>
                <a:latin typeface="Courier New" panose="02070309020205020404" pitchFamily="49" charset="0"/>
                <a:cs typeface="Courier New" panose="02070309020205020404" pitchFamily="49" charset="0"/>
              </a:rPr>
              <a:t>nested</a:t>
            </a:r>
          </a:p>
          <a:p>
            <a:endParaRPr lang="en-US" dirty="0">
              <a:solidFill>
                <a:srgbClr val="FF0000"/>
              </a:solidFill>
              <a:latin typeface="Courier New" panose="02070309020205020404" pitchFamily="49" charset="0"/>
              <a:cs typeface="Courier New" panose="02070309020205020404" pitchFamily="49" charset="0"/>
            </a:endParaRPr>
          </a:p>
          <a:p>
            <a:r>
              <a:rPr lang="en-US" dirty="0"/>
              <a:t>Now cd into that directory and make a directory called </a:t>
            </a:r>
            <a:r>
              <a:rPr lang="en-US" dirty="0">
                <a:solidFill>
                  <a:srgbClr val="FF0000"/>
                </a:solidFill>
                <a:effectLst/>
                <a:latin typeface="Courier New" panose="02070309020205020404" pitchFamily="49" charset="0"/>
                <a:cs typeface="Courier New" panose="02070309020205020404" pitchFamily="49" charset="0"/>
              </a:rPr>
              <a:t>one</a:t>
            </a:r>
          </a:p>
          <a:p>
            <a:r>
              <a:rPr lang="en-US" dirty="0"/>
              <a:t>Now cd into that directory and make a directory called </a:t>
            </a:r>
            <a:r>
              <a:rPr lang="en-US" dirty="0">
                <a:solidFill>
                  <a:srgbClr val="FF0000"/>
                </a:solidFill>
                <a:latin typeface="Courier New" panose="02070309020205020404" pitchFamily="49" charset="0"/>
                <a:cs typeface="Courier New" panose="02070309020205020404" pitchFamily="49" charset="0"/>
              </a:rPr>
              <a:t>two</a:t>
            </a:r>
          </a:p>
          <a:p>
            <a:r>
              <a:rPr lang="en-US" dirty="0"/>
              <a:t>Repeat until you get to five…</a:t>
            </a:r>
          </a:p>
          <a:p>
            <a:endParaRPr lang="en-US" dirty="0">
              <a:solidFill>
                <a:srgbClr val="FF0000"/>
              </a:solidFill>
              <a:effectLst/>
              <a:latin typeface="Courier New" panose="02070309020205020404" pitchFamily="49" charset="0"/>
              <a:cs typeface="Courier New" panose="02070309020205020404" pitchFamily="49" charset="0"/>
            </a:endParaRPr>
          </a:p>
          <a:p>
            <a:pPr marL="0" indent="0">
              <a:buNone/>
            </a:pPr>
            <a:br>
              <a:rPr lang="en-US" dirty="0">
                <a:effectLst/>
              </a:rPr>
            </a:br>
            <a:endParaRPr lang="en-US" dirty="0"/>
          </a:p>
        </p:txBody>
      </p:sp>
    </p:spTree>
    <p:extLst>
      <p:ext uri="{BB962C8B-B14F-4D97-AF65-F5344CB8AC3E}">
        <p14:creationId xmlns:p14="http://schemas.microsoft.com/office/powerpoint/2010/main" val="38075353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3510-06F0-9C4E-80B4-FCF2C5D6C5C5}"/>
              </a:ext>
            </a:extLst>
          </p:cNvPr>
          <p:cNvSpPr>
            <a:spLocks noGrp="1"/>
          </p:cNvSpPr>
          <p:nvPr>
            <p:ph type="title"/>
          </p:nvPr>
        </p:nvSpPr>
        <p:spPr/>
        <p:txBody>
          <a:bodyPr>
            <a:normAutofit/>
          </a:bodyPr>
          <a:lstStyle/>
          <a:p>
            <a:pPr algn="ctr"/>
            <a:r>
              <a:rPr lang="en-US" sz="5400" b="1" dirty="0"/>
              <a:t>Files and Directories</a:t>
            </a:r>
          </a:p>
        </p:txBody>
      </p:sp>
      <p:sp>
        <p:nvSpPr>
          <p:cNvPr id="3" name="Content Placeholder 2">
            <a:extLst>
              <a:ext uri="{FF2B5EF4-FFF2-40B4-BE49-F238E27FC236}">
                <a16:creationId xmlns:a16="http://schemas.microsoft.com/office/drawing/2014/main" id="{05639A13-D24D-DA46-A1C1-508C84B781C1}"/>
              </a:ext>
            </a:extLst>
          </p:cNvPr>
          <p:cNvSpPr>
            <a:spLocks noGrp="1"/>
          </p:cNvSpPr>
          <p:nvPr>
            <p:ph idx="1"/>
          </p:nvPr>
        </p:nvSpPr>
        <p:spPr/>
        <p:txBody>
          <a:bodyPr>
            <a:normAutofit/>
          </a:bodyPr>
          <a:lstStyle/>
          <a:p>
            <a:pPr marL="0" indent="0">
              <a:buNone/>
            </a:pPr>
            <a:r>
              <a:rPr lang="en-US" dirty="0"/>
              <a:t>Let’s make some files!</a:t>
            </a:r>
          </a:p>
          <a:p>
            <a:pPr marL="0" indent="0">
              <a:buNone/>
            </a:pPr>
            <a:r>
              <a:rPr lang="en-US" dirty="0"/>
              <a:t>*make sure you are in your home directory*</a:t>
            </a:r>
          </a:p>
          <a:p>
            <a:pPr marL="0" indent="0">
              <a:buNone/>
            </a:pPr>
            <a:endParaRPr lang="en-US" dirty="0"/>
          </a:p>
          <a:p>
            <a:r>
              <a:rPr lang="en-US" dirty="0"/>
              <a:t>there are many ways to make and modify files in the shell</a:t>
            </a:r>
          </a:p>
          <a:p>
            <a:pPr lvl="1"/>
            <a:r>
              <a:rPr lang="en-US" dirty="0"/>
              <a:t>nano, vi, vim etc.</a:t>
            </a:r>
          </a:p>
          <a:p>
            <a:r>
              <a:rPr lang="en-US" dirty="0"/>
              <a:t>much faster than using an outside GUI but has draw backs</a:t>
            </a:r>
          </a:p>
          <a:p>
            <a:pPr marL="0" indent="0">
              <a:buNone/>
            </a:pPr>
            <a:endParaRPr lang="en-US" dirty="0"/>
          </a:p>
        </p:txBody>
      </p:sp>
    </p:spTree>
    <p:extLst>
      <p:ext uri="{BB962C8B-B14F-4D97-AF65-F5344CB8AC3E}">
        <p14:creationId xmlns:p14="http://schemas.microsoft.com/office/powerpoint/2010/main" val="3584186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Real Programmers comic">
            <a:extLst>
              <a:ext uri="{FF2B5EF4-FFF2-40B4-BE49-F238E27FC236}">
                <a16:creationId xmlns:a16="http://schemas.microsoft.com/office/drawing/2014/main" id="{7EE4B367-27AD-2742-A081-F9A2A35E97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7135" y="652875"/>
            <a:ext cx="10077729" cy="5524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424992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3510-06F0-9C4E-80B4-FCF2C5D6C5C5}"/>
              </a:ext>
            </a:extLst>
          </p:cNvPr>
          <p:cNvSpPr>
            <a:spLocks noGrp="1"/>
          </p:cNvSpPr>
          <p:nvPr>
            <p:ph type="title"/>
          </p:nvPr>
        </p:nvSpPr>
        <p:spPr/>
        <p:txBody>
          <a:bodyPr>
            <a:normAutofit/>
          </a:bodyPr>
          <a:lstStyle/>
          <a:p>
            <a:pPr algn="ctr"/>
            <a:r>
              <a:rPr lang="en-US" sz="5400" b="1" dirty="0"/>
              <a:t>Files and Directories</a:t>
            </a:r>
          </a:p>
        </p:txBody>
      </p:sp>
      <p:sp>
        <p:nvSpPr>
          <p:cNvPr id="3" name="Content Placeholder 2">
            <a:extLst>
              <a:ext uri="{FF2B5EF4-FFF2-40B4-BE49-F238E27FC236}">
                <a16:creationId xmlns:a16="http://schemas.microsoft.com/office/drawing/2014/main" id="{05639A13-D24D-DA46-A1C1-508C84B781C1}"/>
              </a:ext>
            </a:extLst>
          </p:cNvPr>
          <p:cNvSpPr>
            <a:spLocks noGrp="1"/>
          </p:cNvSpPr>
          <p:nvPr>
            <p:ph idx="1"/>
          </p:nvPr>
        </p:nvSpPr>
        <p:spPr/>
        <p:txBody>
          <a:bodyPr>
            <a:normAutofit lnSpcReduction="10000"/>
          </a:bodyPr>
          <a:lstStyle/>
          <a:p>
            <a:pPr marL="0" indent="0">
              <a:buNone/>
            </a:pPr>
            <a:r>
              <a:rPr lang="en-US" dirty="0"/>
              <a:t>Let’s make some files!</a:t>
            </a:r>
          </a:p>
          <a:p>
            <a:pPr marL="0" indent="0">
              <a:buNone/>
            </a:pPr>
            <a:r>
              <a:rPr lang="en-US" dirty="0"/>
              <a:t>*make sure you are in your home directory*</a:t>
            </a:r>
          </a:p>
          <a:p>
            <a:pPr marL="0" indent="0">
              <a:buNone/>
            </a:pPr>
            <a:endParaRPr lang="en-US" dirty="0"/>
          </a:p>
          <a:p>
            <a:pPr marL="0" indent="0">
              <a:buNone/>
            </a:pPr>
            <a:r>
              <a:rPr lang="en-US" dirty="0"/>
              <a:t>see if the following programs exist on your system using </a:t>
            </a:r>
            <a:r>
              <a:rPr lang="en-US" b="1" dirty="0">
                <a:solidFill>
                  <a:srgbClr val="FF0000"/>
                </a:solidFill>
                <a:latin typeface="Courier New" panose="02070309020205020404" pitchFamily="49" charset="0"/>
                <a:cs typeface="Courier New" panose="02070309020205020404" pitchFamily="49" charset="0"/>
              </a:rPr>
              <a:t>which</a:t>
            </a:r>
          </a:p>
          <a:p>
            <a:pPr marL="0" indent="0">
              <a:buNone/>
            </a:pPr>
            <a:endParaRPr lang="en-US" b="1" dirty="0">
              <a:solidFill>
                <a:srgbClr val="FF0000"/>
              </a:solidFill>
              <a:latin typeface="Courier New" panose="02070309020205020404" pitchFamily="49" charset="0"/>
              <a:cs typeface="Courier New" panose="02070309020205020404" pitchFamily="49" charset="0"/>
            </a:endParaRPr>
          </a:p>
          <a:p>
            <a:pPr marL="0" indent="0">
              <a:buNone/>
            </a:pPr>
            <a:r>
              <a:rPr lang="en-US" dirty="0">
                <a:solidFill>
                  <a:srgbClr val="FF0000"/>
                </a:solidFill>
                <a:latin typeface="Courier New" panose="02070309020205020404" pitchFamily="49" charset="0"/>
                <a:cs typeface="Courier New" panose="02070309020205020404" pitchFamily="49" charset="0"/>
              </a:rPr>
              <a:t>$</a:t>
            </a:r>
            <a:r>
              <a:rPr lang="en-US" b="1" dirty="0">
                <a:solidFill>
                  <a:srgbClr val="FF0000"/>
                </a:solidFill>
                <a:latin typeface="Courier New" panose="02070309020205020404" pitchFamily="49" charset="0"/>
                <a:cs typeface="Courier New" panose="02070309020205020404" pitchFamily="49" charset="0"/>
              </a:rPr>
              <a:t> which </a:t>
            </a:r>
            <a:r>
              <a:rPr lang="en-US" dirty="0">
                <a:solidFill>
                  <a:srgbClr val="FF0000"/>
                </a:solidFill>
                <a:latin typeface="Courier New" panose="02070309020205020404" pitchFamily="49" charset="0"/>
                <a:cs typeface="Courier New" panose="02070309020205020404" pitchFamily="49" charset="0"/>
              </a:rPr>
              <a:t>nano</a:t>
            </a:r>
          </a:p>
          <a:p>
            <a:pPr marL="0" indent="0">
              <a:buNone/>
            </a:pPr>
            <a:r>
              <a:rPr lang="en-US" dirty="0">
                <a:solidFill>
                  <a:srgbClr val="FF0000"/>
                </a:solidFill>
                <a:latin typeface="Courier New" panose="02070309020205020404" pitchFamily="49" charset="0"/>
                <a:cs typeface="Courier New" panose="02070309020205020404" pitchFamily="49" charset="0"/>
              </a:rPr>
              <a:t>… vi</a:t>
            </a:r>
          </a:p>
          <a:p>
            <a:pPr marL="0" indent="0">
              <a:buNone/>
            </a:pPr>
            <a:r>
              <a:rPr lang="en-US" dirty="0">
                <a:solidFill>
                  <a:srgbClr val="FF0000"/>
                </a:solidFill>
                <a:latin typeface="Courier New" panose="02070309020205020404" pitchFamily="49" charset="0"/>
                <a:cs typeface="Courier New" panose="02070309020205020404" pitchFamily="49" charset="0"/>
              </a:rPr>
              <a:t>… vim</a:t>
            </a:r>
          </a:p>
          <a:p>
            <a:pPr marL="0" indent="0">
              <a:buNone/>
            </a:pPr>
            <a:r>
              <a:rPr lang="en-US" dirty="0">
                <a:solidFill>
                  <a:srgbClr val="FF0000"/>
                </a:solidFill>
                <a:latin typeface="Courier New" panose="02070309020205020404" pitchFamily="49" charset="0"/>
                <a:cs typeface="Courier New" panose="02070309020205020404" pitchFamily="49" charset="0"/>
              </a:rPr>
              <a:t>… emacs</a:t>
            </a:r>
          </a:p>
        </p:txBody>
      </p:sp>
    </p:spTree>
    <p:extLst>
      <p:ext uri="{BB962C8B-B14F-4D97-AF65-F5344CB8AC3E}">
        <p14:creationId xmlns:p14="http://schemas.microsoft.com/office/powerpoint/2010/main" val="1893595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3510-06F0-9C4E-80B4-FCF2C5D6C5C5}"/>
              </a:ext>
            </a:extLst>
          </p:cNvPr>
          <p:cNvSpPr>
            <a:spLocks noGrp="1"/>
          </p:cNvSpPr>
          <p:nvPr>
            <p:ph type="title"/>
          </p:nvPr>
        </p:nvSpPr>
        <p:spPr/>
        <p:txBody>
          <a:bodyPr>
            <a:normAutofit/>
          </a:bodyPr>
          <a:lstStyle/>
          <a:p>
            <a:pPr algn="ctr"/>
            <a:r>
              <a:rPr lang="en-US" sz="5400" b="1" dirty="0"/>
              <a:t>Files and Directories</a:t>
            </a:r>
          </a:p>
        </p:txBody>
      </p:sp>
      <p:sp>
        <p:nvSpPr>
          <p:cNvPr id="3" name="Content Placeholder 2">
            <a:extLst>
              <a:ext uri="{FF2B5EF4-FFF2-40B4-BE49-F238E27FC236}">
                <a16:creationId xmlns:a16="http://schemas.microsoft.com/office/drawing/2014/main" id="{05639A13-D24D-DA46-A1C1-508C84B781C1}"/>
              </a:ext>
            </a:extLst>
          </p:cNvPr>
          <p:cNvSpPr>
            <a:spLocks noGrp="1"/>
          </p:cNvSpPr>
          <p:nvPr>
            <p:ph idx="1"/>
          </p:nvPr>
        </p:nvSpPr>
        <p:spPr/>
        <p:txBody>
          <a:bodyPr>
            <a:normAutofit/>
          </a:bodyPr>
          <a:lstStyle/>
          <a:p>
            <a:pPr marL="0" indent="0">
              <a:buNone/>
            </a:pPr>
            <a:r>
              <a:rPr lang="en-US" dirty="0"/>
              <a:t>Let’s make some files!</a:t>
            </a:r>
          </a:p>
          <a:p>
            <a:pPr marL="0" indent="0">
              <a:buNone/>
            </a:pPr>
            <a:r>
              <a:rPr lang="en-US" dirty="0"/>
              <a:t>*make sure you are in your home directory*</a:t>
            </a:r>
          </a:p>
          <a:p>
            <a:pPr marL="0" indent="0">
              <a:buNone/>
            </a:pPr>
            <a:endParaRPr lang="en-US" dirty="0"/>
          </a:p>
          <a:p>
            <a:pPr marL="0" indent="0">
              <a:buNone/>
            </a:pPr>
            <a:r>
              <a:rPr lang="en-US" dirty="0"/>
              <a:t>now type </a:t>
            </a:r>
            <a:r>
              <a:rPr lang="en-US" b="1" dirty="0">
                <a:solidFill>
                  <a:srgbClr val="FF0000"/>
                </a:solidFill>
                <a:latin typeface="Courier New" panose="02070309020205020404" pitchFamily="49" charset="0"/>
                <a:cs typeface="Courier New" panose="02070309020205020404" pitchFamily="49" charset="0"/>
              </a:rPr>
              <a:t>nano</a:t>
            </a:r>
            <a:r>
              <a:rPr lang="en-US" dirty="0"/>
              <a:t> and see what happens…</a:t>
            </a:r>
          </a:p>
          <a:p>
            <a:pPr marL="0" indent="0">
              <a:buNone/>
            </a:pPr>
            <a:endParaRPr lang="en-US" dirty="0">
              <a:solidFill>
                <a:srgbClr val="FF0000"/>
              </a:solidFill>
              <a:latin typeface="Courier New" panose="02070309020205020404" pitchFamily="49" charset="0"/>
              <a:cs typeface="Courier New" panose="02070309020205020404" pitchFamily="49" charset="0"/>
            </a:endParaRPr>
          </a:p>
          <a:p>
            <a:pPr marL="0" indent="0">
              <a:buNone/>
            </a:pPr>
            <a:endParaRPr lang="en-US"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8413464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3510-06F0-9C4E-80B4-FCF2C5D6C5C5}"/>
              </a:ext>
            </a:extLst>
          </p:cNvPr>
          <p:cNvSpPr>
            <a:spLocks noGrp="1"/>
          </p:cNvSpPr>
          <p:nvPr>
            <p:ph type="title"/>
          </p:nvPr>
        </p:nvSpPr>
        <p:spPr/>
        <p:txBody>
          <a:bodyPr>
            <a:normAutofit/>
          </a:bodyPr>
          <a:lstStyle/>
          <a:p>
            <a:pPr algn="ctr"/>
            <a:r>
              <a:rPr lang="en-US" sz="5400" b="1" dirty="0"/>
              <a:t>Files and Directories</a:t>
            </a:r>
          </a:p>
        </p:txBody>
      </p:sp>
      <p:sp>
        <p:nvSpPr>
          <p:cNvPr id="3" name="Content Placeholder 2">
            <a:extLst>
              <a:ext uri="{FF2B5EF4-FFF2-40B4-BE49-F238E27FC236}">
                <a16:creationId xmlns:a16="http://schemas.microsoft.com/office/drawing/2014/main" id="{05639A13-D24D-DA46-A1C1-508C84B781C1}"/>
              </a:ext>
            </a:extLst>
          </p:cNvPr>
          <p:cNvSpPr>
            <a:spLocks noGrp="1"/>
          </p:cNvSpPr>
          <p:nvPr>
            <p:ph idx="1"/>
          </p:nvPr>
        </p:nvSpPr>
        <p:spPr/>
        <p:txBody>
          <a:bodyPr>
            <a:normAutofit/>
          </a:bodyPr>
          <a:lstStyle/>
          <a:p>
            <a:pPr marL="0" indent="0">
              <a:buNone/>
            </a:pPr>
            <a:r>
              <a:rPr lang="en-US" b="1" dirty="0">
                <a:solidFill>
                  <a:srgbClr val="FF0000"/>
                </a:solidFill>
                <a:latin typeface="Courier New" panose="02070309020205020404" pitchFamily="49" charset="0"/>
                <a:cs typeface="Courier New" panose="02070309020205020404" pitchFamily="49" charset="0"/>
              </a:rPr>
              <a:t>mv</a:t>
            </a:r>
          </a:p>
          <a:p>
            <a:pPr marL="0" indent="0">
              <a:buNone/>
            </a:pPr>
            <a:r>
              <a:rPr lang="en-US" b="1" dirty="0">
                <a:solidFill>
                  <a:srgbClr val="FF0000"/>
                </a:solidFill>
                <a:latin typeface="Courier New" panose="02070309020205020404" pitchFamily="49" charset="0"/>
                <a:cs typeface="Courier New" panose="02070309020205020404" pitchFamily="49" charset="0"/>
              </a:rPr>
              <a:t>cp</a:t>
            </a:r>
          </a:p>
          <a:p>
            <a:pPr marL="0" indent="0">
              <a:buNone/>
            </a:pPr>
            <a:r>
              <a:rPr lang="en-US" b="1" dirty="0">
                <a:solidFill>
                  <a:srgbClr val="FF0000"/>
                </a:solidFill>
                <a:latin typeface="Courier New" panose="02070309020205020404" pitchFamily="49" charset="0"/>
                <a:cs typeface="Courier New" panose="02070309020205020404" pitchFamily="49" charset="0"/>
              </a:rPr>
              <a:t>rm</a:t>
            </a:r>
          </a:p>
          <a:p>
            <a:endParaRPr lang="en-US" dirty="0"/>
          </a:p>
        </p:txBody>
      </p:sp>
    </p:spTree>
    <p:extLst>
      <p:ext uri="{BB962C8B-B14F-4D97-AF65-F5344CB8AC3E}">
        <p14:creationId xmlns:p14="http://schemas.microsoft.com/office/powerpoint/2010/main" val="1962034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550029-0751-D547-9A5C-CA2C7DA68693}"/>
              </a:ext>
            </a:extLst>
          </p:cNvPr>
          <p:cNvSpPr>
            <a:spLocks noGrp="1"/>
          </p:cNvSpPr>
          <p:nvPr>
            <p:ph type="title"/>
          </p:nvPr>
        </p:nvSpPr>
        <p:spPr/>
        <p:txBody>
          <a:bodyPr/>
          <a:lstStyle/>
          <a:p>
            <a:pPr algn="ctr"/>
            <a:r>
              <a:rPr lang="en-US" dirty="0"/>
              <a:t>** Download git repository **</a:t>
            </a:r>
          </a:p>
        </p:txBody>
      </p:sp>
      <p:sp>
        <p:nvSpPr>
          <p:cNvPr id="3" name="Content Placeholder 2">
            <a:extLst>
              <a:ext uri="{FF2B5EF4-FFF2-40B4-BE49-F238E27FC236}">
                <a16:creationId xmlns:a16="http://schemas.microsoft.com/office/drawing/2014/main" id="{1F815455-4277-7844-A621-A45C69C2DCFF}"/>
              </a:ext>
            </a:extLst>
          </p:cNvPr>
          <p:cNvSpPr>
            <a:spLocks noGrp="1"/>
          </p:cNvSpPr>
          <p:nvPr>
            <p:ph idx="1"/>
          </p:nvPr>
        </p:nvSpPr>
        <p:spPr>
          <a:xfrm>
            <a:off x="0" y="5952611"/>
            <a:ext cx="12192000" cy="1080528"/>
          </a:xfrm>
        </p:spPr>
        <p:txBody>
          <a:bodyPr anchor="b">
            <a:normAutofit/>
          </a:bodyPr>
          <a:lstStyle/>
          <a:p>
            <a:pPr marL="0" indent="0" algn="ctr">
              <a:buNone/>
            </a:pPr>
            <a:r>
              <a:rPr lang="en-US" sz="2400" b="1" dirty="0">
                <a:solidFill>
                  <a:srgbClr val="FF0000"/>
                </a:solidFill>
                <a:latin typeface="Courier New" panose="02070309020205020404" pitchFamily="49" charset="0"/>
                <a:cs typeface="Courier New" panose="02070309020205020404" pitchFamily="49" charset="0"/>
              </a:rPr>
              <a:t>git clone https://</a:t>
            </a:r>
            <a:r>
              <a:rPr lang="en-US" sz="2400" b="1" dirty="0" err="1">
                <a:solidFill>
                  <a:srgbClr val="FF0000"/>
                </a:solidFill>
                <a:latin typeface="Courier New" panose="02070309020205020404" pitchFamily="49" charset="0"/>
                <a:cs typeface="Courier New" panose="02070309020205020404" pitchFamily="49" charset="0"/>
              </a:rPr>
              <a:t>github.com</a:t>
            </a:r>
            <a:r>
              <a:rPr lang="en-US" sz="2400" b="1" dirty="0">
                <a:solidFill>
                  <a:srgbClr val="FF0000"/>
                </a:solidFill>
                <a:latin typeface="Courier New" panose="02070309020205020404" pitchFamily="49" charset="0"/>
                <a:cs typeface="Courier New" panose="02070309020205020404" pitchFamily="49" charset="0"/>
              </a:rPr>
              <a:t>/</a:t>
            </a:r>
            <a:r>
              <a:rPr lang="en-US" sz="2400" b="1" dirty="0" err="1">
                <a:solidFill>
                  <a:srgbClr val="FF0000"/>
                </a:solidFill>
                <a:latin typeface="Courier New" panose="02070309020205020404" pitchFamily="49" charset="0"/>
                <a:cs typeface="Courier New" panose="02070309020205020404" pitchFamily="49" charset="0"/>
              </a:rPr>
              <a:t>WVINBREbootcamp</a:t>
            </a:r>
            <a:r>
              <a:rPr lang="en-US" sz="2400" b="1" dirty="0">
                <a:solidFill>
                  <a:srgbClr val="FF0000"/>
                </a:solidFill>
                <a:latin typeface="Courier New" panose="02070309020205020404" pitchFamily="49" charset="0"/>
                <a:cs typeface="Courier New" panose="02070309020205020404" pitchFamily="49" charset="0"/>
              </a:rPr>
              <a:t>/</a:t>
            </a:r>
            <a:r>
              <a:rPr lang="en-US" sz="2400" b="1" dirty="0" err="1">
                <a:solidFill>
                  <a:srgbClr val="FF0000"/>
                </a:solidFill>
                <a:latin typeface="Courier New" panose="02070309020205020404" pitchFamily="49" charset="0"/>
                <a:cs typeface="Courier New" panose="02070309020205020404" pitchFamily="49" charset="0"/>
              </a:rPr>
              <a:t>BootcampData.git</a:t>
            </a:r>
            <a:endParaRPr lang="en-US" sz="2400" b="1" dirty="0">
              <a:solidFill>
                <a:srgbClr val="FF0000"/>
              </a:solidFill>
              <a:latin typeface="Courier New" panose="02070309020205020404" pitchFamily="49" charset="0"/>
              <a:cs typeface="Courier New" panose="02070309020205020404" pitchFamily="49" charset="0"/>
            </a:endParaRPr>
          </a:p>
          <a:p>
            <a:pPr marL="0" indent="0" algn="ctr">
              <a:buNone/>
            </a:pPr>
            <a:endParaRPr lang="en-US" sz="2400" dirty="0"/>
          </a:p>
        </p:txBody>
      </p:sp>
      <p:sp>
        <p:nvSpPr>
          <p:cNvPr id="4" name="TextBox 3">
            <a:extLst>
              <a:ext uri="{FF2B5EF4-FFF2-40B4-BE49-F238E27FC236}">
                <a16:creationId xmlns:a16="http://schemas.microsoft.com/office/drawing/2014/main" id="{A4A2A1D9-3F89-1E45-B425-854B7FFA7593}"/>
              </a:ext>
            </a:extLst>
          </p:cNvPr>
          <p:cNvSpPr txBox="1"/>
          <p:nvPr/>
        </p:nvSpPr>
        <p:spPr>
          <a:xfrm>
            <a:off x="838199" y="1437822"/>
            <a:ext cx="10515599" cy="4339650"/>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400" b="1" dirty="0" err="1"/>
              <a:t>Github</a:t>
            </a:r>
            <a:r>
              <a:rPr lang="en-US" sz="2400" b="1" dirty="0"/>
              <a:t> is a code and software sharing/collaboration platform</a:t>
            </a:r>
          </a:p>
          <a:p>
            <a:pPr marL="285750" indent="-285750">
              <a:lnSpc>
                <a:spcPct val="150000"/>
              </a:lnSpc>
              <a:buFont typeface="Arial" panose="020B0604020202020204" pitchFamily="34" charset="0"/>
              <a:buChar char="•"/>
            </a:pPr>
            <a:r>
              <a:rPr lang="en-US" sz="2400" dirty="0"/>
              <a:t>Allows anyone to start an account and keep track of different versions of their projects (kept in </a:t>
            </a:r>
            <a:r>
              <a:rPr lang="en-US" sz="2400" b="1" dirty="0"/>
              <a:t>repositories</a:t>
            </a:r>
            <a:r>
              <a:rPr lang="en-US" sz="2400" dirty="0"/>
              <a:t>)</a:t>
            </a:r>
          </a:p>
          <a:p>
            <a:pPr marL="742950" lvl="1" indent="-285750">
              <a:lnSpc>
                <a:spcPct val="150000"/>
              </a:lnSpc>
              <a:buFont typeface="Arial" panose="020B0604020202020204" pitchFamily="34" charset="0"/>
              <a:buChar char="•"/>
            </a:pPr>
            <a:r>
              <a:rPr lang="en-US" sz="2400" u="sng" dirty="0"/>
              <a:t>version control</a:t>
            </a:r>
          </a:p>
          <a:p>
            <a:pPr marL="285750" indent="-285750">
              <a:lnSpc>
                <a:spcPct val="150000"/>
              </a:lnSpc>
              <a:buFont typeface="Arial" panose="020B0604020202020204" pitchFamily="34" charset="0"/>
              <a:buChar char="•"/>
            </a:pPr>
            <a:r>
              <a:rPr lang="en-US" sz="2400" dirty="0"/>
              <a:t>Has a GUI (quite nice) but is based on a command line operation </a:t>
            </a:r>
            <a:r>
              <a:rPr lang="en-US" sz="2400" b="1" dirty="0">
                <a:solidFill>
                  <a:srgbClr val="FF0000"/>
                </a:solidFill>
                <a:latin typeface="Courier New" panose="02070309020205020404" pitchFamily="49" charset="0"/>
                <a:cs typeface="Courier New" panose="02070309020205020404" pitchFamily="49" charset="0"/>
              </a:rPr>
              <a:t>git</a:t>
            </a:r>
          </a:p>
          <a:p>
            <a:pPr marL="285750" indent="-285750">
              <a:lnSpc>
                <a:spcPct val="150000"/>
              </a:lnSpc>
              <a:buFont typeface="Arial" panose="020B0604020202020204" pitchFamily="34" charset="0"/>
              <a:buChar char="•"/>
            </a:pPr>
            <a:r>
              <a:rPr lang="en-US" sz="2400" dirty="0"/>
              <a:t>We will first see how to clone a repository and then try it on the command line…</a:t>
            </a:r>
          </a:p>
          <a:p>
            <a:pPr marL="285750" indent="-285750">
              <a:lnSpc>
                <a:spcPct val="150000"/>
              </a:lnSpc>
              <a:buFont typeface="Arial" panose="020B0604020202020204" pitchFamily="34" charset="0"/>
              <a:buChar char="•"/>
            </a:pPr>
            <a:r>
              <a:rPr lang="en-US" sz="2400" dirty="0"/>
              <a:t>Go to: https://</a:t>
            </a:r>
            <a:r>
              <a:rPr lang="en-US" sz="2400" dirty="0" err="1"/>
              <a:t>github.com</a:t>
            </a:r>
            <a:r>
              <a:rPr lang="en-US" sz="2400" dirty="0"/>
              <a:t>/</a:t>
            </a:r>
            <a:r>
              <a:rPr lang="en-US" sz="2400" dirty="0" err="1"/>
              <a:t>WVINBREbootcamp</a:t>
            </a:r>
            <a:endParaRPr lang="en-US" sz="2400" dirty="0"/>
          </a:p>
          <a:p>
            <a:pPr marL="285750" indent="-285750">
              <a:buFont typeface="Arial" panose="020B0604020202020204" pitchFamily="34" charset="0"/>
              <a:buChar char="•"/>
            </a:pPr>
            <a:endParaRPr lang="en-US" sz="2400" dirty="0"/>
          </a:p>
        </p:txBody>
      </p:sp>
    </p:spTree>
    <p:extLst>
      <p:ext uri="{BB962C8B-B14F-4D97-AF65-F5344CB8AC3E}">
        <p14:creationId xmlns:p14="http://schemas.microsoft.com/office/powerpoint/2010/main" val="1290408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dissolv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dissolv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dissolv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dissolv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dissolv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dissolv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3">
                                            <p:txEl>
                                              <p:pRg st="0" end="0"/>
                                            </p:txEl>
                                          </p:spTgt>
                                        </p:tgtEl>
                                        <p:attrNameLst>
                                          <p:attrName>style.visibility</p:attrName>
                                        </p:attrNameLst>
                                      </p:cBhvr>
                                      <p:to>
                                        <p:strVal val="visible"/>
                                      </p:to>
                                    </p:set>
                                    <p:animEffect transition="in" filter="dissolve">
                                      <p:cBhvr>
                                        <p:cTn id="3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A3510-06F0-9C4E-80B4-FCF2C5D6C5C5}"/>
              </a:ext>
            </a:extLst>
          </p:cNvPr>
          <p:cNvSpPr>
            <a:spLocks noGrp="1"/>
          </p:cNvSpPr>
          <p:nvPr>
            <p:ph type="title"/>
          </p:nvPr>
        </p:nvSpPr>
        <p:spPr/>
        <p:txBody>
          <a:bodyPr>
            <a:normAutofit/>
          </a:bodyPr>
          <a:lstStyle/>
          <a:p>
            <a:pPr algn="ctr"/>
            <a:r>
              <a:rPr lang="en-US" sz="5400" b="1" dirty="0"/>
              <a:t>Files and Directories</a:t>
            </a:r>
          </a:p>
        </p:txBody>
      </p:sp>
      <p:sp>
        <p:nvSpPr>
          <p:cNvPr id="3" name="Content Placeholder 2">
            <a:extLst>
              <a:ext uri="{FF2B5EF4-FFF2-40B4-BE49-F238E27FC236}">
                <a16:creationId xmlns:a16="http://schemas.microsoft.com/office/drawing/2014/main" id="{05639A13-D24D-DA46-A1C1-508C84B781C1}"/>
              </a:ext>
            </a:extLst>
          </p:cNvPr>
          <p:cNvSpPr>
            <a:spLocks noGrp="1"/>
          </p:cNvSpPr>
          <p:nvPr>
            <p:ph idx="1"/>
          </p:nvPr>
        </p:nvSpPr>
        <p:spPr/>
        <p:txBody>
          <a:bodyPr>
            <a:normAutofit/>
          </a:bodyPr>
          <a:lstStyle/>
          <a:p>
            <a:pPr marL="0" indent="0">
              <a:buNone/>
            </a:pPr>
            <a:r>
              <a:rPr lang="en-US" b="1" dirty="0">
                <a:solidFill>
                  <a:srgbClr val="FF0000"/>
                </a:solidFill>
                <a:latin typeface="Courier New" panose="02070309020205020404" pitchFamily="49" charset="0"/>
                <a:cs typeface="Courier New" panose="02070309020205020404" pitchFamily="49" charset="0"/>
              </a:rPr>
              <a:t>touch</a:t>
            </a:r>
            <a:endParaRPr lang="en-US" dirty="0"/>
          </a:p>
          <a:p>
            <a:pPr marL="0" indent="0">
              <a:buNone/>
            </a:pPr>
            <a:r>
              <a:rPr lang="en-US" b="1" dirty="0">
                <a:solidFill>
                  <a:srgbClr val="FF0000"/>
                </a:solidFill>
                <a:latin typeface="Courier New" panose="02070309020205020404" pitchFamily="49" charset="0"/>
                <a:cs typeface="Courier New" panose="02070309020205020404" pitchFamily="49" charset="0"/>
              </a:rPr>
              <a:t>cat</a:t>
            </a:r>
          </a:p>
          <a:p>
            <a:pPr marL="0" indent="0">
              <a:buNone/>
            </a:pPr>
            <a:r>
              <a:rPr lang="en-US" b="1" dirty="0">
                <a:solidFill>
                  <a:srgbClr val="FF0000"/>
                </a:solidFill>
                <a:latin typeface="Courier New" panose="02070309020205020404" pitchFamily="49" charset="0"/>
                <a:cs typeface="Courier New" panose="02070309020205020404" pitchFamily="49" charset="0"/>
              </a:rPr>
              <a:t>head</a:t>
            </a:r>
          </a:p>
          <a:p>
            <a:pPr marL="0" indent="0">
              <a:buNone/>
            </a:pPr>
            <a:r>
              <a:rPr lang="en-US" b="1" dirty="0">
                <a:solidFill>
                  <a:srgbClr val="FF0000"/>
                </a:solidFill>
                <a:latin typeface="Courier New" panose="02070309020205020404" pitchFamily="49" charset="0"/>
                <a:cs typeface="Courier New" panose="02070309020205020404" pitchFamily="49" charset="0"/>
              </a:rPr>
              <a:t>tail</a:t>
            </a:r>
          </a:p>
          <a:p>
            <a:pPr marL="0" indent="0">
              <a:buNone/>
            </a:pPr>
            <a:r>
              <a:rPr lang="en-US" b="1" dirty="0">
                <a:solidFill>
                  <a:srgbClr val="FF0000"/>
                </a:solidFill>
                <a:latin typeface="Courier New" panose="02070309020205020404" pitchFamily="49" charset="0"/>
                <a:cs typeface="Courier New" panose="02070309020205020404" pitchFamily="49" charset="0"/>
              </a:rPr>
              <a:t>less</a:t>
            </a:r>
          </a:p>
          <a:p>
            <a:pPr marL="0" indent="0">
              <a:buNone/>
            </a:pPr>
            <a:endParaRPr lang="en-US" b="1" dirty="0">
              <a:solidFill>
                <a:srgbClr val="FF0000"/>
              </a:solidFill>
              <a:latin typeface="Courier New" panose="02070309020205020404" pitchFamily="49" charset="0"/>
              <a:cs typeface="Courier New" panose="02070309020205020404" pitchFamily="49" charset="0"/>
            </a:endParaRPr>
          </a:p>
          <a:p>
            <a:pPr marL="0" indent="0">
              <a:buNone/>
            </a:pPr>
            <a:r>
              <a:rPr lang="en-US" b="1" dirty="0">
                <a:solidFill>
                  <a:srgbClr val="FF0000"/>
                </a:solidFill>
                <a:latin typeface="Courier New" panose="02070309020205020404" pitchFamily="49" charset="0"/>
                <a:cs typeface="Courier New" panose="02070309020205020404" pitchFamily="49" charset="0"/>
              </a:rPr>
              <a:t>&gt;</a:t>
            </a:r>
          </a:p>
          <a:p>
            <a:pPr marL="0" indent="0">
              <a:buNone/>
            </a:pPr>
            <a:r>
              <a:rPr lang="en-US" b="1" dirty="0">
                <a:solidFill>
                  <a:srgbClr val="FF0000"/>
                </a:solidFill>
                <a:latin typeface="Courier New" panose="02070309020205020404" pitchFamily="49" charset="0"/>
                <a:cs typeface="Courier New" panose="02070309020205020404" pitchFamily="49" charset="0"/>
              </a:rPr>
              <a:t>&gt;&gt;</a:t>
            </a:r>
          </a:p>
        </p:txBody>
      </p:sp>
    </p:spTree>
    <p:extLst>
      <p:ext uri="{BB962C8B-B14F-4D97-AF65-F5344CB8AC3E}">
        <p14:creationId xmlns:p14="http://schemas.microsoft.com/office/powerpoint/2010/main" val="8119851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ssolv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dissolve">
                                      <p:cBhvr>
                                        <p:cTn id="37"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08A49-80F1-CA41-B367-90D811EED23C}"/>
              </a:ext>
            </a:extLst>
          </p:cNvPr>
          <p:cNvSpPr>
            <a:spLocks noGrp="1"/>
          </p:cNvSpPr>
          <p:nvPr>
            <p:ph type="title"/>
          </p:nvPr>
        </p:nvSpPr>
        <p:spPr/>
        <p:txBody>
          <a:bodyPr>
            <a:normAutofit fontScale="90000"/>
          </a:bodyPr>
          <a:lstStyle/>
          <a:p>
            <a:r>
              <a:rPr lang="en-US" sz="5400" b="1" dirty="0"/>
              <a:t>Pipes: </a:t>
            </a:r>
            <a:r>
              <a:rPr lang="en-US" sz="4900" dirty="0"/>
              <a:t>first command </a:t>
            </a:r>
            <a:r>
              <a:rPr lang="en-US" sz="5400" b="1" dirty="0"/>
              <a:t>| </a:t>
            </a:r>
            <a:r>
              <a:rPr lang="en-US" sz="4900" dirty="0"/>
              <a:t>second command</a:t>
            </a:r>
            <a:endParaRPr lang="en-US" sz="5400" dirty="0"/>
          </a:p>
        </p:txBody>
      </p:sp>
      <p:sp>
        <p:nvSpPr>
          <p:cNvPr id="3" name="Content Placeholder 2">
            <a:extLst>
              <a:ext uri="{FF2B5EF4-FFF2-40B4-BE49-F238E27FC236}">
                <a16:creationId xmlns:a16="http://schemas.microsoft.com/office/drawing/2014/main" id="{4AC3DEC8-E90B-F64A-917C-9408CD8D0483}"/>
              </a:ext>
            </a:extLst>
          </p:cNvPr>
          <p:cNvSpPr>
            <a:spLocks noGrp="1"/>
          </p:cNvSpPr>
          <p:nvPr>
            <p:ph idx="1"/>
          </p:nvPr>
        </p:nvSpPr>
        <p:spPr/>
        <p:txBody>
          <a:bodyPr/>
          <a:lstStyle/>
          <a:p>
            <a:r>
              <a:rPr lang="en-US" dirty="0"/>
              <a:t>Any command that sends output to </a:t>
            </a:r>
            <a:r>
              <a:rPr lang="en-US" u="sng" dirty="0"/>
              <a:t>standard out</a:t>
            </a:r>
            <a:r>
              <a:rPr lang="en-US" dirty="0"/>
              <a:t> can be “piped” into another command immediately – </a:t>
            </a:r>
            <a:r>
              <a:rPr lang="en-US" sz="2000" dirty="0"/>
              <a:t>this is one way we make pipelines</a:t>
            </a:r>
          </a:p>
          <a:p>
            <a:r>
              <a:rPr lang="en-US" dirty="0"/>
              <a:t>Use a pipe to </a:t>
            </a:r>
            <a:r>
              <a:rPr lang="en-US" b="1" dirty="0">
                <a:solidFill>
                  <a:srgbClr val="FF0000"/>
                </a:solidFill>
                <a:latin typeface="Courier New" panose="02070309020205020404" pitchFamily="49" charset="0"/>
                <a:cs typeface="Courier New" panose="02070309020205020404" pitchFamily="49" charset="0"/>
              </a:rPr>
              <a:t>cat </a:t>
            </a:r>
            <a:r>
              <a:rPr lang="en-US" dirty="0"/>
              <a:t>a file, look at the first 500 lines with </a:t>
            </a:r>
            <a:r>
              <a:rPr lang="en-US" b="1" dirty="0">
                <a:solidFill>
                  <a:srgbClr val="FF0000"/>
                </a:solidFill>
                <a:latin typeface="Courier New" panose="02070309020205020404" pitchFamily="49" charset="0"/>
                <a:cs typeface="Courier New" panose="02070309020205020404" pitchFamily="49" charset="0"/>
              </a:rPr>
              <a:t>head </a:t>
            </a:r>
            <a:r>
              <a:rPr lang="en-US" dirty="0"/>
              <a:t>and then look at the 500th line itself with </a:t>
            </a:r>
            <a:r>
              <a:rPr lang="en-US" b="1" dirty="0">
                <a:solidFill>
                  <a:srgbClr val="FF0000"/>
                </a:solidFill>
                <a:latin typeface="Courier New" panose="02070309020205020404" pitchFamily="49" charset="0"/>
                <a:cs typeface="Courier New" panose="02070309020205020404" pitchFamily="49" charset="0"/>
              </a:rPr>
              <a:t>tail</a:t>
            </a:r>
          </a:p>
        </p:txBody>
      </p:sp>
    </p:spTree>
    <p:extLst>
      <p:ext uri="{BB962C8B-B14F-4D97-AF65-F5344CB8AC3E}">
        <p14:creationId xmlns:p14="http://schemas.microsoft.com/office/powerpoint/2010/main" val="3300145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A7D99E-A8C2-4343-A45B-9C03B80E26D4}"/>
              </a:ext>
            </a:extLst>
          </p:cNvPr>
          <p:cNvSpPr>
            <a:spLocks noGrp="1"/>
          </p:cNvSpPr>
          <p:nvPr>
            <p:ph type="title"/>
          </p:nvPr>
        </p:nvSpPr>
        <p:spPr/>
        <p:txBody>
          <a:bodyPr>
            <a:normAutofit/>
          </a:bodyPr>
          <a:lstStyle/>
          <a:p>
            <a:pPr algn="ctr"/>
            <a:r>
              <a:rPr lang="en-US" sz="5400" b="1" dirty="0"/>
              <a:t>Finding Help</a:t>
            </a:r>
          </a:p>
        </p:txBody>
      </p:sp>
      <p:sp>
        <p:nvSpPr>
          <p:cNvPr id="3" name="Content Placeholder 2">
            <a:extLst>
              <a:ext uri="{FF2B5EF4-FFF2-40B4-BE49-F238E27FC236}">
                <a16:creationId xmlns:a16="http://schemas.microsoft.com/office/drawing/2014/main" id="{CFE604BC-D0F3-9D4B-9D8C-C70D5A7B5E70}"/>
              </a:ext>
            </a:extLst>
          </p:cNvPr>
          <p:cNvSpPr>
            <a:spLocks noGrp="1"/>
          </p:cNvSpPr>
          <p:nvPr>
            <p:ph idx="1"/>
          </p:nvPr>
        </p:nvSpPr>
        <p:spPr/>
        <p:txBody>
          <a:bodyPr/>
          <a:lstStyle/>
          <a:p>
            <a:r>
              <a:rPr lang="en-US" dirty="0"/>
              <a:t>Most important skill you will learn while here</a:t>
            </a:r>
          </a:p>
          <a:p>
            <a:r>
              <a:rPr lang="en-US" dirty="0"/>
              <a:t>Built-in instructions for shell commands</a:t>
            </a:r>
          </a:p>
          <a:p>
            <a:r>
              <a:rPr lang="en-US" dirty="0"/>
              <a:t>Many online resources and tutorials</a:t>
            </a:r>
          </a:p>
          <a:p>
            <a:r>
              <a:rPr lang="en-US" dirty="0"/>
              <a:t>Forums</a:t>
            </a:r>
          </a:p>
          <a:p>
            <a:r>
              <a:rPr lang="en-US" dirty="0"/>
              <a:t>Direct communication with developer/researcher</a:t>
            </a:r>
          </a:p>
        </p:txBody>
      </p:sp>
    </p:spTree>
    <p:extLst>
      <p:ext uri="{BB962C8B-B14F-4D97-AF65-F5344CB8AC3E}">
        <p14:creationId xmlns:p14="http://schemas.microsoft.com/office/powerpoint/2010/main" val="2315527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1A57C-418E-8E45-B41F-EC38AFBEB793}"/>
              </a:ext>
            </a:extLst>
          </p:cNvPr>
          <p:cNvSpPr>
            <a:spLocks noGrp="1"/>
          </p:cNvSpPr>
          <p:nvPr>
            <p:ph type="title"/>
          </p:nvPr>
        </p:nvSpPr>
        <p:spPr/>
        <p:txBody>
          <a:bodyPr>
            <a:normAutofit/>
          </a:bodyPr>
          <a:lstStyle/>
          <a:p>
            <a:pPr algn="ctr"/>
            <a:r>
              <a:rPr lang="en-US" sz="6000" b="1" dirty="0">
                <a:solidFill>
                  <a:srgbClr val="FF0000"/>
                </a:solidFill>
                <a:latin typeface="Courier New" panose="02070309020205020404" pitchFamily="49" charset="0"/>
                <a:cs typeface="Courier New" panose="02070309020205020404" pitchFamily="49" charset="0"/>
              </a:rPr>
              <a:t>man</a:t>
            </a:r>
            <a:r>
              <a:rPr lang="en-US" sz="6000" b="1" dirty="0"/>
              <a:t> pages</a:t>
            </a:r>
          </a:p>
        </p:txBody>
      </p:sp>
      <p:sp>
        <p:nvSpPr>
          <p:cNvPr id="3" name="Content Placeholder 2">
            <a:extLst>
              <a:ext uri="{FF2B5EF4-FFF2-40B4-BE49-F238E27FC236}">
                <a16:creationId xmlns:a16="http://schemas.microsoft.com/office/drawing/2014/main" id="{E468CD8B-3DC8-4642-B86A-FEB10F89AD30}"/>
              </a:ext>
            </a:extLst>
          </p:cNvPr>
          <p:cNvSpPr>
            <a:spLocks noGrp="1"/>
          </p:cNvSpPr>
          <p:nvPr>
            <p:ph idx="1"/>
          </p:nvPr>
        </p:nvSpPr>
        <p:spPr>
          <a:xfrm>
            <a:off x="838200" y="1478604"/>
            <a:ext cx="10515600" cy="5379396"/>
          </a:xfrm>
        </p:spPr>
        <p:txBody>
          <a:bodyPr>
            <a:normAutofit fontScale="55000" lnSpcReduction="20000"/>
          </a:bodyPr>
          <a:lstStyle/>
          <a:p>
            <a:pPr marL="0" indent="0">
              <a:buNone/>
            </a:pPr>
            <a:r>
              <a:rPr lang="en-US" b="1" dirty="0"/>
              <a:t>NAME</a:t>
            </a:r>
            <a:endParaRPr lang="en-US" dirty="0"/>
          </a:p>
          <a:p>
            <a:pPr marL="0" indent="0">
              <a:buNone/>
            </a:pPr>
            <a:r>
              <a:rPr lang="en-US" dirty="0"/>
              <a:t>     </a:t>
            </a:r>
            <a:r>
              <a:rPr lang="en-US" b="1" dirty="0"/>
              <a:t>head</a:t>
            </a:r>
            <a:r>
              <a:rPr lang="en-US" dirty="0"/>
              <a:t> -- display first lines of a file</a:t>
            </a:r>
            <a:br>
              <a:rPr lang="en-US" dirty="0"/>
            </a:br>
            <a:endParaRPr lang="en-US" dirty="0"/>
          </a:p>
          <a:p>
            <a:pPr marL="0" indent="0">
              <a:buNone/>
            </a:pPr>
            <a:r>
              <a:rPr lang="en-US" b="1" dirty="0"/>
              <a:t>SYNOPSIS</a:t>
            </a:r>
            <a:endParaRPr lang="en-US" dirty="0"/>
          </a:p>
          <a:p>
            <a:pPr marL="0" indent="0">
              <a:buNone/>
            </a:pPr>
            <a:r>
              <a:rPr lang="en-US" dirty="0"/>
              <a:t>     </a:t>
            </a:r>
            <a:r>
              <a:rPr lang="en-US" b="1" dirty="0"/>
              <a:t>head</a:t>
            </a:r>
            <a:r>
              <a:rPr lang="en-US" dirty="0"/>
              <a:t> [</a:t>
            </a:r>
            <a:r>
              <a:rPr lang="en-US" b="1" dirty="0"/>
              <a:t>-n</a:t>
            </a:r>
            <a:r>
              <a:rPr lang="en-US" dirty="0"/>
              <a:t> </a:t>
            </a:r>
            <a:r>
              <a:rPr lang="en-US" u="sng" dirty="0"/>
              <a:t>count</a:t>
            </a:r>
            <a:r>
              <a:rPr lang="en-US" dirty="0"/>
              <a:t> | </a:t>
            </a:r>
            <a:r>
              <a:rPr lang="en-US" b="1" dirty="0"/>
              <a:t>-c</a:t>
            </a:r>
            <a:r>
              <a:rPr lang="en-US" dirty="0"/>
              <a:t> </a:t>
            </a:r>
            <a:r>
              <a:rPr lang="en-US" u="sng" dirty="0"/>
              <a:t>bytes</a:t>
            </a:r>
            <a:r>
              <a:rPr lang="en-US" dirty="0"/>
              <a:t>] [</a:t>
            </a:r>
            <a:r>
              <a:rPr lang="en-US" u="sng" dirty="0"/>
              <a:t>file</a:t>
            </a:r>
            <a:r>
              <a:rPr lang="en-US" dirty="0"/>
              <a:t> </a:t>
            </a:r>
            <a:r>
              <a:rPr lang="en-US" u="sng" dirty="0"/>
              <a:t>...</a:t>
            </a:r>
            <a:r>
              <a:rPr lang="en-US" dirty="0"/>
              <a:t>]</a:t>
            </a:r>
            <a:br>
              <a:rPr lang="en-US" dirty="0"/>
            </a:br>
            <a:endParaRPr lang="en-US" dirty="0"/>
          </a:p>
          <a:p>
            <a:pPr marL="0" indent="0">
              <a:buNone/>
            </a:pPr>
            <a:r>
              <a:rPr lang="en-US" b="1" dirty="0"/>
              <a:t>DESCRIPTION</a:t>
            </a:r>
            <a:endParaRPr lang="en-US" dirty="0"/>
          </a:p>
          <a:p>
            <a:pPr marL="0" indent="0">
              <a:buNone/>
            </a:pPr>
            <a:r>
              <a:rPr lang="en-US" dirty="0"/>
              <a:t>     This filter displays the first </a:t>
            </a:r>
            <a:r>
              <a:rPr lang="en-US" u="sng" dirty="0"/>
              <a:t>count</a:t>
            </a:r>
            <a:r>
              <a:rPr lang="en-US" dirty="0"/>
              <a:t> lines or </a:t>
            </a:r>
            <a:r>
              <a:rPr lang="en-US" u="sng" dirty="0"/>
              <a:t>bytes</a:t>
            </a:r>
            <a:r>
              <a:rPr lang="en-US" dirty="0"/>
              <a:t> of each of the specified files, or of the standard input if no files are specified.  If </a:t>
            </a:r>
            <a:r>
              <a:rPr lang="en-US" u="sng" dirty="0"/>
              <a:t>count</a:t>
            </a:r>
            <a:r>
              <a:rPr lang="en-US" dirty="0"/>
              <a:t> is omitted it defaults to 10.</a:t>
            </a:r>
          </a:p>
          <a:p>
            <a:pPr marL="0" indent="0">
              <a:buNone/>
            </a:pPr>
            <a:r>
              <a:rPr lang="en-US" dirty="0"/>
              <a:t>     If more than a single file is specified, each file is preceded by a header consisting of the string ``==&gt; XXX &lt;=='' where ``XXX'' is the name of the file.</a:t>
            </a:r>
            <a:br>
              <a:rPr lang="en-US" dirty="0"/>
            </a:br>
            <a:endParaRPr lang="en-US" dirty="0"/>
          </a:p>
          <a:p>
            <a:pPr marL="0" indent="0">
              <a:buNone/>
            </a:pPr>
            <a:r>
              <a:rPr lang="en-US" b="1" dirty="0"/>
              <a:t>EXIT</a:t>
            </a:r>
            <a:r>
              <a:rPr lang="en-US" dirty="0"/>
              <a:t> </a:t>
            </a:r>
            <a:r>
              <a:rPr lang="en-US" b="1" dirty="0"/>
              <a:t>STATUS</a:t>
            </a:r>
            <a:endParaRPr lang="en-US" dirty="0"/>
          </a:p>
          <a:p>
            <a:pPr marL="0" indent="0">
              <a:buNone/>
            </a:pPr>
            <a:r>
              <a:rPr lang="en-US" dirty="0"/>
              <a:t>     The </a:t>
            </a:r>
            <a:r>
              <a:rPr lang="en-US" b="1" dirty="0"/>
              <a:t>head</a:t>
            </a:r>
            <a:r>
              <a:rPr lang="en-US" dirty="0"/>
              <a:t> utility exits 0 on success, and &gt;0 if an error occurs.</a:t>
            </a:r>
            <a:br>
              <a:rPr lang="en-US" dirty="0"/>
            </a:br>
            <a:endParaRPr lang="en-US" dirty="0"/>
          </a:p>
          <a:p>
            <a:pPr marL="0" indent="0">
              <a:buNone/>
            </a:pPr>
            <a:r>
              <a:rPr lang="en-US" b="1" dirty="0"/>
              <a:t>SEE</a:t>
            </a:r>
            <a:r>
              <a:rPr lang="en-US" dirty="0"/>
              <a:t> </a:t>
            </a:r>
            <a:r>
              <a:rPr lang="en-US" b="1" dirty="0"/>
              <a:t>ALSO</a:t>
            </a:r>
            <a:endParaRPr lang="en-US" dirty="0"/>
          </a:p>
          <a:p>
            <a:pPr marL="0" indent="0">
              <a:buNone/>
            </a:pPr>
            <a:r>
              <a:rPr lang="en-US" dirty="0"/>
              <a:t>     tail(1)</a:t>
            </a:r>
            <a:br>
              <a:rPr lang="en-US" dirty="0"/>
            </a:br>
            <a:endParaRPr lang="en-US" dirty="0"/>
          </a:p>
          <a:p>
            <a:pPr marL="0" indent="0">
              <a:buNone/>
            </a:pPr>
            <a:r>
              <a:rPr lang="en-US" b="1" dirty="0"/>
              <a:t>HISTORY</a:t>
            </a:r>
            <a:endParaRPr lang="en-US" dirty="0"/>
          </a:p>
          <a:p>
            <a:pPr marL="0" indent="0">
              <a:buNone/>
            </a:pPr>
            <a:r>
              <a:rPr lang="en-US" dirty="0"/>
              <a:t>     The </a:t>
            </a:r>
            <a:r>
              <a:rPr lang="en-US" b="1" dirty="0"/>
              <a:t>head</a:t>
            </a:r>
            <a:r>
              <a:rPr lang="en-US" dirty="0"/>
              <a:t> command appeared in PWB UNIX.</a:t>
            </a:r>
            <a:br>
              <a:rPr lang="en-US" dirty="0"/>
            </a:br>
            <a:endParaRPr lang="en-US" dirty="0"/>
          </a:p>
          <a:p>
            <a:pPr marL="0" indent="0">
              <a:buNone/>
            </a:pPr>
            <a:r>
              <a:rPr lang="en-US" dirty="0"/>
              <a:t>BSD                              June 6, 1993                              BSD</a:t>
            </a:r>
          </a:p>
        </p:txBody>
      </p:sp>
    </p:spTree>
    <p:extLst>
      <p:ext uri="{BB962C8B-B14F-4D97-AF65-F5344CB8AC3E}">
        <p14:creationId xmlns:p14="http://schemas.microsoft.com/office/powerpoint/2010/main" val="27205808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43988-3608-AD49-97F7-FC7A2B6ECFB0}"/>
              </a:ext>
            </a:extLst>
          </p:cNvPr>
          <p:cNvSpPr>
            <a:spLocks noGrp="1"/>
          </p:cNvSpPr>
          <p:nvPr>
            <p:ph type="title"/>
          </p:nvPr>
        </p:nvSpPr>
        <p:spPr/>
        <p:txBody>
          <a:bodyPr>
            <a:normAutofit/>
          </a:bodyPr>
          <a:lstStyle/>
          <a:p>
            <a:pPr algn="ctr"/>
            <a:r>
              <a:rPr lang="en-US" sz="5400" b="1" dirty="0"/>
              <a:t>Online Resources</a:t>
            </a:r>
          </a:p>
        </p:txBody>
      </p:sp>
      <p:sp>
        <p:nvSpPr>
          <p:cNvPr id="3" name="Content Placeholder 2">
            <a:extLst>
              <a:ext uri="{FF2B5EF4-FFF2-40B4-BE49-F238E27FC236}">
                <a16:creationId xmlns:a16="http://schemas.microsoft.com/office/drawing/2014/main" id="{03F5B8FC-FE53-2748-BF52-82B56F959F2A}"/>
              </a:ext>
            </a:extLst>
          </p:cNvPr>
          <p:cNvSpPr>
            <a:spLocks noGrp="1"/>
          </p:cNvSpPr>
          <p:nvPr>
            <p:ph idx="1"/>
          </p:nvPr>
        </p:nvSpPr>
        <p:spPr/>
        <p:txBody>
          <a:bodyPr/>
          <a:lstStyle/>
          <a:p>
            <a:r>
              <a:rPr lang="en-US" dirty="0"/>
              <a:t>Documentation</a:t>
            </a:r>
          </a:p>
          <a:p>
            <a:r>
              <a:rPr lang="en-US" dirty="0"/>
              <a:t>Search for “command usage”</a:t>
            </a:r>
          </a:p>
          <a:p>
            <a:r>
              <a:rPr lang="en-US" dirty="0"/>
              <a:t>Tutorials and walkthroughs</a:t>
            </a:r>
          </a:p>
          <a:p>
            <a:r>
              <a:rPr lang="en-US" dirty="0"/>
              <a:t>Blogs</a:t>
            </a:r>
          </a:p>
          <a:p>
            <a:r>
              <a:rPr lang="en-US" dirty="0"/>
              <a:t>Forums (e.g. </a:t>
            </a:r>
            <a:r>
              <a:rPr lang="en-US" dirty="0" err="1"/>
              <a:t>stackoverflow</a:t>
            </a:r>
            <a:r>
              <a:rPr lang="en-US" dirty="0"/>
              <a:t>)</a:t>
            </a:r>
          </a:p>
          <a:p>
            <a:r>
              <a:rPr lang="en-US" dirty="0"/>
              <a:t>Direct communication with developer</a:t>
            </a:r>
          </a:p>
        </p:txBody>
      </p:sp>
    </p:spTree>
    <p:extLst>
      <p:ext uri="{BB962C8B-B14F-4D97-AF65-F5344CB8AC3E}">
        <p14:creationId xmlns:p14="http://schemas.microsoft.com/office/powerpoint/2010/main" val="3417010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BF3FC8-C834-4C40-8909-C4228A7F946F}"/>
              </a:ext>
            </a:extLst>
          </p:cNvPr>
          <p:cNvSpPr>
            <a:spLocks noGrp="1"/>
          </p:cNvSpPr>
          <p:nvPr>
            <p:ph type="title"/>
          </p:nvPr>
        </p:nvSpPr>
        <p:spPr/>
        <p:txBody>
          <a:bodyPr/>
          <a:lstStyle/>
          <a:p>
            <a:r>
              <a:rPr lang="en-US" b="1" dirty="0"/>
              <a:t>Mini-Exercise 1</a:t>
            </a:r>
          </a:p>
        </p:txBody>
      </p:sp>
      <p:sp>
        <p:nvSpPr>
          <p:cNvPr id="3" name="Content Placeholder 2">
            <a:extLst>
              <a:ext uri="{FF2B5EF4-FFF2-40B4-BE49-F238E27FC236}">
                <a16:creationId xmlns:a16="http://schemas.microsoft.com/office/drawing/2014/main" id="{5A5F2E7A-5E1C-8540-97B2-6A33CA0105B7}"/>
              </a:ext>
            </a:extLst>
          </p:cNvPr>
          <p:cNvSpPr>
            <a:spLocks noGrp="1"/>
          </p:cNvSpPr>
          <p:nvPr>
            <p:ph idx="1"/>
          </p:nvPr>
        </p:nvSpPr>
        <p:spPr/>
        <p:txBody>
          <a:bodyPr/>
          <a:lstStyle/>
          <a:p>
            <a:r>
              <a:rPr lang="en-US" dirty="0"/>
              <a:t>Use the </a:t>
            </a:r>
            <a:r>
              <a:rPr lang="en-US" b="1" dirty="0">
                <a:solidFill>
                  <a:srgbClr val="FF0000"/>
                </a:solidFill>
                <a:latin typeface="Courier New" panose="02070309020205020404" pitchFamily="49" charset="0"/>
                <a:cs typeface="Courier New" panose="02070309020205020404" pitchFamily="49" charset="0"/>
              </a:rPr>
              <a:t>man</a:t>
            </a:r>
            <a:r>
              <a:rPr lang="en-US" dirty="0"/>
              <a:t> page of </a:t>
            </a:r>
            <a:r>
              <a:rPr lang="en-US" b="1" dirty="0">
                <a:solidFill>
                  <a:srgbClr val="FF0000"/>
                </a:solidFill>
                <a:latin typeface="Courier New" panose="02070309020205020404" pitchFamily="49" charset="0"/>
                <a:cs typeface="Courier New" panose="02070309020205020404" pitchFamily="49" charset="0"/>
              </a:rPr>
              <a:t>top </a:t>
            </a:r>
            <a:r>
              <a:rPr lang="en-US" dirty="0"/>
              <a:t>to figure out how to see which processes/programs are currently using the most memory on your system</a:t>
            </a:r>
          </a:p>
          <a:p>
            <a:r>
              <a:rPr lang="en-US" dirty="0"/>
              <a:t>Use </a:t>
            </a:r>
            <a:r>
              <a:rPr lang="en-US" b="1" dirty="0">
                <a:solidFill>
                  <a:srgbClr val="FF0000"/>
                </a:solidFill>
                <a:latin typeface="Courier New" panose="02070309020205020404" pitchFamily="49" charset="0"/>
                <a:cs typeface="Courier New" panose="02070309020205020404" pitchFamily="49" charset="0"/>
              </a:rPr>
              <a:t>ifconfig</a:t>
            </a:r>
            <a:r>
              <a:rPr lang="en-US" dirty="0"/>
              <a:t> to figure out your IP address</a:t>
            </a:r>
          </a:p>
          <a:p>
            <a:r>
              <a:rPr lang="en-US" dirty="0"/>
              <a:t>What does the command </a:t>
            </a:r>
            <a:r>
              <a:rPr lang="en-US" b="1" dirty="0">
                <a:solidFill>
                  <a:srgbClr val="FF0000"/>
                </a:solidFill>
                <a:latin typeface="Courier New" panose="02070309020205020404" pitchFamily="49" charset="0"/>
                <a:cs typeface="Courier New" panose="02070309020205020404" pitchFamily="49" charset="0"/>
              </a:rPr>
              <a:t>df </a:t>
            </a:r>
            <a:r>
              <a:rPr lang="en-US" dirty="0"/>
              <a:t>do?</a:t>
            </a:r>
          </a:p>
          <a:p>
            <a:endParaRPr lang="en-US" dirty="0"/>
          </a:p>
          <a:p>
            <a:endParaRPr lang="en-US" dirty="0"/>
          </a:p>
        </p:txBody>
      </p:sp>
    </p:spTree>
    <p:extLst>
      <p:ext uri="{BB962C8B-B14F-4D97-AF65-F5344CB8AC3E}">
        <p14:creationId xmlns:p14="http://schemas.microsoft.com/office/powerpoint/2010/main" val="24512819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42285737-90EE-47DC-AC80-8AE156B11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1" y="-1"/>
            <a:ext cx="4403709" cy="6858001"/>
          </a:xfrm>
          <a:custGeom>
            <a:avLst/>
            <a:gdLst>
              <a:gd name="connsiteX0" fmla="*/ 3223890 w 4403709"/>
              <a:gd name="connsiteY0" fmla="*/ 6858001 h 6858001"/>
              <a:gd name="connsiteX1" fmla="*/ 4101908 w 4403709"/>
              <a:gd name="connsiteY1" fmla="*/ 6858001 h 6858001"/>
              <a:gd name="connsiteX2" fmla="*/ 3254950 w 4403709"/>
              <a:gd name="connsiteY2" fmla="*/ 1599356 h 6858001"/>
              <a:gd name="connsiteX3" fmla="*/ 3254950 w 4403709"/>
              <a:gd name="connsiteY3" fmla="*/ 1594062 h 6858001"/>
              <a:gd name="connsiteX4" fmla="*/ 4403709 w 4403709"/>
              <a:gd name="connsiteY4" fmla="*/ 0 h 6858001"/>
              <a:gd name="connsiteX5" fmla="*/ 3254950 w 4403709"/>
              <a:gd name="connsiteY5" fmla="*/ 0 h 6858001"/>
              <a:gd name="connsiteX6" fmla="*/ 2903520 w 4403709"/>
              <a:gd name="connsiteY6" fmla="*/ 0 h 6858001"/>
              <a:gd name="connsiteX7" fmla="*/ 0 w 4403709"/>
              <a:gd name="connsiteY7" fmla="*/ 0 h 6858001"/>
              <a:gd name="connsiteX8" fmla="*/ 0 w 4403709"/>
              <a:gd name="connsiteY8" fmla="*/ 6858000 h 6858001"/>
              <a:gd name="connsiteX9" fmla="*/ 3223890 w 4403709"/>
              <a:gd name="connsiteY9" fmla="*/ 685800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03709" h="6858001">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ln>
            <a:noFill/>
          </a:ln>
        </p:spPr>
        <p:style>
          <a:lnRef idx="2">
            <a:schemeClr val="accent1">
              <a:shade val="50000"/>
            </a:schemeClr>
          </a:lnRef>
          <a:fillRef idx="1002">
            <a:schemeClr val="dk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nvGrpSpPr>
          <p:cNvPr id="12" name="Group 11">
            <a:extLst>
              <a:ext uri="{FF2B5EF4-FFF2-40B4-BE49-F238E27FC236}">
                <a16:creationId xmlns:a16="http://schemas.microsoft.com/office/drawing/2014/main" id="{B57BDC17-F1B3-455F-BBF1-680AA1F25C0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315292" y="0"/>
            <a:ext cx="2436813" cy="6858001"/>
            <a:chOff x="1320800" y="0"/>
            <a:chExt cx="2436813" cy="6858001"/>
          </a:xfrm>
        </p:grpSpPr>
        <p:sp>
          <p:nvSpPr>
            <p:cNvPr id="13" name="Freeform 6">
              <a:extLst>
                <a:ext uri="{FF2B5EF4-FFF2-40B4-BE49-F238E27FC236}">
                  <a16:creationId xmlns:a16="http://schemas.microsoft.com/office/drawing/2014/main" id="{64E2FA9A-FEF7-4501-B0EB-5E45EDD217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14" name="Freeform 7">
              <a:extLst>
                <a:ext uri="{FF2B5EF4-FFF2-40B4-BE49-F238E27FC236}">
                  <a16:creationId xmlns:a16="http://schemas.microsoft.com/office/drawing/2014/main" id="{BC38192B-B4CB-47D4-A3B1-10010247F1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rgbClr val="595959"/>
            </a:solidFill>
            <a:ln>
              <a:noFill/>
            </a:ln>
          </p:spPr>
        </p:sp>
        <p:sp>
          <p:nvSpPr>
            <p:cNvPr id="15" name="Freeform 8">
              <a:extLst>
                <a:ext uri="{FF2B5EF4-FFF2-40B4-BE49-F238E27FC236}">
                  <a16:creationId xmlns:a16="http://schemas.microsoft.com/office/drawing/2014/main" id="{96330E33-E171-4B0F-82B5-AF7230399B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rgbClr val="262626"/>
            </a:solidFill>
            <a:ln>
              <a:noFill/>
            </a:ln>
          </p:spPr>
        </p:sp>
        <p:sp>
          <p:nvSpPr>
            <p:cNvPr id="16" name="Freeform 9">
              <a:extLst>
                <a:ext uri="{FF2B5EF4-FFF2-40B4-BE49-F238E27FC236}">
                  <a16:creationId xmlns:a16="http://schemas.microsoft.com/office/drawing/2014/main" id="{332B1723-69BF-42D7-B757-0FA059E15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7" name="Freeform 10">
              <a:extLst>
                <a:ext uri="{FF2B5EF4-FFF2-40B4-BE49-F238E27FC236}">
                  <a16:creationId xmlns:a16="http://schemas.microsoft.com/office/drawing/2014/main" id="{F115D62D-1E96-48D1-A78D-D370A0BFB9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8" name="Freeform 11">
              <a:extLst>
                <a:ext uri="{FF2B5EF4-FFF2-40B4-BE49-F238E27FC236}">
                  <a16:creationId xmlns:a16="http://schemas.microsoft.com/office/drawing/2014/main" id="{91C2876A-169D-4822-A766-C00578C88B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404040"/>
            </a:solidFill>
            <a:ln>
              <a:noFill/>
            </a:ln>
          </p:spPr>
        </p:sp>
      </p:grpSp>
      <p:sp>
        <p:nvSpPr>
          <p:cNvPr id="2" name="Title 1">
            <a:extLst>
              <a:ext uri="{FF2B5EF4-FFF2-40B4-BE49-F238E27FC236}">
                <a16:creationId xmlns:a16="http://schemas.microsoft.com/office/drawing/2014/main" id="{FD04A5DA-9F35-AE42-AAD5-99E73B3A007E}"/>
              </a:ext>
            </a:extLst>
          </p:cNvPr>
          <p:cNvSpPr>
            <a:spLocks noGrp="1"/>
          </p:cNvSpPr>
          <p:nvPr>
            <p:ph type="title"/>
          </p:nvPr>
        </p:nvSpPr>
        <p:spPr>
          <a:xfrm>
            <a:off x="535020" y="685800"/>
            <a:ext cx="2780271" cy="5105400"/>
          </a:xfrm>
        </p:spPr>
        <p:txBody>
          <a:bodyPr vert="horz" lIns="91440" tIns="45720" rIns="91440" bIns="45720" rtlCol="0">
            <a:normAutofit/>
          </a:bodyPr>
          <a:lstStyle/>
          <a:p>
            <a:r>
              <a:rPr lang="en-US" sz="4000" kern="1200">
                <a:solidFill>
                  <a:srgbClr val="FFFFFF"/>
                </a:solidFill>
                <a:latin typeface="+mj-lt"/>
                <a:ea typeface="+mj-ea"/>
                <a:cs typeface="+mj-cs"/>
              </a:rPr>
              <a:t>Basic shell commands</a:t>
            </a:r>
          </a:p>
        </p:txBody>
      </p:sp>
      <p:sp>
        <p:nvSpPr>
          <p:cNvPr id="5" name="Rectangle 1">
            <a:extLst>
              <a:ext uri="{FF2B5EF4-FFF2-40B4-BE49-F238E27FC236}">
                <a16:creationId xmlns:a16="http://schemas.microsoft.com/office/drawing/2014/main" id="{3ED51E0E-B8BB-E548-A547-B6C8298FC971}"/>
              </a:ext>
            </a:extLst>
          </p:cNvPr>
          <p:cNvSpPr>
            <a:spLocks noChangeArrowheads="1"/>
          </p:cNvSpPr>
          <p:nvPr/>
        </p:nvSpPr>
        <p:spPr bwMode="auto">
          <a:xfrm>
            <a:off x="648931" y="2438400"/>
            <a:ext cx="3505494" cy="3785419"/>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pPr marR="0" lvl="0" fontAlgn="base">
              <a:lnSpc>
                <a:spcPct val="90000"/>
              </a:lnSpc>
              <a:spcBef>
                <a:spcPct val="0"/>
              </a:spcBef>
              <a:spcAft>
                <a:spcPts val="600"/>
              </a:spcAft>
              <a:buClrTx/>
              <a:buSzTx/>
              <a:tabLst/>
            </a:pPr>
            <a:endParaRPr kumimoji="0" lang="en-US" altLang="en-US" sz="1600" b="0" i="0" u="none" strike="noStrike" cap="none" normalizeH="0" baseline="0" dirty="0">
              <a:ln>
                <a:noFill/>
              </a:ln>
              <a:effectLst/>
            </a:endParaRPr>
          </a:p>
        </p:txBody>
      </p:sp>
      <p:graphicFrame>
        <p:nvGraphicFramePr>
          <p:cNvPr id="4" name="Content Placeholder 3">
            <a:extLst>
              <a:ext uri="{FF2B5EF4-FFF2-40B4-BE49-F238E27FC236}">
                <a16:creationId xmlns:a16="http://schemas.microsoft.com/office/drawing/2014/main" id="{FBD91DEE-E6C4-CC4A-9B0E-463997FA0116}"/>
              </a:ext>
            </a:extLst>
          </p:cNvPr>
          <p:cNvGraphicFramePr>
            <a:graphicFrameLocks noGrp="1"/>
          </p:cNvGraphicFramePr>
          <p:nvPr>
            <p:ph idx="1"/>
            <p:extLst>
              <p:ext uri="{D42A27DB-BD31-4B8C-83A1-F6EECF244321}">
                <p14:modId xmlns:p14="http://schemas.microsoft.com/office/powerpoint/2010/main" val="2311924659"/>
              </p:ext>
            </p:extLst>
          </p:nvPr>
        </p:nvGraphicFramePr>
        <p:xfrm>
          <a:off x="5107074" y="685800"/>
          <a:ext cx="6299027" cy="5105414"/>
        </p:xfrm>
        <a:graphic>
          <a:graphicData uri="http://schemas.openxmlformats.org/drawingml/2006/table">
            <a:tbl>
              <a:tblPr/>
              <a:tblGrid>
                <a:gridCol w="1864748">
                  <a:extLst>
                    <a:ext uri="{9D8B030D-6E8A-4147-A177-3AD203B41FA5}">
                      <a16:colId xmlns:a16="http://schemas.microsoft.com/office/drawing/2014/main" val="4013480403"/>
                    </a:ext>
                  </a:extLst>
                </a:gridCol>
                <a:gridCol w="4434279">
                  <a:extLst>
                    <a:ext uri="{9D8B030D-6E8A-4147-A177-3AD203B41FA5}">
                      <a16:colId xmlns:a16="http://schemas.microsoft.com/office/drawing/2014/main" val="51505866"/>
                    </a:ext>
                  </a:extLst>
                </a:gridCol>
              </a:tblGrid>
              <a:tr h="260284">
                <a:tc>
                  <a:txBody>
                    <a:bodyPr/>
                    <a:lstStyle/>
                    <a:p>
                      <a:pPr algn="ctr" fontAlgn="ctr">
                        <a:spcBef>
                          <a:spcPts val="0"/>
                        </a:spcBef>
                        <a:spcAft>
                          <a:spcPts val="0"/>
                        </a:spcAft>
                      </a:pPr>
                      <a:r>
                        <a:rPr lang="en-US" sz="1400" b="0" i="0" u="none" strike="noStrike">
                          <a:effectLst/>
                          <a:latin typeface="Arial" panose="020B0604020202020204" pitchFamily="34" charset="0"/>
                        </a:rPr>
                        <a:t>ls</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list the files in the current directory</a:t>
                      </a:r>
                    </a:p>
                  </a:txBody>
                  <a:tcPr marL="7053" marR="7053" marT="7053" marB="7053" anchor="ctr">
                    <a:lnL>
                      <a:noFill/>
                    </a:lnL>
                    <a:lnR>
                      <a:noFill/>
                    </a:lnR>
                    <a:lnT>
                      <a:noFill/>
                    </a:lnT>
                    <a:lnB>
                      <a:noFill/>
                    </a:lnB>
                  </a:tcPr>
                </a:tc>
                <a:extLst>
                  <a:ext uri="{0D108BD9-81ED-4DB2-BD59-A6C34878D82A}">
                    <a16:rowId xmlns:a16="http://schemas.microsoft.com/office/drawing/2014/main" val="239997915"/>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ls -a</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list all files including hidden files</a:t>
                      </a:r>
                    </a:p>
                  </a:txBody>
                  <a:tcPr marL="7053" marR="7053" marT="7053" marB="7053" anchor="ctr">
                    <a:lnL>
                      <a:noFill/>
                    </a:lnL>
                    <a:lnR>
                      <a:noFill/>
                    </a:lnR>
                    <a:lnT>
                      <a:noFill/>
                    </a:lnT>
                    <a:lnB>
                      <a:noFill/>
                    </a:lnB>
                  </a:tcPr>
                </a:tc>
                <a:extLst>
                  <a:ext uri="{0D108BD9-81ED-4DB2-BD59-A6C34878D82A}">
                    <a16:rowId xmlns:a16="http://schemas.microsoft.com/office/drawing/2014/main" val="609883157"/>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ls -l</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long formatted list of files</a:t>
                      </a:r>
                    </a:p>
                  </a:txBody>
                  <a:tcPr marL="7053" marR="7053" marT="7053" marB="7053" anchor="ctr">
                    <a:lnL>
                      <a:noFill/>
                    </a:lnL>
                    <a:lnR>
                      <a:noFill/>
                    </a:lnR>
                    <a:lnT>
                      <a:noFill/>
                    </a:lnT>
                    <a:lnB>
                      <a:noFill/>
                    </a:lnB>
                  </a:tcPr>
                </a:tc>
                <a:extLst>
                  <a:ext uri="{0D108BD9-81ED-4DB2-BD59-A6C34878D82A}">
                    <a16:rowId xmlns:a16="http://schemas.microsoft.com/office/drawing/2014/main" val="967972728"/>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cd dir</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change directory to dir</a:t>
                      </a:r>
                    </a:p>
                  </a:txBody>
                  <a:tcPr marL="7053" marR="7053" marT="7053" marB="7053" anchor="ctr">
                    <a:lnL>
                      <a:noFill/>
                    </a:lnL>
                    <a:lnR>
                      <a:noFill/>
                    </a:lnR>
                    <a:lnT>
                      <a:noFill/>
                    </a:lnT>
                    <a:lnB>
                      <a:noFill/>
                    </a:lnB>
                  </a:tcPr>
                </a:tc>
                <a:extLst>
                  <a:ext uri="{0D108BD9-81ED-4DB2-BD59-A6C34878D82A}">
                    <a16:rowId xmlns:a16="http://schemas.microsoft.com/office/drawing/2014/main" val="2276433654"/>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cd</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change to home</a:t>
                      </a:r>
                    </a:p>
                  </a:txBody>
                  <a:tcPr marL="7053" marR="7053" marT="7053" marB="7053" anchor="ctr">
                    <a:lnL>
                      <a:noFill/>
                    </a:lnL>
                    <a:lnR>
                      <a:noFill/>
                    </a:lnR>
                    <a:lnT>
                      <a:noFill/>
                    </a:lnT>
                    <a:lnB>
                      <a:noFill/>
                    </a:lnB>
                  </a:tcPr>
                </a:tc>
                <a:extLst>
                  <a:ext uri="{0D108BD9-81ED-4DB2-BD59-A6C34878D82A}">
                    <a16:rowId xmlns:a16="http://schemas.microsoft.com/office/drawing/2014/main" val="1266060264"/>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pwd</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show current directory</a:t>
                      </a:r>
                    </a:p>
                  </a:txBody>
                  <a:tcPr marL="7053" marR="7053" marT="7053" marB="7053" anchor="ctr">
                    <a:lnL>
                      <a:noFill/>
                    </a:lnL>
                    <a:lnR>
                      <a:noFill/>
                    </a:lnR>
                    <a:lnT>
                      <a:noFill/>
                    </a:lnT>
                    <a:lnB>
                      <a:noFill/>
                    </a:lnB>
                  </a:tcPr>
                </a:tc>
                <a:extLst>
                  <a:ext uri="{0D108BD9-81ED-4DB2-BD59-A6C34878D82A}">
                    <a16:rowId xmlns:a16="http://schemas.microsoft.com/office/drawing/2014/main" val="1877459838"/>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mkdir dir</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create a directory dir</a:t>
                      </a:r>
                    </a:p>
                  </a:txBody>
                  <a:tcPr marL="7053" marR="7053" marT="7053" marB="7053" anchor="ctr">
                    <a:lnL>
                      <a:noFill/>
                    </a:lnL>
                    <a:lnR>
                      <a:noFill/>
                    </a:lnR>
                    <a:lnT>
                      <a:noFill/>
                    </a:lnT>
                    <a:lnB>
                      <a:noFill/>
                    </a:lnB>
                  </a:tcPr>
                </a:tc>
                <a:extLst>
                  <a:ext uri="{0D108BD9-81ED-4DB2-BD59-A6C34878D82A}">
                    <a16:rowId xmlns:a16="http://schemas.microsoft.com/office/drawing/2014/main" val="2477382575"/>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rm file</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delete file</a:t>
                      </a:r>
                    </a:p>
                  </a:txBody>
                  <a:tcPr marL="7053" marR="7053" marT="7053" marB="7053" anchor="ctr">
                    <a:lnL>
                      <a:noFill/>
                    </a:lnL>
                    <a:lnR>
                      <a:noFill/>
                    </a:lnR>
                    <a:lnT>
                      <a:noFill/>
                    </a:lnT>
                    <a:lnB>
                      <a:noFill/>
                    </a:lnB>
                  </a:tcPr>
                </a:tc>
                <a:extLst>
                  <a:ext uri="{0D108BD9-81ED-4DB2-BD59-A6C34878D82A}">
                    <a16:rowId xmlns:a16="http://schemas.microsoft.com/office/drawing/2014/main" val="68680551"/>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cp file1 file2</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copy file1 to file2</a:t>
                      </a:r>
                    </a:p>
                  </a:txBody>
                  <a:tcPr marL="7053" marR="7053" marT="7053" marB="7053" anchor="ctr">
                    <a:lnL>
                      <a:noFill/>
                    </a:lnL>
                    <a:lnR>
                      <a:noFill/>
                    </a:lnR>
                    <a:lnT>
                      <a:noFill/>
                    </a:lnT>
                    <a:lnB>
                      <a:noFill/>
                    </a:lnB>
                  </a:tcPr>
                </a:tc>
                <a:extLst>
                  <a:ext uri="{0D108BD9-81ED-4DB2-BD59-A6C34878D82A}">
                    <a16:rowId xmlns:a16="http://schemas.microsoft.com/office/drawing/2014/main" val="1091443364"/>
                  </a:ext>
                </a:extLst>
              </a:tr>
              <a:tr h="470435">
                <a:tc>
                  <a:txBody>
                    <a:bodyPr/>
                    <a:lstStyle/>
                    <a:p>
                      <a:pPr algn="ctr" fontAlgn="ctr">
                        <a:spcBef>
                          <a:spcPts val="0"/>
                        </a:spcBef>
                        <a:spcAft>
                          <a:spcPts val="0"/>
                        </a:spcAft>
                      </a:pPr>
                      <a:r>
                        <a:rPr lang="en-US" sz="1400" b="0" i="0" u="none" strike="noStrike">
                          <a:effectLst/>
                          <a:latin typeface="Arial" panose="020B0604020202020204" pitchFamily="34" charset="0"/>
                        </a:rPr>
                        <a:t>mv file1 file2</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rename or move file1 to file2; if file2 is a directory, move file1 into directory file2</a:t>
                      </a:r>
                    </a:p>
                  </a:txBody>
                  <a:tcPr marL="7053" marR="7053" marT="7053" marB="7053" anchor="ctr">
                    <a:lnL>
                      <a:noFill/>
                    </a:lnL>
                    <a:lnR>
                      <a:noFill/>
                    </a:lnR>
                    <a:lnT>
                      <a:noFill/>
                    </a:lnT>
                    <a:lnB>
                      <a:noFill/>
                    </a:lnB>
                  </a:tcPr>
                </a:tc>
                <a:extLst>
                  <a:ext uri="{0D108BD9-81ED-4DB2-BD59-A6C34878D82A}">
                    <a16:rowId xmlns:a16="http://schemas.microsoft.com/office/drawing/2014/main" val="255655629"/>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cat file</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print the contents of a file to the screen</a:t>
                      </a:r>
                    </a:p>
                  </a:txBody>
                  <a:tcPr marL="7053" marR="7053" marT="7053" marB="7053" anchor="ctr">
                    <a:lnL>
                      <a:noFill/>
                    </a:lnL>
                    <a:lnR>
                      <a:noFill/>
                    </a:lnR>
                    <a:lnT>
                      <a:noFill/>
                    </a:lnT>
                    <a:lnB>
                      <a:noFill/>
                    </a:lnB>
                  </a:tcPr>
                </a:tc>
                <a:extLst>
                  <a:ext uri="{0D108BD9-81ED-4DB2-BD59-A6C34878D82A}">
                    <a16:rowId xmlns:a16="http://schemas.microsoft.com/office/drawing/2014/main" val="1025111140"/>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more file</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output the contents of file</a:t>
                      </a:r>
                    </a:p>
                  </a:txBody>
                  <a:tcPr marL="7053" marR="7053" marT="7053" marB="7053" anchor="ctr">
                    <a:lnL>
                      <a:noFill/>
                    </a:lnL>
                    <a:lnR>
                      <a:noFill/>
                    </a:lnR>
                    <a:lnT>
                      <a:noFill/>
                    </a:lnT>
                    <a:lnB>
                      <a:noFill/>
                    </a:lnB>
                  </a:tcPr>
                </a:tc>
                <a:extLst>
                  <a:ext uri="{0D108BD9-81ED-4DB2-BD59-A6C34878D82A}">
                    <a16:rowId xmlns:a16="http://schemas.microsoft.com/office/drawing/2014/main" val="771743550"/>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less file</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output the contents of file</a:t>
                      </a:r>
                    </a:p>
                  </a:txBody>
                  <a:tcPr marL="7053" marR="7053" marT="7053" marB="7053" anchor="ctr">
                    <a:lnL>
                      <a:noFill/>
                    </a:lnL>
                    <a:lnR>
                      <a:noFill/>
                    </a:lnR>
                    <a:lnT>
                      <a:noFill/>
                    </a:lnT>
                    <a:lnB>
                      <a:noFill/>
                    </a:lnB>
                  </a:tcPr>
                </a:tc>
                <a:extLst>
                  <a:ext uri="{0D108BD9-81ED-4DB2-BD59-A6C34878D82A}">
                    <a16:rowId xmlns:a16="http://schemas.microsoft.com/office/drawing/2014/main" val="2695101163"/>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head file</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output the first 10 lines of file</a:t>
                      </a:r>
                    </a:p>
                  </a:txBody>
                  <a:tcPr marL="7053" marR="7053" marT="7053" marB="7053" anchor="ctr">
                    <a:lnL>
                      <a:noFill/>
                    </a:lnL>
                    <a:lnR>
                      <a:noFill/>
                    </a:lnR>
                    <a:lnT>
                      <a:noFill/>
                    </a:lnT>
                    <a:lnB>
                      <a:noFill/>
                    </a:lnB>
                  </a:tcPr>
                </a:tc>
                <a:extLst>
                  <a:ext uri="{0D108BD9-81ED-4DB2-BD59-A6C34878D82A}">
                    <a16:rowId xmlns:a16="http://schemas.microsoft.com/office/drawing/2014/main" val="4267097916"/>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tail file</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output the last 10 lines of file</a:t>
                      </a:r>
                    </a:p>
                  </a:txBody>
                  <a:tcPr marL="7053" marR="7053" marT="7053" marB="7053" anchor="ctr">
                    <a:lnL>
                      <a:noFill/>
                    </a:lnL>
                    <a:lnR>
                      <a:noFill/>
                    </a:lnR>
                    <a:lnT>
                      <a:noFill/>
                    </a:lnT>
                    <a:lnB>
                      <a:noFill/>
                    </a:lnB>
                  </a:tcPr>
                </a:tc>
                <a:extLst>
                  <a:ext uri="{0D108BD9-81ED-4DB2-BD59-A6C34878D82A}">
                    <a16:rowId xmlns:a16="http://schemas.microsoft.com/office/drawing/2014/main" val="717349487"/>
                  </a:ext>
                </a:extLst>
              </a:tr>
              <a:tr h="470435">
                <a:tc>
                  <a:txBody>
                    <a:bodyPr/>
                    <a:lstStyle/>
                    <a:p>
                      <a:pPr algn="ctr" fontAlgn="ctr">
                        <a:spcBef>
                          <a:spcPts val="0"/>
                        </a:spcBef>
                        <a:spcAft>
                          <a:spcPts val="0"/>
                        </a:spcAft>
                      </a:pPr>
                      <a:r>
                        <a:rPr lang="en-US" sz="1400" b="0" i="0" u="none" strike="noStrike">
                          <a:effectLst/>
                          <a:latin typeface="Arial" panose="020B0604020202020204" pitchFamily="34" charset="0"/>
                        </a:rPr>
                        <a:t>tail -f file</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output the contents of file as it grows, starting with the last 10 lines</a:t>
                      </a:r>
                    </a:p>
                  </a:txBody>
                  <a:tcPr marL="7053" marR="7053" marT="7053" marB="7053" anchor="ctr">
                    <a:lnL>
                      <a:noFill/>
                    </a:lnL>
                    <a:lnR>
                      <a:noFill/>
                    </a:lnR>
                    <a:lnT>
                      <a:noFill/>
                    </a:lnT>
                    <a:lnB>
                      <a:noFill/>
                    </a:lnB>
                  </a:tcPr>
                </a:tc>
                <a:extLst>
                  <a:ext uri="{0D108BD9-81ED-4DB2-BD59-A6C34878D82A}">
                    <a16:rowId xmlns:a16="http://schemas.microsoft.com/office/drawing/2014/main" val="1098608412"/>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grep pattern file</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print the lines matching pattern in the file.</a:t>
                      </a:r>
                    </a:p>
                  </a:txBody>
                  <a:tcPr marL="7053" marR="7053" marT="7053" marB="7053" anchor="ctr">
                    <a:lnL>
                      <a:noFill/>
                    </a:lnL>
                    <a:lnR>
                      <a:noFill/>
                    </a:lnR>
                    <a:lnT>
                      <a:noFill/>
                    </a:lnT>
                    <a:lnB>
                      <a:noFill/>
                    </a:lnB>
                  </a:tcPr>
                </a:tc>
                <a:extLst>
                  <a:ext uri="{0D108BD9-81ED-4DB2-BD59-A6C34878D82A}">
                    <a16:rowId xmlns:a16="http://schemas.microsoft.com/office/drawing/2014/main" val="878412781"/>
                  </a:ext>
                </a:extLst>
              </a:tr>
              <a:tr h="260284">
                <a:tc>
                  <a:txBody>
                    <a:bodyPr/>
                    <a:lstStyle/>
                    <a:p>
                      <a:pPr algn="ctr" fontAlgn="ctr">
                        <a:spcBef>
                          <a:spcPts val="0"/>
                        </a:spcBef>
                        <a:spcAft>
                          <a:spcPts val="0"/>
                        </a:spcAft>
                      </a:pPr>
                      <a:r>
                        <a:rPr lang="en-US" sz="1400" b="0" i="0" u="none" strike="noStrike">
                          <a:effectLst/>
                          <a:latin typeface="Arial" panose="020B0604020202020204" pitchFamily="34" charset="0"/>
                        </a:rPr>
                        <a:t>wc -l file</a:t>
                      </a:r>
                    </a:p>
                  </a:txBody>
                  <a:tcPr marL="7053" marR="7053" marT="7053" marB="7053" anchor="ctr">
                    <a:lnL>
                      <a:noFill/>
                    </a:lnL>
                    <a:lnR>
                      <a:noFill/>
                    </a:lnR>
                    <a:lnT>
                      <a:noFill/>
                    </a:lnT>
                    <a:lnB>
                      <a:noFill/>
                    </a:lnB>
                  </a:tcPr>
                </a:tc>
                <a:tc>
                  <a:txBody>
                    <a:bodyPr/>
                    <a:lstStyle/>
                    <a:p>
                      <a:pPr algn="ctr" fontAlgn="ctr">
                        <a:spcBef>
                          <a:spcPts val="0"/>
                        </a:spcBef>
                        <a:spcAft>
                          <a:spcPts val="0"/>
                        </a:spcAft>
                      </a:pPr>
                      <a:r>
                        <a:rPr lang="en-US" sz="1400" b="0" i="0" u="none" strike="noStrike">
                          <a:effectLst/>
                          <a:latin typeface="Arial" panose="020B0604020202020204" pitchFamily="34" charset="0"/>
                        </a:rPr>
                        <a:t>print the number of lines in a file.</a:t>
                      </a:r>
                    </a:p>
                  </a:txBody>
                  <a:tcPr marL="7053" marR="7053" marT="7053" marB="7053" anchor="ctr">
                    <a:lnL>
                      <a:noFill/>
                    </a:lnL>
                    <a:lnR>
                      <a:noFill/>
                    </a:lnR>
                    <a:lnT>
                      <a:noFill/>
                    </a:lnT>
                    <a:lnB>
                      <a:noFill/>
                    </a:lnB>
                  </a:tcPr>
                </a:tc>
                <a:extLst>
                  <a:ext uri="{0D108BD9-81ED-4DB2-BD59-A6C34878D82A}">
                    <a16:rowId xmlns:a16="http://schemas.microsoft.com/office/drawing/2014/main" val="3553123270"/>
                  </a:ext>
                </a:extLst>
              </a:tr>
            </a:tbl>
          </a:graphicData>
        </a:graphic>
      </p:graphicFrame>
    </p:spTree>
    <p:extLst>
      <p:ext uri="{BB962C8B-B14F-4D97-AF65-F5344CB8AC3E}">
        <p14:creationId xmlns:p14="http://schemas.microsoft.com/office/powerpoint/2010/main" val="21221969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4F29F2-794C-2D41-8E70-55D1DD47C7E3}"/>
              </a:ext>
            </a:extLst>
          </p:cNvPr>
          <p:cNvSpPr>
            <a:spLocks noGrp="1"/>
          </p:cNvSpPr>
          <p:nvPr>
            <p:ph type="title"/>
          </p:nvPr>
        </p:nvSpPr>
        <p:spPr/>
        <p:txBody>
          <a:bodyPr>
            <a:normAutofit/>
          </a:bodyPr>
          <a:lstStyle/>
          <a:p>
            <a:r>
              <a:rPr lang="en-US" sz="5400" b="1" dirty="0"/>
              <a:t>File permissions…</a:t>
            </a:r>
          </a:p>
        </p:txBody>
      </p:sp>
      <p:sp>
        <p:nvSpPr>
          <p:cNvPr id="3" name="Content Placeholder 2">
            <a:extLst>
              <a:ext uri="{FF2B5EF4-FFF2-40B4-BE49-F238E27FC236}">
                <a16:creationId xmlns:a16="http://schemas.microsoft.com/office/drawing/2014/main" id="{42509165-B855-DC40-B15E-663E41B3D43D}"/>
              </a:ext>
            </a:extLst>
          </p:cNvPr>
          <p:cNvSpPr>
            <a:spLocks noGrp="1"/>
          </p:cNvSpPr>
          <p:nvPr>
            <p:ph idx="1"/>
          </p:nvPr>
        </p:nvSpPr>
        <p:spPr>
          <a:xfrm>
            <a:off x="6799455" y="1690688"/>
            <a:ext cx="5392545" cy="1921185"/>
          </a:xfrm>
        </p:spPr>
        <p:txBody>
          <a:bodyPr>
            <a:normAutofit lnSpcReduction="10000"/>
          </a:bodyPr>
          <a:lstStyle/>
          <a:p>
            <a:pPr marL="0" indent="0">
              <a:buNone/>
            </a:pPr>
            <a:r>
              <a:rPr lang="en-US" sz="6600" dirty="0"/>
              <a:t>  U	 G		 O</a:t>
            </a:r>
          </a:p>
          <a:p>
            <a:pPr marL="0" indent="0">
              <a:buNone/>
            </a:pPr>
            <a:r>
              <a:rPr lang="en-US" sz="6000" dirty="0" err="1"/>
              <a:t>rwx</a:t>
            </a:r>
            <a:r>
              <a:rPr lang="en-US" sz="6000" dirty="0"/>
              <a:t>	</a:t>
            </a:r>
            <a:r>
              <a:rPr lang="en-US" sz="6000" dirty="0" err="1"/>
              <a:t>rwx</a:t>
            </a:r>
            <a:r>
              <a:rPr lang="en-US" sz="6000" dirty="0"/>
              <a:t>	</a:t>
            </a:r>
            <a:r>
              <a:rPr lang="en-US" sz="6000" dirty="0" err="1"/>
              <a:t>rwx</a:t>
            </a:r>
            <a:endParaRPr lang="en-US" sz="6000" dirty="0"/>
          </a:p>
        </p:txBody>
      </p:sp>
      <p:sp>
        <p:nvSpPr>
          <p:cNvPr id="4" name="TextBox 3">
            <a:extLst>
              <a:ext uri="{FF2B5EF4-FFF2-40B4-BE49-F238E27FC236}">
                <a16:creationId xmlns:a16="http://schemas.microsoft.com/office/drawing/2014/main" id="{502BFE24-BF23-B141-A68A-507E2D9D3BDC}"/>
              </a:ext>
            </a:extLst>
          </p:cNvPr>
          <p:cNvSpPr txBox="1"/>
          <p:nvPr/>
        </p:nvSpPr>
        <p:spPr>
          <a:xfrm>
            <a:off x="838200" y="1828800"/>
            <a:ext cx="2048318" cy="3046988"/>
          </a:xfrm>
          <a:prstGeom prst="rect">
            <a:avLst/>
          </a:prstGeom>
          <a:noFill/>
        </p:spPr>
        <p:txBody>
          <a:bodyPr wrap="none" rtlCol="0">
            <a:spAutoFit/>
          </a:bodyPr>
          <a:lstStyle/>
          <a:p>
            <a:r>
              <a:rPr lang="en-US" sz="3200" dirty="0"/>
              <a:t>U = user</a:t>
            </a:r>
          </a:p>
          <a:p>
            <a:r>
              <a:rPr lang="en-US" sz="3200" dirty="0"/>
              <a:t>G = group</a:t>
            </a:r>
          </a:p>
          <a:p>
            <a:r>
              <a:rPr lang="en-US" sz="3200" dirty="0"/>
              <a:t>O = other</a:t>
            </a:r>
          </a:p>
          <a:p>
            <a:r>
              <a:rPr lang="en-US" sz="3200" dirty="0"/>
              <a:t>r = read</a:t>
            </a:r>
          </a:p>
          <a:p>
            <a:r>
              <a:rPr lang="en-US" sz="3200" dirty="0"/>
              <a:t>w = write</a:t>
            </a:r>
          </a:p>
          <a:p>
            <a:r>
              <a:rPr lang="en-US" sz="3200" dirty="0"/>
              <a:t>x = execute</a:t>
            </a:r>
          </a:p>
        </p:txBody>
      </p:sp>
      <p:sp>
        <p:nvSpPr>
          <p:cNvPr id="5" name="Content Placeholder 2">
            <a:extLst>
              <a:ext uri="{FF2B5EF4-FFF2-40B4-BE49-F238E27FC236}">
                <a16:creationId xmlns:a16="http://schemas.microsoft.com/office/drawing/2014/main" id="{92995887-FC52-1C49-A88D-B8883D49F96E}"/>
              </a:ext>
            </a:extLst>
          </p:cNvPr>
          <p:cNvSpPr txBox="1">
            <a:spLocks/>
          </p:cNvSpPr>
          <p:nvPr/>
        </p:nvSpPr>
        <p:spPr>
          <a:xfrm>
            <a:off x="6799454" y="3352294"/>
            <a:ext cx="5518051" cy="192118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6000" dirty="0" err="1"/>
              <a:t>rw</a:t>
            </a:r>
            <a:r>
              <a:rPr lang="en-US" sz="6000" dirty="0"/>
              <a:t>-	</a:t>
            </a:r>
            <a:r>
              <a:rPr lang="en-US" sz="6000" dirty="0" err="1"/>
              <a:t>rw</a:t>
            </a:r>
            <a:r>
              <a:rPr lang="en-US" sz="6000" dirty="0"/>
              <a:t>-	</a:t>
            </a:r>
            <a:r>
              <a:rPr lang="en-US" sz="6000" dirty="0" err="1"/>
              <a:t>rw</a:t>
            </a:r>
            <a:r>
              <a:rPr lang="en-US" sz="6000" dirty="0"/>
              <a:t>-</a:t>
            </a:r>
          </a:p>
          <a:p>
            <a:pPr marL="0" indent="0">
              <a:buFont typeface="Arial" panose="020B0604020202020204" pitchFamily="34" charset="0"/>
              <a:buNone/>
            </a:pPr>
            <a:r>
              <a:rPr lang="en-US" sz="6000" dirty="0" err="1"/>
              <a:t>rwx</a:t>
            </a:r>
            <a:r>
              <a:rPr lang="en-US" sz="6000" dirty="0"/>
              <a:t>	r--		r-- </a:t>
            </a:r>
          </a:p>
        </p:txBody>
      </p:sp>
    </p:spTree>
    <p:extLst>
      <p:ext uri="{BB962C8B-B14F-4D97-AF65-F5344CB8AC3E}">
        <p14:creationId xmlns:p14="http://schemas.microsoft.com/office/powerpoint/2010/main" val="39380778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8AF4F43A-4E7B-484F-BDBA-0C2A63CF4CFF}"/>
              </a:ext>
            </a:extLst>
          </p:cNvPr>
          <p:cNvSpPr>
            <a:spLocks noGrp="1"/>
          </p:cNvSpPr>
          <p:nvPr>
            <p:ph type="subTitle" idx="1"/>
          </p:nvPr>
        </p:nvSpPr>
        <p:spPr/>
        <p:txBody>
          <a:bodyPr/>
          <a:lstStyle/>
          <a:p>
            <a:endParaRPr lang="en-US"/>
          </a:p>
        </p:txBody>
      </p:sp>
      <p:pic>
        <p:nvPicPr>
          <p:cNvPr id="5" name="Picture 4" descr="Graphical user interface, text, application&#10;&#10;Description automatically generated">
            <a:extLst>
              <a:ext uri="{FF2B5EF4-FFF2-40B4-BE49-F238E27FC236}">
                <a16:creationId xmlns:a16="http://schemas.microsoft.com/office/drawing/2014/main" id="{C018703F-F8B7-B945-9EEF-76EC8226D909}"/>
              </a:ext>
            </a:extLst>
          </p:cNvPr>
          <p:cNvPicPr>
            <a:picLocks noChangeAspect="1"/>
          </p:cNvPicPr>
          <p:nvPr/>
        </p:nvPicPr>
        <p:blipFill>
          <a:blip r:embed="rId2"/>
          <a:stretch>
            <a:fillRect/>
          </a:stretch>
        </p:blipFill>
        <p:spPr>
          <a:xfrm>
            <a:off x="1028700" y="1417638"/>
            <a:ext cx="10134600" cy="4368800"/>
          </a:xfrm>
          <a:prstGeom prst="rect">
            <a:avLst/>
          </a:prstGeom>
        </p:spPr>
      </p:pic>
      <p:sp>
        <p:nvSpPr>
          <p:cNvPr id="6" name="TextBox 5">
            <a:extLst>
              <a:ext uri="{FF2B5EF4-FFF2-40B4-BE49-F238E27FC236}">
                <a16:creationId xmlns:a16="http://schemas.microsoft.com/office/drawing/2014/main" id="{E336BA73-FC2A-0547-AA9B-A8223E34F6FA}"/>
              </a:ext>
            </a:extLst>
          </p:cNvPr>
          <p:cNvSpPr txBox="1"/>
          <p:nvPr/>
        </p:nvSpPr>
        <p:spPr>
          <a:xfrm>
            <a:off x="2501105" y="473501"/>
            <a:ext cx="7189789" cy="830997"/>
          </a:xfrm>
          <a:prstGeom prst="rect">
            <a:avLst/>
          </a:prstGeom>
          <a:noFill/>
        </p:spPr>
        <p:txBody>
          <a:bodyPr wrap="none" rtlCol="0">
            <a:spAutoFit/>
          </a:bodyPr>
          <a:lstStyle/>
          <a:p>
            <a:r>
              <a:rPr lang="en-US" sz="4800" b="1" dirty="0" err="1">
                <a:solidFill>
                  <a:srgbClr val="FF0000"/>
                </a:solidFill>
                <a:latin typeface="Courier New" panose="02070309020205020404" pitchFamily="49" charset="0"/>
                <a:cs typeface="Courier New" panose="02070309020205020404" pitchFamily="49" charset="0"/>
              </a:rPr>
              <a:t>chmod</a:t>
            </a:r>
            <a:r>
              <a:rPr lang="en-US" sz="4800" dirty="0">
                <a:latin typeface="Courier New" panose="02070309020205020404" pitchFamily="49" charset="0"/>
                <a:cs typeface="Courier New" panose="02070309020205020404" pitchFamily="49" charset="0"/>
              </a:rPr>
              <a:t> 755 </a:t>
            </a:r>
            <a:r>
              <a:rPr lang="en-US" sz="4800" dirty="0" err="1">
                <a:latin typeface="Courier New" panose="02070309020205020404" pitchFamily="49" charset="0"/>
                <a:cs typeface="Courier New" panose="02070309020205020404" pitchFamily="49" charset="0"/>
              </a:rPr>
              <a:t>script.sh</a:t>
            </a:r>
            <a:endParaRPr lang="en-US" sz="48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96850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Table&#10;&#10;Description automatically generated with medium confidence">
            <a:extLst>
              <a:ext uri="{FF2B5EF4-FFF2-40B4-BE49-F238E27FC236}">
                <a16:creationId xmlns:a16="http://schemas.microsoft.com/office/drawing/2014/main" id="{4FBC2D65-B737-F94B-A59F-BBA15F97993B}"/>
              </a:ext>
            </a:extLst>
          </p:cNvPr>
          <p:cNvPicPr>
            <a:picLocks noGrp="1" noChangeAspect="1"/>
          </p:cNvPicPr>
          <p:nvPr>
            <p:ph idx="1"/>
          </p:nvPr>
        </p:nvPicPr>
        <p:blipFill>
          <a:blip r:embed="rId2"/>
          <a:stretch>
            <a:fillRect/>
          </a:stretch>
        </p:blipFill>
        <p:spPr>
          <a:xfrm>
            <a:off x="992697" y="1295400"/>
            <a:ext cx="10206605" cy="5562600"/>
          </a:xfrm>
        </p:spPr>
      </p:pic>
      <p:sp>
        <p:nvSpPr>
          <p:cNvPr id="6" name="Rectangle 5">
            <a:extLst>
              <a:ext uri="{FF2B5EF4-FFF2-40B4-BE49-F238E27FC236}">
                <a16:creationId xmlns:a16="http://schemas.microsoft.com/office/drawing/2014/main" id="{02413A3F-ACF1-CD4D-8016-6C769E3987B5}"/>
              </a:ext>
            </a:extLst>
          </p:cNvPr>
          <p:cNvSpPr/>
          <p:nvPr/>
        </p:nvSpPr>
        <p:spPr>
          <a:xfrm>
            <a:off x="2790446" y="378122"/>
            <a:ext cx="6611105" cy="769441"/>
          </a:xfrm>
          <a:prstGeom prst="rect">
            <a:avLst/>
          </a:prstGeom>
        </p:spPr>
        <p:txBody>
          <a:bodyPr wrap="none">
            <a:spAutoFit/>
          </a:bodyPr>
          <a:lstStyle/>
          <a:p>
            <a:r>
              <a:rPr lang="en-US" sz="4400" b="1" dirty="0" err="1">
                <a:solidFill>
                  <a:srgbClr val="FF0000"/>
                </a:solidFill>
                <a:latin typeface="Courier New" panose="02070309020205020404" pitchFamily="49" charset="0"/>
                <a:cs typeface="Courier New" panose="02070309020205020404" pitchFamily="49" charset="0"/>
              </a:rPr>
              <a:t>chmod</a:t>
            </a:r>
            <a:r>
              <a:rPr lang="en-US" sz="4400" dirty="0">
                <a:latin typeface="Courier New" panose="02070309020205020404" pitchFamily="49" charset="0"/>
                <a:cs typeface="Courier New" panose="02070309020205020404" pitchFamily="49" charset="0"/>
              </a:rPr>
              <a:t> </a:t>
            </a:r>
            <a:r>
              <a:rPr lang="en-US" sz="4400" dirty="0" err="1">
                <a:latin typeface="Courier New" panose="02070309020205020404" pitchFamily="49" charset="0"/>
                <a:cs typeface="Courier New" panose="02070309020205020404" pitchFamily="49" charset="0"/>
              </a:rPr>
              <a:t>a+x</a:t>
            </a:r>
            <a:r>
              <a:rPr lang="en-US" sz="4400" dirty="0">
                <a:latin typeface="Courier New" panose="02070309020205020404" pitchFamily="49" charset="0"/>
                <a:cs typeface="Courier New" panose="02070309020205020404" pitchFamily="49" charset="0"/>
              </a:rPr>
              <a:t> </a:t>
            </a:r>
            <a:r>
              <a:rPr lang="en-US" sz="4400" dirty="0" err="1">
                <a:latin typeface="Courier New" panose="02070309020205020404" pitchFamily="49" charset="0"/>
                <a:cs typeface="Courier New" panose="02070309020205020404" pitchFamily="49" charset="0"/>
              </a:rPr>
              <a:t>script.sh</a:t>
            </a:r>
            <a:endParaRPr lang="en-US" sz="440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5301449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2F955F-8EBD-EF4F-84C6-ECB223257F9C}"/>
              </a:ext>
            </a:extLst>
          </p:cNvPr>
          <p:cNvSpPr>
            <a:spLocks noGrp="1"/>
          </p:cNvSpPr>
          <p:nvPr>
            <p:ph type="title"/>
          </p:nvPr>
        </p:nvSpPr>
        <p:spPr/>
        <p:txBody>
          <a:bodyPr>
            <a:normAutofit/>
          </a:bodyPr>
          <a:lstStyle/>
          <a:p>
            <a:r>
              <a:rPr lang="en-US" sz="4800" b="1" dirty="0"/>
              <a:t>Other useful text file commands</a:t>
            </a:r>
          </a:p>
        </p:txBody>
      </p:sp>
      <p:sp>
        <p:nvSpPr>
          <p:cNvPr id="3" name="Content Placeholder 2">
            <a:extLst>
              <a:ext uri="{FF2B5EF4-FFF2-40B4-BE49-F238E27FC236}">
                <a16:creationId xmlns:a16="http://schemas.microsoft.com/office/drawing/2014/main" id="{B8BDC710-7CDF-804B-8D87-0FAB3E1B58EA}"/>
              </a:ext>
            </a:extLst>
          </p:cNvPr>
          <p:cNvSpPr>
            <a:spLocks noGrp="1"/>
          </p:cNvSpPr>
          <p:nvPr>
            <p:ph idx="1"/>
          </p:nvPr>
        </p:nvSpPr>
        <p:spPr/>
        <p:txBody>
          <a:bodyPr/>
          <a:lstStyle/>
          <a:p>
            <a:pPr marL="0" indent="0">
              <a:buNone/>
            </a:pPr>
            <a:r>
              <a:rPr lang="en-US" b="1" dirty="0" err="1">
                <a:solidFill>
                  <a:srgbClr val="FF0000"/>
                </a:solidFill>
                <a:latin typeface="Courier New" panose="02070309020205020404" pitchFamily="49" charset="0"/>
                <a:cs typeface="Courier New" panose="02070309020205020404" pitchFamily="49" charset="0"/>
              </a:rPr>
              <a:t>wc</a:t>
            </a:r>
            <a:endParaRPr lang="en-US" b="1" dirty="0">
              <a:solidFill>
                <a:srgbClr val="FF0000"/>
              </a:solidFill>
              <a:latin typeface="Courier New" panose="02070309020205020404" pitchFamily="49" charset="0"/>
              <a:cs typeface="Courier New" panose="02070309020205020404" pitchFamily="49" charset="0"/>
            </a:endParaRPr>
          </a:p>
          <a:p>
            <a:pPr marL="0" indent="0">
              <a:buNone/>
            </a:pPr>
            <a:r>
              <a:rPr lang="en-US" b="1" dirty="0">
                <a:solidFill>
                  <a:srgbClr val="FF0000"/>
                </a:solidFill>
                <a:latin typeface="Courier New" panose="02070309020205020404" pitchFamily="49" charset="0"/>
                <a:cs typeface="Courier New" panose="02070309020205020404" pitchFamily="49" charset="0"/>
              </a:rPr>
              <a:t>tr</a:t>
            </a:r>
          </a:p>
          <a:p>
            <a:pPr marL="0" indent="0">
              <a:buNone/>
            </a:pPr>
            <a:r>
              <a:rPr lang="en-US" b="1" dirty="0">
                <a:solidFill>
                  <a:srgbClr val="FF0000"/>
                </a:solidFill>
                <a:latin typeface="Courier New" panose="02070309020205020404" pitchFamily="49" charset="0"/>
                <a:cs typeface="Courier New" panose="02070309020205020404" pitchFamily="49" charset="0"/>
              </a:rPr>
              <a:t>sort</a:t>
            </a:r>
          </a:p>
          <a:p>
            <a:pPr marL="0" indent="0">
              <a:buNone/>
            </a:pPr>
            <a:r>
              <a:rPr lang="en-US" b="1" dirty="0" err="1">
                <a:solidFill>
                  <a:srgbClr val="FF0000"/>
                </a:solidFill>
                <a:latin typeface="Courier New" panose="02070309020205020404" pitchFamily="49" charset="0"/>
                <a:cs typeface="Courier New" panose="02070309020205020404" pitchFamily="49" charset="0"/>
              </a:rPr>
              <a:t>uniq</a:t>
            </a:r>
            <a:endParaRPr lang="en-US" b="1" dirty="0">
              <a:solidFill>
                <a:srgbClr val="FF0000"/>
              </a:solidFill>
              <a:latin typeface="Courier New" panose="02070309020205020404" pitchFamily="49" charset="0"/>
              <a:cs typeface="Courier New" panose="02070309020205020404" pitchFamily="49" charset="0"/>
            </a:endParaRPr>
          </a:p>
          <a:p>
            <a:pPr marL="0" indent="0">
              <a:buNone/>
            </a:pPr>
            <a:r>
              <a:rPr lang="en-US" b="1" dirty="0">
                <a:solidFill>
                  <a:srgbClr val="FF0000"/>
                </a:solidFill>
                <a:latin typeface="Courier New" panose="02070309020205020404" pitchFamily="49" charset="0"/>
                <a:cs typeface="Courier New" panose="02070309020205020404" pitchFamily="49" charset="0"/>
              </a:rPr>
              <a:t>cut </a:t>
            </a:r>
          </a:p>
          <a:p>
            <a:pPr marL="0" indent="0">
              <a:buNone/>
            </a:pPr>
            <a:r>
              <a:rPr lang="en-US" b="1" dirty="0">
                <a:solidFill>
                  <a:srgbClr val="FF0000"/>
                </a:solidFill>
                <a:latin typeface="Courier New" panose="02070309020205020404" pitchFamily="49" charset="0"/>
                <a:cs typeface="Courier New" panose="02070309020205020404" pitchFamily="49" charset="0"/>
              </a:rPr>
              <a:t>paste</a:t>
            </a:r>
          </a:p>
          <a:p>
            <a:pPr marL="0" indent="0">
              <a:buNone/>
            </a:pPr>
            <a:r>
              <a:rPr lang="en-US" b="1" dirty="0">
                <a:solidFill>
                  <a:srgbClr val="FF0000"/>
                </a:solidFill>
                <a:latin typeface="Courier New" panose="02070309020205020404" pitchFamily="49" charset="0"/>
                <a:cs typeface="Courier New" panose="02070309020205020404" pitchFamily="49" charset="0"/>
              </a:rPr>
              <a:t>grep</a:t>
            </a:r>
          </a:p>
          <a:p>
            <a:pPr marL="0" indent="0">
              <a:buNone/>
            </a:pPr>
            <a:endParaRPr lang="en-US" b="1" dirty="0">
              <a:latin typeface="Courier New" panose="02070309020205020404" pitchFamily="49" charset="0"/>
              <a:cs typeface="Courier New" panose="02070309020205020404" pitchFamily="49" charset="0"/>
            </a:endParaRPr>
          </a:p>
          <a:p>
            <a:endParaRPr lang="en-US" dirty="0"/>
          </a:p>
        </p:txBody>
      </p:sp>
    </p:spTree>
    <p:extLst>
      <p:ext uri="{BB962C8B-B14F-4D97-AF65-F5344CB8AC3E}">
        <p14:creationId xmlns:p14="http://schemas.microsoft.com/office/powerpoint/2010/main" val="35814736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1509F-CA98-2A45-BE33-326503DD941A}"/>
              </a:ext>
            </a:extLst>
          </p:cNvPr>
          <p:cNvSpPr>
            <a:spLocks noGrp="1"/>
          </p:cNvSpPr>
          <p:nvPr>
            <p:ph type="ctrTitle"/>
          </p:nvPr>
        </p:nvSpPr>
        <p:spPr/>
        <p:txBody>
          <a:bodyPr>
            <a:normAutofit/>
          </a:bodyPr>
          <a:lstStyle/>
          <a:p>
            <a:r>
              <a:rPr lang="en-US" sz="5400" dirty="0"/>
              <a:t>Searching and Modifying Files</a:t>
            </a:r>
          </a:p>
        </p:txBody>
      </p:sp>
      <p:sp>
        <p:nvSpPr>
          <p:cNvPr id="3" name="Subtitle 2">
            <a:extLst>
              <a:ext uri="{FF2B5EF4-FFF2-40B4-BE49-F238E27FC236}">
                <a16:creationId xmlns:a16="http://schemas.microsoft.com/office/drawing/2014/main" id="{4CF68C8F-E9EA-194D-A8F0-4F1537B726FE}"/>
              </a:ext>
            </a:extLst>
          </p:cNvPr>
          <p:cNvSpPr>
            <a:spLocks noGrp="1"/>
          </p:cNvSpPr>
          <p:nvPr>
            <p:ph type="subTitle" idx="1"/>
          </p:nvPr>
        </p:nvSpPr>
        <p:spPr/>
        <p:txBody>
          <a:bodyPr/>
          <a:lstStyle/>
          <a:p>
            <a:r>
              <a:rPr lang="en-US" dirty="0"/>
              <a:t>grep, sed, awk</a:t>
            </a:r>
          </a:p>
        </p:txBody>
      </p:sp>
    </p:spTree>
    <p:extLst>
      <p:ext uri="{BB962C8B-B14F-4D97-AF65-F5344CB8AC3E}">
        <p14:creationId xmlns:p14="http://schemas.microsoft.com/office/powerpoint/2010/main" val="1324391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EDE91-DFDC-6849-B600-707E5F325258}"/>
              </a:ext>
            </a:extLst>
          </p:cNvPr>
          <p:cNvSpPr>
            <a:spLocks noGrp="1"/>
          </p:cNvSpPr>
          <p:nvPr>
            <p:ph type="title"/>
          </p:nvPr>
        </p:nvSpPr>
        <p:spPr/>
        <p:txBody>
          <a:bodyPr>
            <a:normAutofit/>
          </a:bodyPr>
          <a:lstStyle/>
          <a:p>
            <a:r>
              <a:rPr lang="en-US" sz="5400" b="1" dirty="0"/>
              <a:t>Text Editor Options – GUI and CLI</a:t>
            </a:r>
          </a:p>
        </p:txBody>
      </p:sp>
      <p:sp>
        <p:nvSpPr>
          <p:cNvPr id="3" name="Content Placeholder 2">
            <a:extLst>
              <a:ext uri="{FF2B5EF4-FFF2-40B4-BE49-F238E27FC236}">
                <a16:creationId xmlns:a16="http://schemas.microsoft.com/office/drawing/2014/main" id="{3B26B3BF-E117-1842-8A31-435936C04D27}"/>
              </a:ext>
            </a:extLst>
          </p:cNvPr>
          <p:cNvSpPr>
            <a:spLocks noGrp="1"/>
          </p:cNvSpPr>
          <p:nvPr>
            <p:ph idx="1"/>
          </p:nvPr>
        </p:nvSpPr>
        <p:spPr/>
        <p:txBody>
          <a:bodyPr/>
          <a:lstStyle/>
          <a:p>
            <a:r>
              <a:rPr lang="en-US" dirty="0" err="1"/>
              <a:t>geany</a:t>
            </a:r>
            <a:endParaRPr lang="en-US" dirty="0"/>
          </a:p>
          <a:p>
            <a:r>
              <a:rPr lang="en-US" dirty="0"/>
              <a:t>atom</a:t>
            </a:r>
          </a:p>
          <a:p>
            <a:r>
              <a:rPr lang="en-US" dirty="0"/>
              <a:t>sublime text</a:t>
            </a:r>
          </a:p>
          <a:p>
            <a:r>
              <a:rPr lang="en-US" dirty="0"/>
              <a:t>Notepad ++ (works on windows)</a:t>
            </a:r>
          </a:p>
          <a:p>
            <a:endParaRPr lang="en-US" dirty="0"/>
          </a:p>
          <a:p>
            <a:r>
              <a:rPr lang="en-US" dirty="0"/>
              <a:t>emacs</a:t>
            </a:r>
          </a:p>
          <a:p>
            <a:r>
              <a:rPr lang="en-US" dirty="0"/>
              <a:t>vim/vi (CLI)</a:t>
            </a:r>
          </a:p>
          <a:p>
            <a:r>
              <a:rPr lang="en-US" dirty="0"/>
              <a:t>nano (CLI)</a:t>
            </a:r>
          </a:p>
        </p:txBody>
      </p:sp>
    </p:spTree>
    <p:extLst>
      <p:ext uri="{BB962C8B-B14F-4D97-AF65-F5344CB8AC3E}">
        <p14:creationId xmlns:p14="http://schemas.microsoft.com/office/powerpoint/2010/main" val="2847709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661EE-4CC4-DE49-B5C1-BF1EADFA4976}"/>
              </a:ext>
            </a:extLst>
          </p:cNvPr>
          <p:cNvSpPr>
            <a:spLocks noGrp="1"/>
          </p:cNvSpPr>
          <p:nvPr>
            <p:ph type="title"/>
          </p:nvPr>
        </p:nvSpPr>
        <p:spPr/>
        <p:txBody>
          <a:bodyPr>
            <a:normAutofit/>
          </a:bodyPr>
          <a:lstStyle/>
          <a:p>
            <a:r>
              <a:rPr lang="en-US" sz="5400" b="1" dirty="0"/>
              <a:t>Finding Patterns - grep</a:t>
            </a:r>
          </a:p>
        </p:txBody>
      </p:sp>
      <p:sp>
        <p:nvSpPr>
          <p:cNvPr id="3" name="Content Placeholder 2">
            <a:extLst>
              <a:ext uri="{FF2B5EF4-FFF2-40B4-BE49-F238E27FC236}">
                <a16:creationId xmlns:a16="http://schemas.microsoft.com/office/drawing/2014/main" id="{AC5BC572-B2FE-F446-914C-910FD959D47C}"/>
              </a:ext>
            </a:extLst>
          </p:cNvPr>
          <p:cNvSpPr>
            <a:spLocks noGrp="1"/>
          </p:cNvSpPr>
          <p:nvPr>
            <p:ph idx="1"/>
          </p:nvPr>
        </p:nvSpPr>
        <p:spPr/>
        <p:txBody>
          <a:bodyPr/>
          <a:lstStyle/>
          <a:p>
            <a:r>
              <a:rPr lang="en-US" dirty="0"/>
              <a:t>Can use to find, count, isolate certain patterns or lines containing a pattern</a:t>
            </a:r>
          </a:p>
          <a:p>
            <a:r>
              <a:rPr lang="en-US" dirty="0"/>
              <a:t>MANY USES, be creative</a:t>
            </a:r>
          </a:p>
          <a:p>
            <a:r>
              <a:rPr lang="en-US" dirty="0" err="1"/>
              <a:t>egrep</a:t>
            </a:r>
            <a:r>
              <a:rPr lang="en-US" dirty="0"/>
              <a:t> for use with extended </a:t>
            </a:r>
            <a:r>
              <a:rPr lang="en-US" b="1" dirty="0"/>
              <a:t>regular expressions</a:t>
            </a:r>
          </a:p>
          <a:p>
            <a:r>
              <a:rPr lang="en-US" dirty="0"/>
              <a:t>Exact behavior may vary with shell type/system</a:t>
            </a:r>
          </a:p>
          <a:p>
            <a:r>
              <a:rPr lang="en-US" dirty="0"/>
              <a:t>Can be used with standard out (in a pipeline) or on individual files</a:t>
            </a:r>
          </a:p>
          <a:p>
            <a:r>
              <a:rPr lang="en-US" dirty="0"/>
              <a:t>Many files can be searched simultaneously</a:t>
            </a:r>
          </a:p>
        </p:txBody>
      </p:sp>
    </p:spTree>
    <p:extLst>
      <p:ext uri="{BB962C8B-B14F-4D97-AF65-F5344CB8AC3E}">
        <p14:creationId xmlns:p14="http://schemas.microsoft.com/office/powerpoint/2010/main" val="1372448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dissolv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DEF69F-2D56-E54B-901F-3B6550CD4AD9}"/>
              </a:ext>
            </a:extLst>
          </p:cNvPr>
          <p:cNvSpPr>
            <a:spLocks noGrp="1"/>
          </p:cNvSpPr>
          <p:nvPr>
            <p:ph type="title"/>
          </p:nvPr>
        </p:nvSpPr>
        <p:spPr/>
        <p:txBody>
          <a:bodyPr/>
          <a:lstStyle/>
          <a:p>
            <a:r>
              <a:rPr lang="en-US" dirty="0"/>
              <a:t>Make a file that looks like this:</a:t>
            </a:r>
          </a:p>
        </p:txBody>
      </p:sp>
      <p:sp>
        <p:nvSpPr>
          <p:cNvPr id="3" name="Content Placeholder 2">
            <a:extLst>
              <a:ext uri="{FF2B5EF4-FFF2-40B4-BE49-F238E27FC236}">
                <a16:creationId xmlns:a16="http://schemas.microsoft.com/office/drawing/2014/main" id="{AF1D29CA-3CA9-644A-BB34-DDA1BC3D7B1D}"/>
              </a:ext>
            </a:extLst>
          </p:cNvPr>
          <p:cNvSpPr>
            <a:spLocks noGrp="1"/>
          </p:cNvSpPr>
          <p:nvPr>
            <p:ph idx="1"/>
          </p:nvPr>
        </p:nvSpPr>
        <p:spPr/>
        <p:txBody>
          <a:bodyPr>
            <a:normAutofit fontScale="92500" lnSpcReduction="20000"/>
          </a:bodyPr>
          <a:lstStyle/>
          <a:p>
            <a:pPr marL="0" indent="0">
              <a:buNone/>
            </a:pPr>
            <a:r>
              <a:rPr lang="en-US" dirty="0" err="1"/>
              <a:t>ostechnix</a:t>
            </a:r>
            <a:endParaRPr lang="en-US" dirty="0"/>
          </a:p>
          <a:p>
            <a:pPr marL="0" indent="0">
              <a:buNone/>
            </a:pPr>
            <a:r>
              <a:rPr lang="en-US" dirty="0" err="1"/>
              <a:t>Ostechnix</a:t>
            </a:r>
            <a:endParaRPr lang="en-US" dirty="0"/>
          </a:p>
          <a:p>
            <a:pPr marL="0" indent="0">
              <a:buNone/>
            </a:pPr>
            <a:r>
              <a:rPr lang="en-US" dirty="0" err="1"/>
              <a:t>o$technix</a:t>
            </a:r>
            <a:endParaRPr lang="en-US" dirty="0"/>
          </a:p>
          <a:p>
            <a:pPr marL="0" indent="0">
              <a:buNone/>
            </a:pPr>
            <a:r>
              <a:rPr lang="en-US" dirty="0" err="1"/>
              <a:t>linux</a:t>
            </a:r>
            <a:endParaRPr lang="en-US" dirty="0"/>
          </a:p>
          <a:p>
            <a:pPr marL="0" indent="0">
              <a:buNone/>
            </a:pPr>
            <a:r>
              <a:rPr lang="en-US" dirty="0" err="1"/>
              <a:t>linus</a:t>
            </a:r>
            <a:endParaRPr lang="en-US" dirty="0"/>
          </a:p>
          <a:p>
            <a:pPr marL="0" indent="0">
              <a:buNone/>
            </a:pPr>
            <a:r>
              <a:rPr lang="en-US" dirty="0" err="1"/>
              <a:t>unix</a:t>
            </a:r>
            <a:endParaRPr lang="en-US" dirty="0"/>
          </a:p>
          <a:p>
            <a:pPr marL="0" indent="0">
              <a:buNone/>
            </a:pPr>
            <a:r>
              <a:rPr lang="en-US" dirty="0"/>
              <a:t>Unix</a:t>
            </a:r>
          </a:p>
          <a:p>
            <a:pPr marL="0" indent="0">
              <a:buNone/>
            </a:pPr>
            <a:r>
              <a:rPr lang="en-US" dirty="0"/>
              <a:t>technology</a:t>
            </a:r>
          </a:p>
          <a:p>
            <a:pPr marL="0" indent="0">
              <a:buNone/>
            </a:pPr>
            <a:r>
              <a:rPr lang="en-US" dirty="0"/>
              <a:t>hello world</a:t>
            </a:r>
          </a:p>
          <a:p>
            <a:pPr marL="0" indent="0">
              <a:buNone/>
            </a:pPr>
            <a:r>
              <a:rPr lang="en-US" dirty="0"/>
              <a:t>HELLO world</a:t>
            </a:r>
          </a:p>
        </p:txBody>
      </p:sp>
    </p:spTree>
    <p:extLst>
      <p:ext uri="{BB962C8B-B14F-4D97-AF65-F5344CB8AC3E}">
        <p14:creationId xmlns:p14="http://schemas.microsoft.com/office/powerpoint/2010/main" val="20207771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9A6A1-4B20-E74D-B4E8-7CDE1221A3B4}"/>
              </a:ext>
            </a:extLst>
          </p:cNvPr>
          <p:cNvSpPr>
            <a:spLocks noGrp="1"/>
          </p:cNvSpPr>
          <p:nvPr>
            <p:ph type="title"/>
          </p:nvPr>
        </p:nvSpPr>
        <p:spPr/>
        <p:txBody>
          <a:bodyPr/>
          <a:lstStyle/>
          <a:p>
            <a:r>
              <a:rPr lang="en-US" dirty="0"/>
              <a:t>Now let’s grep!</a:t>
            </a:r>
          </a:p>
        </p:txBody>
      </p:sp>
      <p:sp>
        <p:nvSpPr>
          <p:cNvPr id="3" name="Content Placeholder 2">
            <a:extLst>
              <a:ext uri="{FF2B5EF4-FFF2-40B4-BE49-F238E27FC236}">
                <a16:creationId xmlns:a16="http://schemas.microsoft.com/office/drawing/2014/main" id="{2A6A1CE1-B8AB-4849-A126-D181A6A415D2}"/>
              </a:ext>
            </a:extLst>
          </p:cNvPr>
          <p:cNvSpPr>
            <a:spLocks noGrp="1"/>
          </p:cNvSpPr>
          <p:nvPr>
            <p:ph idx="1"/>
          </p:nvPr>
        </p:nvSpPr>
        <p:spPr/>
        <p:txBody>
          <a:bodyPr/>
          <a:lstStyle/>
          <a:p>
            <a:pPr marL="0" indent="0">
              <a:buNone/>
            </a:pPr>
            <a:r>
              <a:rPr lang="en-US" dirty="0"/>
              <a:t>$ </a:t>
            </a:r>
            <a:r>
              <a:rPr lang="en-US" b="1" dirty="0">
                <a:solidFill>
                  <a:srgbClr val="FF0000"/>
                </a:solidFill>
                <a:latin typeface="Courier New" panose="02070309020205020404" pitchFamily="49" charset="0"/>
                <a:cs typeface="Courier New" panose="02070309020205020404" pitchFamily="49" charset="0"/>
              </a:rPr>
              <a:t>grep</a:t>
            </a:r>
            <a:r>
              <a:rPr lang="en-US" dirty="0"/>
              <a:t>   nix   </a:t>
            </a:r>
            <a:r>
              <a:rPr lang="en-US" i="1" dirty="0" err="1"/>
              <a:t>yourfilename.txt</a:t>
            </a:r>
            <a:endParaRPr lang="en-US" i="1" dirty="0"/>
          </a:p>
          <a:p>
            <a:pPr marL="0" indent="0">
              <a:buNone/>
            </a:pPr>
            <a:endParaRPr lang="en-US" i="1" dirty="0"/>
          </a:p>
          <a:p>
            <a:pPr marL="0" indent="0">
              <a:buNone/>
            </a:pPr>
            <a:r>
              <a:rPr lang="en-US" dirty="0"/>
              <a:t>What does your output look like? </a:t>
            </a:r>
          </a:p>
          <a:p>
            <a:pPr marL="0" indent="0">
              <a:buNone/>
            </a:pPr>
            <a:endParaRPr lang="en-US" dirty="0"/>
          </a:p>
          <a:p>
            <a:pPr marL="0" indent="0">
              <a:buNone/>
            </a:pPr>
            <a:r>
              <a:rPr lang="en-US" dirty="0"/>
              <a:t>Compare to your text file…what does grep do?</a:t>
            </a:r>
          </a:p>
        </p:txBody>
      </p:sp>
    </p:spTree>
    <p:extLst>
      <p:ext uri="{BB962C8B-B14F-4D97-AF65-F5344CB8AC3E}">
        <p14:creationId xmlns:p14="http://schemas.microsoft.com/office/powerpoint/2010/main" val="3940550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77C6B-5C67-7C42-A75B-4B0276343393}"/>
              </a:ext>
            </a:extLst>
          </p:cNvPr>
          <p:cNvSpPr>
            <a:spLocks noGrp="1"/>
          </p:cNvSpPr>
          <p:nvPr>
            <p:ph type="title"/>
          </p:nvPr>
        </p:nvSpPr>
        <p:spPr/>
        <p:txBody>
          <a:bodyPr/>
          <a:lstStyle/>
          <a:p>
            <a:r>
              <a:rPr lang="en-US" dirty="0"/>
              <a:t>Now let’s grep!</a:t>
            </a:r>
          </a:p>
        </p:txBody>
      </p:sp>
      <p:sp>
        <p:nvSpPr>
          <p:cNvPr id="3" name="Content Placeholder 2">
            <a:extLst>
              <a:ext uri="{FF2B5EF4-FFF2-40B4-BE49-F238E27FC236}">
                <a16:creationId xmlns:a16="http://schemas.microsoft.com/office/drawing/2014/main" id="{2F07C569-C387-4F4A-9FC3-8E4796055DCA}"/>
              </a:ext>
            </a:extLst>
          </p:cNvPr>
          <p:cNvSpPr>
            <a:spLocks noGrp="1"/>
          </p:cNvSpPr>
          <p:nvPr>
            <p:ph idx="1"/>
          </p:nvPr>
        </p:nvSpPr>
        <p:spPr/>
        <p:txBody>
          <a:bodyPr/>
          <a:lstStyle/>
          <a:p>
            <a:pPr marL="0" indent="0">
              <a:buNone/>
            </a:pPr>
            <a:r>
              <a:rPr lang="en-US" dirty="0"/>
              <a:t>$ </a:t>
            </a:r>
            <a:r>
              <a:rPr lang="en-US" b="1" dirty="0">
                <a:solidFill>
                  <a:srgbClr val="FF0000"/>
                </a:solidFill>
                <a:latin typeface="Courier New" panose="02070309020205020404" pitchFamily="49" charset="0"/>
                <a:cs typeface="Courier New" panose="02070309020205020404" pitchFamily="49" charset="0"/>
              </a:rPr>
              <a:t>grep</a:t>
            </a:r>
            <a:r>
              <a:rPr lang="en-US" dirty="0"/>
              <a:t>   hello   </a:t>
            </a:r>
            <a:r>
              <a:rPr lang="en-US" i="1" dirty="0" err="1"/>
              <a:t>yourfilename.txt</a:t>
            </a:r>
            <a:endParaRPr lang="en-US" i="1" dirty="0"/>
          </a:p>
          <a:p>
            <a:pPr marL="0" indent="0">
              <a:buNone/>
            </a:pPr>
            <a:endParaRPr lang="en-US" i="1" dirty="0"/>
          </a:p>
          <a:p>
            <a:pPr marL="0" indent="0">
              <a:buNone/>
            </a:pPr>
            <a:r>
              <a:rPr lang="en-US" dirty="0"/>
              <a:t>$ </a:t>
            </a:r>
            <a:r>
              <a:rPr lang="en-US" b="1" dirty="0">
                <a:solidFill>
                  <a:srgbClr val="FF0000"/>
                </a:solidFill>
                <a:latin typeface="Courier New" panose="02070309020205020404" pitchFamily="49" charset="0"/>
                <a:cs typeface="Courier New" panose="02070309020205020404" pitchFamily="49" charset="0"/>
              </a:rPr>
              <a:t>grep</a:t>
            </a:r>
            <a:r>
              <a:rPr lang="en-US" dirty="0"/>
              <a:t>   hello world   </a:t>
            </a:r>
            <a:r>
              <a:rPr lang="en-US" i="1" dirty="0" err="1"/>
              <a:t>yourfilename.txt</a:t>
            </a:r>
            <a:endParaRPr lang="en-US" i="1" dirty="0"/>
          </a:p>
          <a:p>
            <a:pPr marL="0" indent="0">
              <a:buNone/>
            </a:pPr>
            <a:endParaRPr lang="en-US" i="1" dirty="0"/>
          </a:p>
          <a:p>
            <a:pPr marL="0" indent="0">
              <a:buNone/>
            </a:pPr>
            <a:r>
              <a:rPr lang="en-US" dirty="0"/>
              <a:t>$ </a:t>
            </a:r>
            <a:r>
              <a:rPr lang="en-US" b="1" dirty="0">
                <a:solidFill>
                  <a:srgbClr val="FF0000"/>
                </a:solidFill>
                <a:latin typeface="Courier New" panose="02070309020205020404" pitchFamily="49" charset="0"/>
                <a:cs typeface="Courier New" panose="02070309020205020404" pitchFamily="49" charset="0"/>
              </a:rPr>
              <a:t>grep</a:t>
            </a:r>
            <a:r>
              <a:rPr lang="en-US" dirty="0"/>
              <a:t>   ‘hello world’   </a:t>
            </a:r>
            <a:r>
              <a:rPr lang="en-US" i="1" dirty="0" err="1"/>
              <a:t>yourfilename.txt</a:t>
            </a:r>
            <a:endParaRPr lang="en-US" i="1" dirty="0"/>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endParaRPr lang="en-US" dirty="0"/>
          </a:p>
        </p:txBody>
      </p:sp>
    </p:spTree>
    <p:extLst>
      <p:ext uri="{BB962C8B-B14F-4D97-AF65-F5344CB8AC3E}">
        <p14:creationId xmlns:p14="http://schemas.microsoft.com/office/powerpoint/2010/main" val="2867679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dissolv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dissolv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77C6B-5C67-7C42-A75B-4B0276343393}"/>
              </a:ext>
            </a:extLst>
          </p:cNvPr>
          <p:cNvSpPr>
            <a:spLocks noGrp="1"/>
          </p:cNvSpPr>
          <p:nvPr>
            <p:ph type="title"/>
          </p:nvPr>
        </p:nvSpPr>
        <p:spPr/>
        <p:txBody>
          <a:bodyPr/>
          <a:lstStyle/>
          <a:p>
            <a:r>
              <a:rPr lang="en-US" dirty="0"/>
              <a:t>Now let’s grep!</a:t>
            </a:r>
          </a:p>
        </p:txBody>
      </p:sp>
      <p:sp>
        <p:nvSpPr>
          <p:cNvPr id="3" name="Content Placeholder 2">
            <a:extLst>
              <a:ext uri="{FF2B5EF4-FFF2-40B4-BE49-F238E27FC236}">
                <a16:creationId xmlns:a16="http://schemas.microsoft.com/office/drawing/2014/main" id="{2F07C569-C387-4F4A-9FC3-8E4796055DCA}"/>
              </a:ext>
            </a:extLst>
          </p:cNvPr>
          <p:cNvSpPr>
            <a:spLocks noGrp="1"/>
          </p:cNvSpPr>
          <p:nvPr>
            <p:ph idx="1"/>
          </p:nvPr>
        </p:nvSpPr>
        <p:spPr/>
        <p:txBody>
          <a:bodyPr/>
          <a:lstStyle/>
          <a:p>
            <a:pPr marL="0" indent="0">
              <a:buNone/>
            </a:pPr>
            <a:r>
              <a:rPr lang="en-US" dirty="0"/>
              <a:t>$ </a:t>
            </a:r>
            <a:r>
              <a:rPr lang="en-US" b="1" dirty="0">
                <a:solidFill>
                  <a:srgbClr val="FF0000"/>
                </a:solidFill>
                <a:latin typeface="Courier New" panose="02070309020205020404" pitchFamily="49" charset="0"/>
                <a:cs typeface="Courier New" panose="02070309020205020404" pitchFamily="49" charset="0"/>
              </a:rPr>
              <a:t>grep</a:t>
            </a:r>
            <a:r>
              <a:rPr lang="en-US" dirty="0"/>
              <a:t>  -n   </a:t>
            </a:r>
            <a:r>
              <a:rPr lang="en-US" dirty="0" err="1"/>
              <a:t>linus</a:t>
            </a:r>
            <a:r>
              <a:rPr lang="en-US" dirty="0"/>
              <a:t>   </a:t>
            </a:r>
            <a:r>
              <a:rPr lang="en-US" i="1" dirty="0" err="1"/>
              <a:t>yourfilename.txt</a:t>
            </a:r>
            <a:r>
              <a:rPr lang="en-US" i="1" dirty="0"/>
              <a:t>                            </a:t>
            </a:r>
            <a:r>
              <a:rPr lang="en-US" dirty="0"/>
              <a:t>what does this do??</a:t>
            </a:r>
          </a:p>
          <a:p>
            <a:pPr marL="0" indent="0">
              <a:buNone/>
            </a:pPr>
            <a:endParaRPr lang="en-US" i="1" dirty="0"/>
          </a:p>
          <a:p>
            <a:pPr marL="0" indent="0">
              <a:buNone/>
            </a:pPr>
            <a:r>
              <a:rPr lang="en-US" dirty="0"/>
              <a:t>$ </a:t>
            </a:r>
            <a:r>
              <a:rPr lang="en-US" b="1" dirty="0">
                <a:solidFill>
                  <a:srgbClr val="FF0000"/>
                </a:solidFill>
                <a:latin typeface="Courier New" panose="02070309020205020404" pitchFamily="49" charset="0"/>
                <a:cs typeface="Courier New" panose="02070309020205020404" pitchFamily="49" charset="0"/>
              </a:rPr>
              <a:t>grep</a:t>
            </a:r>
            <a:r>
              <a:rPr lang="en-US" dirty="0"/>
              <a:t>   -</a:t>
            </a:r>
            <a:r>
              <a:rPr lang="en-US" dirty="0" err="1"/>
              <a:t>i</a:t>
            </a:r>
            <a:r>
              <a:rPr lang="en-US" dirty="0"/>
              <a:t>   ‘hello world’   </a:t>
            </a:r>
            <a:r>
              <a:rPr lang="en-US" i="1" dirty="0" err="1"/>
              <a:t>yourfilename.txt</a:t>
            </a:r>
            <a:r>
              <a:rPr lang="en-US" i="1" dirty="0"/>
              <a:t>                  </a:t>
            </a:r>
            <a:r>
              <a:rPr lang="en-US" dirty="0"/>
              <a:t>how about this??</a:t>
            </a:r>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endParaRPr lang="en-US" dirty="0"/>
          </a:p>
        </p:txBody>
      </p:sp>
    </p:spTree>
    <p:extLst>
      <p:ext uri="{BB962C8B-B14F-4D97-AF65-F5344CB8AC3E}">
        <p14:creationId xmlns:p14="http://schemas.microsoft.com/office/powerpoint/2010/main" val="15327424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77C6B-5C67-7C42-A75B-4B0276343393}"/>
              </a:ext>
            </a:extLst>
          </p:cNvPr>
          <p:cNvSpPr>
            <a:spLocks noGrp="1"/>
          </p:cNvSpPr>
          <p:nvPr>
            <p:ph type="title"/>
          </p:nvPr>
        </p:nvSpPr>
        <p:spPr/>
        <p:txBody>
          <a:bodyPr/>
          <a:lstStyle/>
          <a:p>
            <a:r>
              <a:rPr lang="en-US" dirty="0"/>
              <a:t>Now let’s grep!</a:t>
            </a:r>
          </a:p>
        </p:txBody>
      </p:sp>
      <p:sp>
        <p:nvSpPr>
          <p:cNvPr id="3" name="Content Placeholder 2">
            <a:extLst>
              <a:ext uri="{FF2B5EF4-FFF2-40B4-BE49-F238E27FC236}">
                <a16:creationId xmlns:a16="http://schemas.microsoft.com/office/drawing/2014/main" id="{2F07C569-C387-4F4A-9FC3-8E4796055DCA}"/>
              </a:ext>
            </a:extLst>
          </p:cNvPr>
          <p:cNvSpPr>
            <a:spLocks noGrp="1"/>
          </p:cNvSpPr>
          <p:nvPr>
            <p:ph idx="1"/>
          </p:nvPr>
        </p:nvSpPr>
        <p:spPr/>
        <p:txBody>
          <a:bodyPr/>
          <a:lstStyle/>
          <a:p>
            <a:pPr marL="0" indent="0">
              <a:buNone/>
            </a:pPr>
            <a:r>
              <a:rPr lang="en-US" dirty="0"/>
              <a:t>$ </a:t>
            </a:r>
            <a:r>
              <a:rPr lang="en-US" b="1" dirty="0">
                <a:solidFill>
                  <a:srgbClr val="FF0000"/>
                </a:solidFill>
                <a:latin typeface="Courier New" panose="02070309020205020404" pitchFamily="49" charset="0"/>
                <a:cs typeface="Courier New" panose="02070309020205020404" pitchFamily="49" charset="0"/>
              </a:rPr>
              <a:t>cat</a:t>
            </a:r>
            <a:r>
              <a:rPr lang="en-US" dirty="0"/>
              <a:t>   </a:t>
            </a:r>
            <a:r>
              <a:rPr lang="en-US" i="1" dirty="0" err="1"/>
              <a:t>somefile.txt</a:t>
            </a:r>
            <a:r>
              <a:rPr lang="en-US" i="1" dirty="0"/>
              <a:t>  </a:t>
            </a:r>
            <a:r>
              <a:rPr lang="en-US" b="1" dirty="0"/>
              <a:t>| </a:t>
            </a:r>
            <a:r>
              <a:rPr lang="en-US" b="1" dirty="0">
                <a:solidFill>
                  <a:srgbClr val="FF0000"/>
                </a:solidFill>
                <a:latin typeface="Courier New" panose="02070309020205020404" pitchFamily="49" charset="0"/>
                <a:cs typeface="Courier New" panose="02070309020205020404" pitchFamily="49" charset="0"/>
              </a:rPr>
              <a:t>grep</a:t>
            </a:r>
            <a:r>
              <a:rPr lang="en-US" b="1" dirty="0"/>
              <a:t> ‘</a:t>
            </a:r>
            <a:r>
              <a:rPr lang="en-US" dirty="0"/>
              <a:t>  ’</a:t>
            </a:r>
          </a:p>
          <a:p>
            <a:pPr marL="0" indent="0">
              <a:buNone/>
            </a:pPr>
            <a:endParaRPr lang="en-US" dirty="0"/>
          </a:p>
          <a:p>
            <a:pPr marL="0" indent="0">
              <a:buNone/>
            </a:pPr>
            <a:r>
              <a:rPr lang="en-US" dirty="0"/>
              <a:t>try out a little pipeline</a:t>
            </a:r>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endParaRPr lang="en-US" dirty="0"/>
          </a:p>
        </p:txBody>
      </p:sp>
    </p:spTree>
    <p:extLst>
      <p:ext uri="{BB962C8B-B14F-4D97-AF65-F5344CB8AC3E}">
        <p14:creationId xmlns:p14="http://schemas.microsoft.com/office/powerpoint/2010/main" val="2972717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B78C9-B664-C240-BDE4-E07ED22D923C}"/>
              </a:ext>
            </a:extLst>
          </p:cNvPr>
          <p:cNvSpPr>
            <a:spLocks noGrp="1"/>
          </p:cNvSpPr>
          <p:nvPr>
            <p:ph type="title"/>
          </p:nvPr>
        </p:nvSpPr>
        <p:spPr/>
        <p:txBody>
          <a:bodyPr/>
          <a:lstStyle/>
          <a:p>
            <a:pPr algn="ctr"/>
            <a:r>
              <a:rPr lang="en-US" dirty="0"/>
              <a:t>regex = regular expressions</a:t>
            </a:r>
          </a:p>
        </p:txBody>
      </p:sp>
      <p:sp>
        <p:nvSpPr>
          <p:cNvPr id="3" name="Content Placeholder 2">
            <a:extLst>
              <a:ext uri="{FF2B5EF4-FFF2-40B4-BE49-F238E27FC236}">
                <a16:creationId xmlns:a16="http://schemas.microsoft.com/office/drawing/2014/main" id="{7913E856-1D26-1844-AF7D-2FBF041096AA}"/>
              </a:ext>
            </a:extLst>
          </p:cNvPr>
          <p:cNvSpPr>
            <a:spLocks noGrp="1"/>
          </p:cNvSpPr>
          <p:nvPr>
            <p:ph idx="1"/>
          </p:nvPr>
        </p:nvSpPr>
        <p:spPr/>
        <p:txBody>
          <a:bodyPr/>
          <a:lstStyle/>
          <a:p>
            <a:r>
              <a:rPr lang="en-US" dirty="0"/>
              <a:t>Powerful search and replace language</a:t>
            </a:r>
          </a:p>
          <a:p>
            <a:r>
              <a:rPr lang="en-US" dirty="0"/>
              <a:t>Use </a:t>
            </a:r>
            <a:r>
              <a:rPr lang="en-US" dirty="0">
                <a:solidFill>
                  <a:srgbClr val="0070C0"/>
                </a:solidFill>
              </a:rPr>
              <a:t>wildcards</a:t>
            </a:r>
            <a:r>
              <a:rPr lang="en-US" dirty="0"/>
              <a:t>, </a:t>
            </a:r>
            <a:r>
              <a:rPr lang="en-US" dirty="0">
                <a:solidFill>
                  <a:srgbClr val="0070C0"/>
                </a:solidFill>
              </a:rPr>
              <a:t>positional data</a:t>
            </a:r>
            <a:r>
              <a:rPr lang="en-US" dirty="0"/>
              <a:t>, and </a:t>
            </a:r>
            <a:r>
              <a:rPr lang="en-US" dirty="0">
                <a:solidFill>
                  <a:srgbClr val="0070C0"/>
                </a:solidFill>
              </a:rPr>
              <a:t>other characters</a:t>
            </a:r>
            <a:r>
              <a:rPr lang="en-US" dirty="0"/>
              <a:t> to define a pattern</a:t>
            </a:r>
          </a:p>
          <a:p>
            <a:r>
              <a:rPr lang="en-US" dirty="0"/>
              <a:t>Allows you to edit thousands of files quickly if needed</a:t>
            </a:r>
          </a:p>
          <a:p>
            <a:pPr marL="0" indent="0">
              <a:buNone/>
            </a:pPr>
            <a:endParaRPr lang="en-US" dirty="0"/>
          </a:p>
          <a:p>
            <a:pPr marL="0" indent="0">
              <a:buNone/>
            </a:pPr>
            <a:r>
              <a:rPr lang="en-US" dirty="0"/>
              <a:t>Tips:</a:t>
            </a:r>
          </a:p>
          <a:p>
            <a:r>
              <a:rPr lang="en-US" dirty="0"/>
              <a:t>Some preliminary testing of your pattern always required</a:t>
            </a:r>
          </a:p>
          <a:p>
            <a:r>
              <a:rPr lang="en-US" dirty="0"/>
              <a:t>Helpful at first to use backup files just in case!</a:t>
            </a:r>
          </a:p>
        </p:txBody>
      </p:sp>
    </p:spTree>
    <p:extLst>
      <p:ext uri="{BB962C8B-B14F-4D97-AF65-F5344CB8AC3E}">
        <p14:creationId xmlns:p14="http://schemas.microsoft.com/office/powerpoint/2010/main" val="883146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ssolv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DDEF9-7CF7-3044-8213-9DC9A0F79045}"/>
              </a:ext>
            </a:extLst>
          </p:cNvPr>
          <p:cNvSpPr>
            <a:spLocks noGrp="1"/>
          </p:cNvSpPr>
          <p:nvPr>
            <p:ph type="title"/>
          </p:nvPr>
        </p:nvSpPr>
        <p:spPr/>
        <p:txBody>
          <a:bodyPr/>
          <a:lstStyle/>
          <a:p>
            <a:pPr algn="ctr"/>
            <a:r>
              <a:rPr lang="en-US" dirty="0"/>
              <a:t>grep can use regular expressions</a:t>
            </a:r>
          </a:p>
        </p:txBody>
      </p:sp>
      <p:sp>
        <p:nvSpPr>
          <p:cNvPr id="3" name="Content Placeholder 2">
            <a:extLst>
              <a:ext uri="{FF2B5EF4-FFF2-40B4-BE49-F238E27FC236}">
                <a16:creationId xmlns:a16="http://schemas.microsoft.com/office/drawing/2014/main" id="{6ABAF692-2D70-6B43-92B5-A551AC655497}"/>
              </a:ext>
            </a:extLst>
          </p:cNvPr>
          <p:cNvSpPr>
            <a:spLocks noGrp="1"/>
          </p:cNvSpPr>
          <p:nvPr>
            <p:ph idx="1"/>
          </p:nvPr>
        </p:nvSpPr>
        <p:spPr/>
        <p:txBody>
          <a:bodyPr/>
          <a:lstStyle/>
          <a:p>
            <a:pPr marL="0" indent="0">
              <a:buNone/>
            </a:pPr>
            <a:r>
              <a:rPr lang="en-US" sz="4000" b="1" dirty="0"/>
              <a:t>^ </a:t>
            </a:r>
            <a:r>
              <a:rPr lang="en-US" sz="4000" dirty="0"/>
              <a:t>        = search at the beginning of the line</a:t>
            </a:r>
          </a:p>
          <a:p>
            <a:pPr marL="0" indent="0">
              <a:buNone/>
            </a:pPr>
            <a:r>
              <a:rPr lang="en-US" sz="4000" b="1" dirty="0"/>
              <a:t>$</a:t>
            </a:r>
            <a:r>
              <a:rPr lang="en-US" sz="4000" dirty="0"/>
              <a:t>         = search at the end of the line</a:t>
            </a:r>
          </a:p>
          <a:p>
            <a:pPr marL="0" indent="0">
              <a:buNone/>
            </a:pPr>
            <a:r>
              <a:rPr lang="en-US" sz="4000" b="1" dirty="0"/>
              <a:t>.          </a:t>
            </a:r>
            <a:r>
              <a:rPr lang="en-US" sz="4000" dirty="0"/>
              <a:t>= search any character</a:t>
            </a:r>
          </a:p>
          <a:p>
            <a:pPr marL="0" indent="0">
              <a:buNone/>
            </a:pPr>
            <a:endParaRPr lang="en-US" dirty="0"/>
          </a:p>
        </p:txBody>
      </p:sp>
    </p:spTree>
    <p:extLst>
      <p:ext uri="{BB962C8B-B14F-4D97-AF65-F5344CB8AC3E}">
        <p14:creationId xmlns:p14="http://schemas.microsoft.com/office/powerpoint/2010/main" val="383296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77C6B-5C67-7C42-A75B-4B0276343393}"/>
              </a:ext>
            </a:extLst>
          </p:cNvPr>
          <p:cNvSpPr>
            <a:spLocks noGrp="1"/>
          </p:cNvSpPr>
          <p:nvPr>
            <p:ph type="title"/>
          </p:nvPr>
        </p:nvSpPr>
        <p:spPr/>
        <p:txBody>
          <a:bodyPr/>
          <a:lstStyle/>
          <a:p>
            <a:r>
              <a:rPr lang="en-US" dirty="0"/>
              <a:t>Now let’s grep!</a:t>
            </a:r>
          </a:p>
        </p:txBody>
      </p:sp>
      <p:sp>
        <p:nvSpPr>
          <p:cNvPr id="3" name="Content Placeholder 2">
            <a:extLst>
              <a:ext uri="{FF2B5EF4-FFF2-40B4-BE49-F238E27FC236}">
                <a16:creationId xmlns:a16="http://schemas.microsoft.com/office/drawing/2014/main" id="{2F07C569-C387-4F4A-9FC3-8E4796055DCA}"/>
              </a:ext>
            </a:extLst>
          </p:cNvPr>
          <p:cNvSpPr>
            <a:spLocks noGrp="1"/>
          </p:cNvSpPr>
          <p:nvPr>
            <p:ph idx="1"/>
          </p:nvPr>
        </p:nvSpPr>
        <p:spPr/>
        <p:txBody>
          <a:bodyPr>
            <a:normAutofit/>
          </a:bodyPr>
          <a:lstStyle/>
          <a:p>
            <a:pPr marL="0" indent="0">
              <a:buNone/>
            </a:pPr>
            <a:r>
              <a:rPr lang="en-US" dirty="0"/>
              <a:t>$ </a:t>
            </a:r>
            <a:r>
              <a:rPr lang="en-US" b="1" dirty="0">
                <a:solidFill>
                  <a:srgbClr val="FF0000"/>
                </a:solidFill>
                <a:latin typeface="Courier New" panose="02070309020205020404" pitchFamily="49" charset="0"/>
                <a:cs typeface="Courier New" panose="02070309020205020404" pitchFamily="49" charset="0"/>
              </a:rPr>
              <a:t>grep</a:t>
            </a:r>
            <a:r>
              <a:rPr lang="en-US" dirty="0"/>
              <a:t>   tech </a:t>
            </a:r>
            <a:r>
              <a:rPr lang="en-US" i="1" dirty="0" err="1"/>
              <a:t>somefile.txt</a:t>
            </a:r>
            <a:endParaRPr lang="en-US" dirty="0"/>
          </a:p>
          <a:p>
            <a:pPr marL="0" indent="0">
              <a:buNone/>
            </a:pPr>
            <a:endParaRPr lang="en-US" b="1" dirty="0"/>
          </a:p>
          <a:p>
            <a:pPr marL="0" indent="0">
              <a:buNone/>
            </a:pPr>
            <a:r>
              <a:rPr lang="en-US" b="1" dirty="0"/>
              <a:t>Append a word to your file using &gt;&gt;</a:t>
            </a:r>
          </a:p>
          <a:p>
            <a:pPr marL="0" indent="0">
              <a:buNone/>
            </a:pPr>
            <a:r>
              <a:rPr lang="en-US" b="1" dirty="0"/>
              <a:t>one way to do this:</a:t>
            </a:r>
          </a:p>
          <a:p>
            <a:pPr marL="0" indent="0">
              <a:buNone/>
            </a:pPr>
            <a:r>
              <a:rPr lang="en-US" dirty="0"/>
              <a:t>$ </a:t>
            </a:r>
            <a:r>
              <a:rPr lang="en-US" b="1" dirty="0">
                <a:solidFill>
                  <a:srgbClr val="FF0000"/>
                </a:solidFill>
                <a:latin typeface="Courier New" panose="02070309020205020404" pitchFamily="49" charset="0"/>
                <a:cs typeface="Courier New" panose="02070309020205020404" pitchFamily="49" charset="0"/>
              </a:rPr>
              <a:t>echo</a:t>
            </a:r>
            <a:r>
              <a:rPr lang="en-US" dirty="0"/>
              <a:t>   biotech  &gt;&gt;   </a:t>
            </a:r>
            <a:r>
              <a:rPr lang="en-US" i="1" dirty="0" err="1"/>
              <a:t>somefile.txt</a:t>
            </a:r>
            <a:endParaRPr lang="en-US" i="1" dirty="0"/>
          </a:p>
          <a:p>
            <a:pPr marL="0" indent="0">
              <a:buNone/>
            </a:pPr>
            <a:r>
              <a:rPr lang="en-US" dirty="0"/>
              <a:t>$ </a:t>
            </a:r>
            <a:r>
              <a:rPr lang="en-US" b="1" dirty="0">
                <a:solidFill>
                  <a:srgbClr val="FF0000"/>
                </a:solidFill>
                <a:latin typeface="Courier New" panose="02070309020205020404" pitchFamily="49" charset="0"/>
                <a:cs typeface="Courier New" panose="02070309020205020404" pitchFamily="49" charset="0"/>
              </a:rPr>
              <a:t>cat </a:t>
            </a:r>
            <a:r>
              <a:rPr lang="en-US" i="1" dirty="0" err="1"/>
              <a:t>somefile.txt</a:t>
            </a:r>
            <a:endParaRPr lang="en-US" i="1" dirty="0"/>
          </a:p>
          <a:p>
            <a:pPr marL="0" indent="0">
              <a:buNone/>
            </a:pPr>
            <a:endParaRPr lang="en-US" i="1" dirty="0"/>
          </a:p>
          <a:p>
            <a:pPr marL="0" indent="0">
              <a:buNone/>
            </a:pPr>
            <a:r>
              <a:rPr lang="en-US" i="1" dirty="0"/>
              <a:t>you should now see the word at the end of your file</a:t>
            </a:r>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endParaRPr lang="en-US" dirty="0"/>
          </a:p>
        </p:txBody>
      </p:sp>
    </p:spTree>
    <p:extLst>
      <p:ext uri="{BB962C8B-B14F-4D97-AF65-F5344CB8AC3E}">
        <p14:creationId xmlns:p14="http://schemas.microsoft.com/office/powerpoint/2010/main" val="880131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dissolv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77C6B-5C67-7C42-A75B-4B0276343393}"/>
              </a:ext>
            </a:extLst>
          </p:cNvPr>
          <p:cNvSpPr>
            <a:spLocks noGrp="1"/>
          </p:cNvSpPr>
          <p:nvPr>
            <p:ph type="title"/>
          </p:nvPr>
        </p:nvSpPr>
        <p:spPr/>
        <p:txBody>
          <a:bodyPr/>
          <a:lstStyle/>
          <a:p>
            <a:r>
              <a:rPr lang="en-US" dirty="0"/>
              <a:t>Now let’s grep!</a:t>
            </a:r>
          </a:p>
        </p:txBody>
      </p:sp>
      <p:sp>
        <p:nvSpPr>
          <p:cNvPr id="3" name="Content Placeholder 2">
            <a:extLst>
              <a:ext uri="{FF2B5EF4-FFF2-40B4-BE49-F238E27FC236}">
                <a16:creationId xmlns:a16="http://schemas.microsoft.com/office/drawing/2014/main" id="{2F07C569-C387-4F4A-9FC3-8E4796055DCA}"/>
              </a:ext>
            </a:extLst>
          </p:cNvPr>
          <p:cNvSpPr>
            <a:spLocks noGrp="1"/>
          </p:cNvSpPr>
          <p:nvPr>
            <p:ph idx="1"/>
          </p:nvPr>
        </p:nvSpPr>
        <p:spPr/>
        <p:txBody>
          <a:bodyPr>
            <a:normAutofit/>
          </a:bodyPr>
          <a:lstStyle/>
          <a:p>
            <a:pPr marL="0" indent="0">
              <a:buNone/>
            </a:pPr>
            <a:r>
              <a:rPr lang="en-US" dirty="0"/>
              <a:t>$ </a:t>
            </a:r>
            <a:r>
              <a:rPr lang="en-US" b="1" dirty="0">
                <a:solidFill>
                  <a:srgbClr val="FF0000"/>
                </a:solidFill>
                <a:latin typeface="Courier New" panose="02070309020205020404" pitchFamily="49" charset="0"/>
                <a:cs typeface="Courier New" panose="02070309020205020404" pitchFamily="49" charset="0"/>
              </a:rPr>
              <a:t>grep</a:t>
            </a:r>
            <a:r>
              <a:rPr lang="en-US" dirty="0"/>
              <a:t>   tech   </a:t>
            </a:r>
            <a:r>
              <a:rPr lang="en-US" i="1" dirty="0" err="1"/>
              <a:t>somefile.txt</a:t>
            </a:r>
            <a:endParaRPr lang="en-US" i="1" dirty="0"/>
          </a:p>
          <a:p>
            <a:pPr marL="0" indent="0">
              <a:buNone/>
            </a:pPr>
            <a:endParaRPr lang="en-US" i="1" dirty="0"/>
          </a:p>
          <a:p>
            <a:pPr marL="0" indent="0">
              <a:buNone/>
            </a:pPr>
            <a:r>
              <a:rPr lang="en-US" dirty="0"/>
              <a:t>$ </a:t>
            </a:r>
            <a:r>
              <a:rPr lang="en-US" b="1" dirty="0">
                <a:solidFill>
                  <a:srgbClr val="FF0000"/>
                </a:solidFill>
                <a:latin typeface="Courier New" panose="02070309020205020404" pitchFamily="49" charset="0"/>
                <a:cs typeface="Courier New" panose="02070309020205020404" pitchFamily="49" charset="0"/>
              </a:rPr>
              <a:t>grep</a:t>
            </a:r>
            <a:r>
              <a:rPr lang="en-US" dirty="0"/>
              <a:t>   ^tech  </a:t>
            </a:r>
            <a:r>
              <a:rPr lang="en-US" i="1" dirty="0" err="1"/>
              <a:t>somefile.txt</a:t>
            </a:r>
            <a:endParaRPr lang="en-US" i="1" dirty="0"/>
          </a:p>
          <a:p>
            <a:pPr marL="0" indent="0">
              <a:buNone/>
            </a:pPr>
            <a:endParaRPr lang="en-US" i="1" dirty="0"/>
          </a:p>
          <a:p>
            <a:pPr marL="0" indent="0">
              <a:buNone/>
            </a:pPr>
            <a:r>
              <a:rPr lang="en-US" dirty="0"/>
              <a:t>$</a:t>
            </a:r>
            <a:r>
              <a:rPr lang="en-US" i="1" dirty="0"/>
              <a:t> </a:t>
            </a:r>
            <a:r>
              <a:rPr lang="en-US" b="1" dirty="0">
                <a:solidFill>
                  <a:srgbClr val="FF0000"/>
                </a:solidFill>
                <a:latin typeface="Courier New" panose="02070309020205020404" pitchFamily="49" charset="0"/>
                <a:cs typeface="Courier New" panose="02070309020205020404" pitchFamily="49" charset="0"/>
              </a:rPr>
              <a:t>grep</a:t>
            </a:r>
            <a:r>
              <a:rPr lang="en-US" i="1" dirty="0"/>
              <a:t>  </a:t>
            </a:r>
            <a:r>
              <a:rPr lang="en-US" dirty="0"/>
              <a:t> tech</a:t>
            </a:r>
            <a:r>
              <a:rPr lang="en-US" i="1" dirty="0"/>
              <a:t>$   </a:t>
            </a:r>
            <a:r>
              <a:rPr lang="en-US" i="1" dirty="0" err="1"/>
              <a:t>somefile.txt</a:t>
            </a:r>
            <a:endParaRPr lang="en-US" i="1" dirty="0"/>
          </a:p>
          <a:p>
            <a:pPr marL="0" indent="0">
              <a:buNone/>
            </a:pPr>
            <a:endParaRPr lang="en-US" i="1" dirty="0"/>
          </a:p>
          <a:p>
            <a:pPr marL="0" indent="0">
              <a:buNone/>
            </a:pPr>
            <a:r>
              <a:rPr lang="en-US" dirty="0"/>
              <a:t>$</a:t>
            </a:r>
            <a:r>
              <a:rPr lang="en-US" i="1" dirty="0"/>
              <a:t> </a:t>
            </a:r>
            <a:r>
              <a:rPr lang="en-US" b="1" dirty="0">
                <a:solidFill>
                  <a:srgbClr val="FF0000"/>
                </a:solidFill>
                <a:latin typeface="Courier New" panose="02070309020205020404" pitchFamily="49" charset="0"/>
                <a:cs typeface="Courier New" panose="02070309020205020404" pitchFamily="49" charset="0"/>
              </a:rPr>
              <a:t>grep</a:t>
            </a:r>
            <a:r>
              <a:rPr lang="en-US" i="1" dirty="0"/>
              <a:t>  </a:t>
            </a:r>
            <a:r>
              <a:rPr lang="en-US" dirty="0"/>
              <a:t> .nix   </a:t>
            </a:r>
            <a:r>
              <a:rPr lang="en-US" i="1" dirty="0" err="1"/>
              <a:t>somefile.txt</a:t>
            </a:r>
            <a:endParaRPr lang="en-US" i="1" dirty="0"/>
          </a:p>
          <a:p>
            <a:pPr marL="0" indent="0">
              <a:buNone/>
            </a:pPr>
            <a:endParaRPr lang="en-US" i="1" dirty="0"/>
          </a:p>
          <a:p>
            <a:pPr marL="0" indent="0">
              <a:buNone/>
            </a:pPr>
            <a:endParaRPr lang="en-US" dirty="0"/>
          </a:p>
          <a:p>
            <a:pPr marL="0" indent="0">
              <a:buNone/>
            </a:pPr>
            <a:endParaRPr lang="en-US" dirty="0"/>
          </a:p>
          <a:p>
            <a:pPr marL="0" indent="0">
              <a:buNone/>
            </a:pPr>
            <a:endParaRPr lang="en-US" b="1" dirty="0"/>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pPr marL="0" indent="0">
              <a:buNone/>
            </a:pPr>
            <a:endParaRPr lang="en-US" i="1" dirty="0"/>
          </a:p>
          <a:p>
            <a:endParaRPr lang="en-US" dirty="0"/>
          </a:p>
        </p:txBody>
      </p:sp>
    </p:spTree>
    <p:extLst>
      <p:ext uri="{BB962C8B-B14F-4D97-AF65-F5344CB8AC3E}">
        <p14:creationId xmlns:p14="http://schemas.microsoft.com/office/powerpoint/2010/main" val="7450448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dissolv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dissolv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2F839-45F1-504D-9857-A7AB13E6F466}"/>
              </a:ext>
            </a:extLst>
          </p:cNvPr>
          <p:cNvSpPr>
            <a:spLocks noGrp="1"/>
          </p:cNvSpPr>
          <p:nvPr>
            <p:ph type="title"/>
          </p:nvPr>
        </p:nvSpPr>
        <p:spPr/>
        <p:txBody>
          <a:bodyPr/>
          <a:lstStyle/>
          <a:p>
            <a:r>
              <a:rPr lang="en-US" dirty="0" err="1"/>
              <a:t>egrep</a:t>
            </a:r>
            <a:r>
              <a:rPr lang="en-US" dirty="0"/>
              <a:t> = grep + extended regular expressions</a:t>
            </a:r>
          </a:p>
        </p:txBody>
      </p:sp>
      <p:sp>
        <p:nvSpPr>
          <p:cNvPr id="3" name="Content Placeholder 2">
            <a:extLst>
              <a:ext uri="{FF2B5EF4-FFF2-40B4-BE49-F238E27FC236}">
                <a16:creationId xmlns:a16="http://schemas.microsoft.com/office/drawing/2014/main" id="{8BF17966-4F74-AB41-9ED3-D3FBEFC93CEB}"/>
              </a:ext>
            </a:extLst>
          </p:cNvPr>
          <p:cNvSpPr>
            <a:spLocks noGrp="1"/>
          </p:cNvSpPr>
          <p:nvPr>
            <p:ph idx="1"/>
          </p:nvPr>
        </p:nvSpPr>
        <p:spPr/>
        <p:txBody>
          <a:bodyPr/>
          <a:lstStyle/>
          <a:p>
            <a:pPr marL="0" indent="0">
              <a:buNone/>
            </a:pPr>
            <a:r>
              <a:rPr lang="en-US" dirty="0"/>
              <a:t>$ </a:t>
            </a:r>
            <a:r>
              <a:rPr lang="en-US" b="1" dirty="0" err="1">
                <a:solidFill>
                  <a:srgbClr val="FF0000"/>
                </a:solidFill>
                <a:latin typeface="Courier New" panose="02070309020205020404" pitchFamily="49" charset="0"/>
                <a:cs typeface="Courier New" panose="02070309020205020404" pitchFamily="49" charset="0"/>
              </a:rPr>
              <a:t>egrep</a:t>
            </a:r>
            <a:r>
              <a:rPr lang="en-US" dirty="0"/>
              <a:t>  ‘^(</a:t>
            </a:r>
            <a:r>
              <a:rPr lang="en-US" dirty="0" err="1"/>
              <a:t>l|o</a:t>
            </a:r>
            <a:r>
              <a:rPr lang="en-US" dirty="0"/>
              <a:t>)’  </a:t>
            </a:r>
            <a:r>
              <a:rPr lang="en-US" i="1" dirty="0" err="1"/>
              <a:t>somefile.txt</a:t>
            </a:r>
            <a:endParaRPr lang="en-US" i="1" dirty="0"/>
          </a:p>
          <a:p>
            <a:pPr marL="0" indent="0">
              <a:buNone/>
            </a:pPr>
            <a:endParaRPr lang="en-US" i="1" dirty="0"/>
          </a:p>
          <a:p>
            <a:pPr marL="0" indent="0">
              <a:buNone/>
            </a:pPr>
            <a:r>
              <a:rPr lang="en-US" dirty="0"/>
              <a:t>$ </a:t>
            </a:r>
            <a:r>
              <a:rPr lang="en-US" b="1" dirty="0" err="1">
                <a:solidFill>
                  <a:srgbClr val="FF0000"/>
                </a:solidFill>
                <a:latin typeface="Courier New" panose="02070309020205020404" pitchFamily="49" charset="0"/>
                <a:cs typeface="Courier New" panose="02070309020205020404" pitchFamily="49" charset="0"/>
              </a:rPr>
              <a:t>egrep</a:t>
            </a:r>
            <a:r>
              <a:rPr lang="en-US" dirty="0"/>
              <a:t>  ‘^[l-t]’  </a:t>
            </a:r>
            <a:r>
              <a:rPr lang="en-US" i="1" dirty="0" err="1"/>
              <a:t>somefile.txt</a:t>
            </a:r>
            <a:endParaRPr lang="en-US" i="1" dirty="0"/>
          </a:p>
          <a:p>
            <a:pPr marL="0" indent="0">
              <a:buNone/>
            </a:pPr>
            <a:endParaRPr lang="en-US" i="1" dirty="0"/>
          </a:p>
          <a:p>
            <a:pPr marL="0" indent="0">
              <a:buNone/>
            </a:pPr>
            <a:r>
              <a:rPr lang="en-US" dirty="0"/>
              <a:t>$ </a:t>
            </a:r>
            <a:r>
              <a:rPr lang="en-US" b="1" dirty="0" err="1">
                <a:solidFill>
                  <a:srgbClr val="FF0000"/>
                </a:solidFill>
                <a:latin typeface="Courier New" panose="02070309020205020404" pitchFamily="49" charset="0"/>
                <a:cs typeface="Courier New" panose="02070309020205020404" pitchFamily="49" charset="0"/>
              </a:rPr>
              <a:t>egrep</a:t>
            </a:r>
            <a:r>
              <a:rPr lang="en-US" dirty="0"/>
              <a:t>  ‘[x-z]$’  </a:t>
            </a:r>
            <a:r>
              <a:rPr lang="en-US" i="1" dirty="0" err="1"/>
              <a:t>somefile.txt</a:t>
            </a:r>
            <a:endParaRPr lang="en-US" i="1" dirty="0"/>
          </a:p>
          <a:p>
            <a:pPr marL="0" indent="0">
              <a:buNone/>
            </a:pPr>
            <a:endParaRPr lang="en-US" i="1" dirty="0"/>
          </a:p>
          <a:p>
            <a:pPr marL="0" indent="0">
              <a:buNone/>
            </a:pPr>
            <a:r>
              <a:rPr lang="en-US" i="1" dirty="0"/>
              <a:t>equivalent to </a:t>
            </a:r>
            <a:r>
              <a:rPr lang="en-US" b="1" dirty="0">
                <a:solidFill>
                  <a:srgbClr val="FF0000"/>
                </a:solidFill>
                <a:latin typeface="Courier New" panose="02070309020205020404" pitchFamily="49" charset="0"/>
                <a:cs typeface="Courier New" panose="02070309020205020404" pitchFamily="49" charset="0"/>
              </a:rPr>
              <a:t>grep -E</a:t>
            </a:r>
          </a:p>
          <a:p>
            <a:pPr marL="0" indent="0">
              <a:buNone/>
            </a:pPr>
            <a:endParaRPr lang="en-US" i="1" dirty="0"/>
          </a:p>
          <a:p>
            <a:pPr marL="0" indent="0">
              <a:buNone/>
            </a:pPr>
            <a:endParaRPr lang="en-US" i="1" dirty="0"/>
          </a:p>
        </p:txBody>
      </p:sp>
    </p:spTree>
    <p:extLst>
      <p:ext uri="{BB962C8B-B14F-4D97-AF65-F5344CB8AC3E}">
        <p14:creationId xmlns:p14="http://schemas.microsoft.com/office/powerpoint/2010/main" val="26106429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EF967-00A2-8D49-BBF6-F5A6A24BD2E8}"/>
              </a:ext>
            </a:extLst>
          </p:cNvPr>
          <p:cNvSpPr>
            <a:spLocks noGrp="1"/>
          </p:cNvSpPr>
          <p:nvPr>
            <p:ph type="title"/>
          </p:nvPr>
        </p:nvSpPr>
        <p:spPr/>
        <p:txBody>
          <a:bodyPr/>
          <a:lstStyle/>
          <a:p>
            <a:r>
              <a:rPr lang="en-US" b="1" dirty="0"/>
              <a:t>Many tools/programs use regex</a:t>
            </a:r>
          </a:p>
        </p:txBody>
      </p:sp>
      <p:sp>
        <p:nvSpPr>
          <p:cNvPr id="3" name="Content Placeholder 2">
            <a:extLst>
              <a:ext uri="{FF2B5EF4-FFF2-40B4-BE49-F238E27FC236}">
                <a16:creationId xmlns:a16="http://schemas.microsoft.com/office/drawing/2014/main" id="{67910A60-6AE3-3E43-9E7C-9665859EE8C8}"/>
              </a:ext>
            </a:extLst>
          </p:cNvPr>
          <p:cNvSpPr>
            <a:spLocks noGrp="1"/>
          </p:cNvSpPr>
          <p:nvPr>
            <p:ph idx="1"/>
          </p:nvPr>
        </p:nvSpPr>
        <p:spPr/>
        <p:txBody>
          <a:bodyPr/>
          <a:lstStyle/>
          <a:p>
            <a:r>
              <a:rPr lang="en-US" dirty="0"/>
              <a:t>Think of regex like shorthand language</a:t>
            </a:r>
          </a:p>
          <a:p>
            <a:r>
              <a:rPr lang="en-US" dirty="0"/>
              <a:t>Characters form patterns, we can use these patterns to search text</a:t>
            </a:r>
          </a:p>
          <a:p>
            <a:r>
              <a:rPr lang="en-US" b="1" dirty="0">
                <a:solidFill>
                  <a:srgbClr val="FF0000"/>
                </a:solidFill>
                <a:latin typeface="Courier New" panose="02070309020205020404" pitchFamily="49" charset="0"/>
                <a:cs typeface="Courier New" panose="02070309020205020404" pitchFamily="49" charset="0"/>
              </a:rPr>
              <a:t>grep</a:t>
            </a:r>
            <a:r>
              <a:rPr lang="en-US" dirty="0"/>
              <a:t> – global regular expression print</a:t>
            </a:r>
          </a:p>
          <a:p>
            <a:pPr lvl="1"/>
            <a:r>
              <a:rPr lang="en-US" dirty="0"/>
              <a:t>Can use regex patterns or full phrases to search a file</a:t>
            </a:r>
          </a:p>
          <a:p>
            <a:r>
              <a:rPr lang="en-US" b="1" dirty="0">
                <a:solidFill>
                  <a:srgbClr val="FF0000"/>
                </a:solidFill>
                <a:latin typeface="Courier New" panose="02070309020205020404" pitchFamily="49" charset="0"/>
                <a:cs typeface="Courier New" panose="02070309020205020404" pitchFamily="49" charset="0"/>
              </a:rPr>
              <a:t>sed</a:t>
            </a:r>
            <a:r>
              <a:rPr lang="en-US" dirty="0">
                <a:latin typeface="Courier New" panose="02070309020205020404" pitchFamily="49" charset="0"/>
                <a:cs typeface="Courier New" panose="02070309020205020404" pitchFamily="49" charset="0"/>
              </a:rPr>
              <a:t> </a:t>
            </a:r>
            <a:r>
              <a:rPr lang="en-US" dirty="0"/>
              <a:t>-  </a:t>
            </a:r>
            <a:r>
              <a:rPr lang="en-US" u="sng" dirty="0"/>
              <a:t>s</a:t>
            </a:r>
            <a:r>
              <a:rPr lang="en-US" dirty="0"/>
              <a:t>tream </a:t>
            </a:r>
            <a:r>
              <a:rPr lang="en-US" u="sng" dirty="0"/>
              <a:t>ed</a:t>
            </a:r>
            <a:r>
              <a:rPr lang="en-US" dirty="0"/>
              <a:t>itor</a:t>
            </a:r>
          </a:p>
          <a:p>
            <a:pPr lvl="1"/>
            <a:r>
              <a:rPr lang="en-US" dirty="0"/>
              <a:t>Uses regex to search for patterns in character “stream” (standard out) and very good at replacing patterns</a:t>
            </a:r>
          </a:p>
          <a:p>
            <a:pPr lvl="1"/>
            <a:r>
              <a:rPr lang="en-US" dirty="0"/>
              <a:t>Command line find/replace function similar to what your text editing software uses…</a:t>
            </a:r>
          </a:p>
        </p:txBody>
      </p:sp>
    </p:spTree>
    <p:extLst>
      <p:ext uri="{BB962C8B-B14F-4D97-AF65-F5344CB8AC3E}">
        <p14:creationId xmlns:p14="http://schemas.microsoft.com/office/powerpoint/2010/main" val="27259587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21A18-FAC7-0349-8372-F392475AAF09}"/>
              </a:ext>
            </a:extLst>
          </p:cNvPr>
          <p:cNvSpPr>
            <a:spLocks noGrp="1"/>
          </p:cNvSpPr>
          <p:nvPr>
            <p:ph type="title"/>
          </p:nvPr>
        </p:nvSpPr>
        <p:spPr/>
        <p:txBody>
          <a:bodyPr/>
          <a:lstStyle/>
          <a:p>
            <a:r>
              <a:rPr lang="en-US" b="1" dirty="0"/>
              <a:t>Wildcards, special characters, alphanumeric</a:t>
            </a:r>
          </a:p>
        </p:txBody>
      </p:sp>
      <p:sp>
        <p:nvSpPr>
          <p:cNvPr id="3" name="Content Placeholder 2">
            <a:extLst>
              <a:ext uri="{FF2B5EF4-FFF2-40B4-BE49-F238E27FC236}">
                <a16:creationId xmlns:a16="http://schemas.microsoft.com/office/drawing/2014/main" id="{B0A35D9C-988F-6F47-AC95-8065B1B005A8}"/>
              </a:ext>
            </a:extLst>
          </p:cNvPr>
          <p:cNvSpPr>
            <a:spLocks noGrp="1"/>
          </p:cNvSpPr>
          <p:nvPr>
            <p:ph idx="1"/>
          </p:nvPr>
        </p:nvSpPr>
        <p:spPr/>
        <p:txBody>
          <a:bodyPr>
            <a:normAutofit fontScale="92500" lnSpcReduction="20000"/>
          </a:bodyPr>
          <a:lstStyle/>
          <a:p>
            <a:pPr marL="0" indent="0">
              <a:buNone/>
            </a:pPr>
            <a:r>
              <a:rPr lang="en-US" sz="3500" b="1" dirty="0">
                <a:solidFill>
                  <a:srgbClr val="C00000"/>
                </a:solidFill>
                <a:latin typeface="Courier New" panose="02070309020205020404" pitchFamily="49" charset="0"/>
                <a:cs typeface="Courier New" panose="02070309020205020404" pitchFamily="49" charset="0"/>
              </a:rPr>
              <a:t>.</a:t>
            </a:r>
            <a:r>
              <a:rPr lang="en-US" sz="4000" b="1" dirty="0">
                <a:solidFill>
                  <a:srgbClr val="C00000"/>
                </a:solidFill>
                <a:latin typeface="Courier New" panose="02070309020205020404" pitchFamily="49" charset="0"/>
                <a:cs typeface="Courier New" panose="02070309020205020404" pitchFamily="49" charset="0"/>
              </a:rPr>
              <a:t>	</a:t>
            </a:r>
            <a:r>
              <a:rPr lang="en-US" dirty="0"/>
              <a:t>= any character</a:t>
            </a:r>
          </a:p>
          <a:p>
            <a:pPr marL="0" indent="0">
              <a:buNone/>
            </a:pPr>
            <a:r>
              <a:rPr lang="en-US" sz="3500" b="1" dirty="0">
                <a:solidFill>
                  <a:srgbClr val="C00000"/>
                </a:solidFill>
                <a:latin typeface="Courier New" panose="02070309020205020404" pitchFamily="49" charset="0"/>
                <a:cs typeface="Courier New" panose="02070309020205020404" pitchFamily="49" charset="0"/>
              </a:rPr>
              <a:t>\w</a:t>
            </a:r>
            <a:r>
              <a:rPr lang="en-US" sz="4000" b="1" dirty="0">
                <a:solidFill>
                  <a:srgbClr val="C00000"/>
                </a:solidFill>
              </a:rPr>
              <a:t>	</a:t>
            </a:r>
            <a:r>
              <a:rPr lang="en-US" dirty="0"/>
              <a:t>= any letter, digit or underscore</a:t>
            </a:r>
          </a:p>
          <a:p>
            <a:pPr marL="0" indent="0">
              <a:buNone/>
            </a:pPr>
            <a:r>
              <a:rPr lang="en-US" sz="3500" b="1" dirty="0">
                <a:solidFill>
                  <a:srgbClr val="C00000"/>
                </a:solidFill>
                <a:latin typeface="Courier New" panose="02070309020205020404" pitchFamily="49" charset="0"/>
                <a:cs typeface="Courier New" panose="02070309020205020404" pitchFamily="49" charset="0"/>
              </a:rPr>
              <a:t>\s</a:t>
            </a:r>
            <a:r>
              <a:rPr lang="en-US" sz="4000" b="1" dirty="0">
                <a:solidFill>
                  <a:srgbClr val="C00000"/>
                </a:solidFill>
              </a:rPr>
              <a:t>	</a:t>
            </a:r>
            <a:r>
              <a:rPr lang="en-US" b="1" dirty="0"/>
              <a:t>= </a:t>
            </a:r>
            <a:r>
              <a:rPr lang="en-US" dirty="0"/>
              <a:t>any whitespace</a:t>
            </a:r>
          </a:p>
          <a:p>
            <a:pPr marL="0" indent="0">
              <a:buNone/>
            </a:pPr>
            <a:r>
              <a:rPr lang="en-US" sz="3500" b="1" dirty="0">
                <a:solidFill>
                  <a:srgbClr val="C00000"/>
                </a:solidFill>
                <a:latin typeface="Courier New" panose="02070309020205020404" pitchFamily="49" charset="0"/>
                <a:cs typeface="Courier New" panose="02070309020205020404" pitchFamily="49" charset="0"/>
              </a:rPr>
              <a:t>\t</a:t>
            </a:r>
            <a:r>
              <a:rPr lang="en-US" sz="4000" b="1" dirty="0">
                <a:solidFill>
                  <a:srgbClr val="C00000"/>
                </a:solidFill>
              </a:rPr>
              <a:t>	</a:t>
            </a:r>
            <a:r>
              <a:rPr lang="en-US" dirty="0"/>
              <a:t>= tab characters</a:t>
            </a:r>
          </a:p>
          <a:p>
            <a:pPr marL="0" indent="0">
              <a:buNone/>
            </a:pPr>
            <a:r>
              <a:rPr lang="en-US" sz="3500" b="1" dirty="0">
                <a:solidFill>
                  <a:srgbClr val="C00000"/>
                </a:solidFill>
                <a:latin typeface="Courier New" panose="02070309020205020404" pitchFamily="49" charset="0"/>
                <a:cs typeface="Courier New" panose="02070309020205020404" pitchFamily="49" charset="0"/>
              </a:rPr>
              <a:t>\n</a:t>
            </a:r>
            <a:r>
              <a:rPr lang="en-US" sz="4000" b="1" dirty="0">
                <a:solidFill>
                  <a:srgbClr val="C00000"/>
                </a:solidFill>
              </a:rPr>
              <a:t>	</a:t>
            </a:r>
            <a:r>
              <a:rPr lang="en-US" dirty="0"/>
              <a:t>= newline (line ending)</a:t>
            </a:r>
          </a:p>
          <a:p>
            <a:pPr marL="0" indent="0">
              <a:buNone/>
            </a:pPr>
            <a:r>
              <a:rPr lang="en-US" sz="3500" b="1" dirty="0">
                <a:solidFill>
                  <a:srgbClr val="C00000"/>
                </a:solidFill>
                <a:latin typeface="Courier New" panose="02070309020205020404" pitchFamily="49" charset="0"/>
                <a:cs typeface="Courier New" panose="02070309020205020404" pitchFamily="49" charset="0"/>
              </a:rPr>
              <a:t>[a-z]</a:t>
            </a:r>
            <a:r>
              <a:rPr lang="en-US" dirty="0"/>
              <a:t>	= any lower case</a:t>
            </a:r>
          </a:p>
          <a:p>
            <a:pPr marL="0" indent="0">
              <a:buNone/>
            </a:pPr>
            <a:r>
              <a:rPr lang="en-US" sz="3500" b="1" dirty="0">
                <a:solidFill>
                  <a:srgbClr val="C00000"/>
                </a:solidFill>
                <a:latin typeface="Courier New" panose="02070309020205020404" pitchFamily="49" charset="0"/>
                <a:cs typeface="Courier New" panose="02070309020205020404" pitchFamily="49" charset="0"/>
              </a:rPr>
              <a:t>[A-Z]</a:t>
            </a:r>
            <a:r>
              <a:rPr lang="en-US" dirty="0"/>
              <a:t>	= any upper case</a:t>
            </a:r>
          </a:p>
          <a:p>
            <a:pPr marL="0" indent="0">
              <a:buNone/>
            </a:pPr>
            <a:r>
              <a:rPr lang="en-US" sz="3500" b="1" dirty="0">
                <a:solidFill>
                  <a:srgbClr val="C00000"/>
                </a:solidFill>
                <a:latin typeface="Courier New" panose="02070309020205020404" pitchFamily="49" charset="0"/>
                <a:cs typeface="Courier New" panose="02070309020205020404" pitchFamily="49" charset="0"/>
              </a:rPr>
              <a:t>[0-9]</a:t>
            </a:r>
            <a:r>
              <a:rPr lang="en-US" dirty="0">
                <a:latin typeface="Courier New" panose="02070309020205020404" pitchFamily="49" charset="0"/>
                <a:cs typeface="Courier New" panose="02070309020205020404" pitchFamily="49" charset="0"/>
              </a:rPr>
              <a:t>	</a:t>
            </a:r>
            <a:r>
              <a:rPr lang="en-US" dirty="0"/>
              <a:t>= digits</a:t>
            </a:r>
          </a:p>
          <a:p>
            <a:pPr marL="0" indent="0">
              <a:buNone/>
            </a:pPr>
            <a:endParaRPr lang="en-US" dirty="0"/>
          </a:p>
          <a:p>
            <a:pPr marL="0" indent="0">
              <a:buNone/>
            </a:pPr>
            <a:endParaRPr lang="en-US" dirty="0"/>
          </a:p>
          <a:p>
            <a:pPr marL="0" indent="0">
              <a:buNone/>
            </a:pPr>
            <a:endParaRPr lang="en-US" dirty="0"/>
          </a:p>
          <a:p>
            <a:endParaRPr lang="en-US" dirty="0"/>
          </a:p>
        </p:txBody>
      </p:sp>
    </p:spTree>
    <p:extLst>
      <p:ext uri="{BB962C8B-B14F-4D97-AF65-F5344CB8AC3E}">
        <p14:creationId xmlns:p14="http://schemas.microsoft.com/office/powerpoint/2010/main" val="39355016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2C214-F6AC-8140-B811-D071B80EA3F7}"/>
              </a:ext>
            </a:extLst>
          </p:cNvPr>
          <p:cNvSpPr>
            <a:spLocks noGrp="1"/>
          </p:cNvSpPr>
          <p:nvPr>
            <p:ph type="title"/>
          </p:nvPr>
        </p:nvSpPr>
        <p:spPr/>
        <p:txBody>
          <a:bodyPr>
            <a:normAutofit/>
          </a:bodyPr>
          <a:lstStyle/>
          <a:p>
            <a:pPr algn="ctr"/>
            <a:r>
              <a:rPr lang="en-US" sz="5400" b="1" dirty="0"/>
              <a:t>line endings</a:t>
            </a:r>
          </a:p>
        </p:txBody>
      </p:sp>
      <p:sp>
        <p:nvSpPr>
          <p:cNvPr id="3" name="Content Placeholder 2">
            <a:extLst>
              <a:ext uri="{FF2B5EF4-FFF2-40B4-BE49-F238E27FC236}">
                <a16:creationId xmlns:a16="http://schemas.microsoft.com/office/drawing/2014/main" id="{3D34CD27-8345-064C-A946-6D2D5643907F}"/>
              </a:ext>
            </a:extLst>
          </p:cNvPr>
          <p:cNvSpPr>
            <a:spLocks noGrp="1"/>
          </p:cNvSpPr>
          <p:nvPr>
            <p:ph idx="1"/>
          </p:nvPr>
        </p:nvSpPr>
        <p:spPr>
          <a:xfrm>
            <a:off x="838200" y="1423686"/>
            <a:ext cx="10515600" cy="4753277"/>
          </a:xfrm>
        </p:spPr>
        <p:txBody>
          <a:bodyPr>
            <a:normAutofit fontScale="92500"/>
          </a:bodyPr>
          <a:lstStyle/>
          <a:p>
            <a:pPr>
              <a:lnSpc>
                <a:spcPct val="150000"/>
              </a:lnSpc>
            </a:pPr>
            <a:r>
              <a:rPr lang="en-US" dirty="0"/>
              <a:t>important to know that the end of a line is designated by a hidden character…</a:t>
            </a:r>
          </a:p>
          <a:p>
            <a:pPr>
              <a:lnSpc>
                <a:spcPct val="150000"/>
              </a:lnSpc>
            </a:pPr>
            <a:r>
              <a:rPr lang="en-US" dirty="0"/>
              <a:t>windows and mac have their own different line endings</a:t>
            </a:r>
          </a:p>
          <a:p>
            <a:pPr lvl="1">
              <a:lnSpc>
                <a:spcPct val="150000"/>
              </a:lnSpc>
            </a:pPr>
            <a:r>
              <a:rPr lang="en-US" dirty="0"/>
              <a:t>will cause issues with lots of shell commands and bioinformatic software/code</a:t>
            </a:r>
          </a:p>
          <a:p>
            <a:pPr>
              <a:lnSpc>
                <a:spcPct val="150000"/>
              </a:lnSpc>
            </a:pPr>
            <a:r>
              <a:rPr lang="en-US" dirty="0"/>
              <a:t>typically, windows uses carriage return + line feed (CR/LF) symbol, classic mac uses CR</a:t>
            </a:r>
          </a:p>
          <a:p>
            <a:pPr>
              <a:lnSpc>
                <a:spcPct val="150000"/>
              </a:lnSpc>
            </a:pPr>
            <a:r>
              <a:rPr lang="en-US" dirty="0"/>
              <a:t>let’s try to create this problem and then fix it using notepad++</a:t>
            </a:r>
          </a:p>
        </p:txBody>
      </p:sp>
    </p:spTree>
    <p:extLst>
      <p:ext uri="{BB962C8B-B14F-4D97-AF65-F5344CB8AC3E}">
        <p14:creationId xmlns:p14="http://schemas.microsoft.com/office/powerpoint/2010/main" val="35671341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dissolv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dissolv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50F07-9390-6B40-88A4-40CA0333B6BE}"/>
              </a:ext>
            </a:extLst>
          </p:cNvPr>
          <p:cNvSpPr>
            <a:spLocks noGrp="1"/>
          </p:cNvSpPr>
          <p:nvPr>
            <p:ph type="title"/>
          </p:nvPr>
        </p:nvSpPr>
        <p:spPr/>
        <p:txBody>
          <a:bodyPr/>
          <a:lstStyle/>
          <a:p>
            <a:r>
              <a:rPr lang="en-US" b="1" dirty="0"/>
              <a:t>Quantifiers</a:t>
            </a:r>
          </a:p>
        </p:txBody>
      </p:sp>
      <p:sp>
        <p:nvSpPr>
          <p:cNvPr id="3" name="Content Placeholder 2">
            <a:extLst>
              <a:ext uri="{FF2B5EF4-FFF2-40B4-BE49-F238E27FC236}">
                <a16:creationId xmlns:a16="http://schemas.microsoft.com/office/drawing/2014/main" id="{B273E14C-5140-8140-A95D-8C0BE522D0E9}"/>
              </a:ext>
            </a:extLst>
          </p:cNvPr>
          <p:cNvSpPr>
            <a:spLocks noGrp="1"/>
          </p:cNvSpPr>
          <p:nvPr>
            <p:ph idx="1"/>
          </p:nvPr>
        </p:nvSpPr>
        <p:spPr/>
        <p:txBody>
          <a:bodyPr/>
          <a:lstStyle/>
          <a:p>
            <a:pPr marL="0" indent="0">
              <a:buNone/>
            </a:pPr>
            <a:r>
              <a:rPr lang="en-US" sz="3200" b="1" dirty="0">
                <a:solidFill>
                  <a:srgbClr val="C00000"/>
                </a:solidFill>
                <a:latin typeface="Courier New" panose="02070309020205020404" pitchFamily="49" charset="0"/>
                <a:cs typeface="Courier New" panose="02070309020205020404" pitchFamily="49" charset="0"/>
              </a:rPr>
              <a:t>+</a:t>
            </a:r>
            <a:r>
              <a:rPr lang="en-US" dirty="0"/>
              <a:t>	= one or more occurrences (occurs at least once)</a:t>
            </a:r>
          </a:p>
          <a:p>
            <a:pPr marL="0" indent="0">
              <a:buNone/>
            </a:pPr>
            <a:r>
              <a:rPr lang="en-US" sz="3200" b="1" dirty="0">
                <a:solidFill>
                  <a:srgbClr val="C00000"/>
                </a:solidFill>
                <a:latin typeface="Courier New" panose="02070309020205020404" pitchFamily="49" charset="0"/>
                <a:cs typeface="Courier New" panose="02070309020205020404" pitchFamily="49" charset="0"/>
              </a:rPr>
              <a:t>*</a:t>
            </a:r>
            <a:r>
              <a:rPr lang="en-US" dirty="0"/>
              <a:t>	= match zero or more times (may occur or may not)</a:t>
            </a:r>
          </a:p>
          <a:p>
            <a:pPr marL="0" indent="0">
              <a:buNone/>
            </a:pPr>
            <a:r>
              <a:rPr lang="en-US" sz="3200" b="1" dirty="0">
                <a:solidFill>
                  <a:srgbClr val="C00000"/>
                </a:solidFill>
                <a:latin typeface="Courier New" panose="02070309020205020404" pitchFamily="49" charset="0"/>
                <a:cs typeface="Courier New" panose="02070309020205020404" pitchFamily="49" charset="0"/>
              </a:rPr>
              <a:t>?</a:t>
            </a:r>
            <a:r>
              <a:rPr lang="en-US" dirty="0"/>
              <a:t>	= match zero or one time (may occur once or twice)</a:t>
            </a:r>
          </a:p>
          <a:p>
            <a:pPr marL="0" indent="0">
              <a:buNone/>
            </a:pPr>
            <a:r>
              <a:rPr lang="en-US" sz="3200" b="1" dirty="0">
                <a:solidFill>
                  <a:srgbClr val="C00000"/>
                </a:solidFill>
                <a:latin typeface="Courier New" panose="02070309020205020404" pitchFamily="49" charset="0"/>
                <a:cs typeface="Courier New" panose="02070309020205020404" pitchFamily="49" charset="0"/>
              </a:rPr>
              <a:t>{n}</a:t>
            </a:r>
            <a:r>
              <a:rPr lang="en-US" dirty="0"/>
              <a:t>	= match exactly n times (occurs exactly this many)</a:t>
            </a:r>
          </a:p>
          <a:p>
            <a:pPr marL="0" indent="0">
              <a:buNone/>
            </a:pPr>
            <a:r>
              <a:rPr lang="en-US" sz="3200" b="1" dirty="0">
                <a:solidFill>
                  <a:srgbClr val="C00000"/>
                </a:solidFill>
                <a:latin typeface="Courier New" panose="02070309020205020404" pitchFamily="49" charset="0"/>
                <a:cs typeface="Courier New" panose="02070309020205020404" pitchFamily="49" charset="0"/>
              </a:rPr>
              <a:t>{n,}</a:t>
            </a:r>
            <a:r>
              <a:rPr lang="en-US" dirty="0"/>
              <a:t>= match at least n times (occurs at least this many)</a:t>
            </a:r>
          </a:p>
          <a:p>
            <a:pPr marL="0" indent="0">
              <a:buNone/>
            </a:pPr>
            <a:r>
              <a:rPr lang="en-US" sz="3200" b="1" dirty="0">
                <a:solidFill>
                  <a:srgbClr val="C00000"/>
                </a:solidFill>
                <a:latin typeface="Courier New" panose="02070309020205020404" pitchFamily="49" charset="0"/>
                <a:cs typeface="Courier New" panose="02070309020205020404" pitchFamily="49" charset="0"/>
              </a:rPr>
              <a:t>{,m}</a:t>
            </a:r>
            <a:r>
              <a:rPr lang="en-US" dirty="0"/>
              <a:t>	= match at most n times</a:t>
            </a:r>
          </a:p>
          <a:p>
            <a:pPr marL="0" indent="0">
              <a:buNone/>
            </a:pPr>
            <a:r>
              <a:rPr lang="en-US" sz="3200" b="1" dirty="0">
                <a:solidFill>
                  <a:srgbClr val="C00000"/>
                </a:solidFill>
                <a:latin typeface="Courier New" panose="02070309020205020404" pitchFamily="49" charset="0"/>
                <a:cs typeface="Courier New" panose="02070309020205020404" pitchFamily="49" charset="0"/>
              </a:rPr>
              <a:t>{n-m}</a:t>
            </a:r>
            <a:r>
              <a:rPr lang="en-US" dirty="0"/>
              <a:t>	= match from n to m times </a:t>
            </a:r>
          </a:p>
          <a:p>
            <a:pPr marL="0" indent="0">
              <a:buNone/>
            </a:pPr>
            <a:endParaRPr lang="en-US"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27542930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C9C551-F29F-EF4A-9BC9-734162111DF1}"/>
              </a:ext>
            </a:extLst>
          </p:cNvPr>
          <p:cNvSpPr>
            <a:spLocks noGrp="1"/>
          </p:cNvSpPr>
          <p:nvPr>
            <p:ph type="title"/>
          </p:nvPr>
        </p:nvSpPr>
        <p:spPr/>
        <p:txBody>
          <a:bodyPr/>
          <a:lstStyle/>
          <a:p>
            <a:r>
              <a:rPr lang="en-US" b="1" dirty="0"/>
              <a:t>Positional/boundary symbols</a:t>
            </a:r>
          </a:p>
        </p:txBody>
      </p:sp>
      <p:sp>
        <p:nvSpPr>
          <p:cNvPr id="3" name="Content Placeholder 2">
            <a:extLst>
              <a:ext uri="{FF2B5EF4-FFF2-40B4-BE49-F238E27FC236}">
                <a16:creationId xmlns:a16="http://schemas.microsoft.com/office/drawing/2014/main" id="{04941C13-E49F-BC44-BF77-67E76E29D7B9}"/>
              </a:ext>
            </a:extLst>
          </p:cNvPr>
          <p:cNvSpPr>
            <a:spLocks noGrp="1"/>
          </p:cNvSpPr>
          <p:nvPr>
            <p:ph idx="1"/>
          </p:nvPr>
        </p:nvSpPr>
        <p:spPr>
          <a:xfrm>
            <a:off x="838200" y="1825625"/>
            <a:ext cx="10515600" cy="1901423"/>
          </a:xfrm>
        </p:spPr>
        <p:txBody>
          <a:bodyPr>
            <a:normAutofit/>
          </a:bodyPr>
          <a:lstStyle/>
          <a:p>
            <a:pPr marL="0" indent="0">
              <a:buNone/>
            </a:pPr>
            <a:r>
              <a:rPr lang="en-US" sz="3200" b="1" dirty="0">
                <a:solidFill>
                  <a:srgbClr val="C00000"/>
                </a:solidFill>
                <a:latin typeface="Courier New" panose="02070309020205020404" pitchFamily="49" charset="0"/>
                <a:cs typeface="Courier New" panose="02070309020205020404" pitchFamily="49" charset="0"/>
              </a:rPr>
              <a:t>^</a:t>
            </a:r>
            <a:r>
              <a:rPr lang="en-US" dirty="0"/>
              <a:t>	= beginning of line</a:t>
            </a:r>
          </a:p>
          <a:p>
            <a:pPr marL="0" indent="0">
              <a:buNone/>
            </a:pPr>
            <a:r>
              <a:rPr lang="en-US" sz="3200" b="1" dirty="0">
                <a:solidFill>
                  <a:srgbClr val="C00000"/>
                </a:solidFill>
                <a:latin typeface="Courier New" panose="02070309020205020404" pitchFamily="49" charset="0"/>
                <a:cs typeface="Courier New" panose="02070309020205020404" pitchFamily="49" charset="0"/>
              </a:rPr>
              <a:t>$</a:t>
            </a:r>
            <a:r>
              <a:rPr lang="en-US" dirty="0"/>
              <a:t>	= end of line</a:t>
            </a:r>
          </a:p>
          <a:p>
            <a:pPr marL="0" indent="0">
              <a:buNone/>
            </a:pPr>
            <a:r>
              <a:rPr lang="en-US" sz="3500" b="1" dirty="0">
                <a:solidFill>
                  <a:srgbClr val="C00000"/>
                </a:solidFill>
                <a:latin typeface="Courier New" panose="02070309020205020404" pitchFamily="49" charset="0"/>
                <a:cs typeface="Courier New" panose="02070309020205020404" pitchFamily="49" charset="0"/>
              </a:rPr>
              <a:t>\b</a:t>
            </a:r>
            <a:r>
              <a:rPr lang="en-US" sz="4000" b="1" dirty="0">
                <a:solidFill>
                  <a:srgbClr val="C00000"/>
                </a:solidFill>
              </a:rPr>
              <a:t>	</a:t>
            </a:r>
            <a:r>
              <a:rPr lang="en-US" dirty="0"/>
              <a:t>= word boundary</a:t>
            </a:r>
          </a:p>
          <a:p>
            <a:pPr marL="0" indent="0">
              <a:buNone/>
            </a:pPr>
            <a:endParaRPr lang="en-US" dirty="0"/>
          </a:p>
          <a:p>
            <a:pPr marL="0" indent="0">
              <a:buNone/>
            </a:pPr>
            <a:endParaRPr lang="en-US" dirty="0"/>
          </a:p>
        </p:txBody>
      </p:sp>
      <p:sp>
        <p:nvSpPr>
          <p:cNvPr id="4" name="Title 1">
            <a:extLst>
              <a:ext uri="{FF2B5EF4-FFF2-40B4-BE49-F238E27FC236}">
                <a16:creationId xmlns:a16="http://schemas.microsoft.com/office/drawing/2014/main" id="{8C7EDBE6-3649-CC43-9EAA-2D68315FA521}"/>
              </a:ext>
            </a:extLst>
          </p:cNvPr>
          <p:cNvSpPr txBox="1">
            <a:spLocks/>
          </p:cNvSpPr>
          <p:nvPr/>
        </p:nvSpPr>
        <p:spPr>
          <a:xfrm>
            <a:off x="838200" y="34290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Escape Punctuation &amp; Negation</a:t>
            </a:r>
          </a:p>
        </p:txBody>
      </p:sp>
      <p:sp>
        <p:nvSpPr>
          <p:cNvPr id="5" name="Content Placeholder 2">
            <a:extLst>
              <a:ext uri="{FF2B5EF4-FFF2-40B4-BE49-F238E27FC236}">
                <a16:creationId xmlns:a16="http://schemas.microsoft.com/office/drawing/2014/main" id="{0360F717-20E6-4F4B-A39F-2EEDCDB69922}"/>
              </a:ext>
            </a:extLst>
          </p:cNvPr>
          <p:cNvSpPr txBox="1">
            <a:spLocks/>
          </p:cNvSpPr>
          <p:nvPr/>
        </p:nvSpPr>
        <p:spPr>
          <a:xfrm>
            <a:off x="838200" y="4754563"/>
            <a:ext cx="10515600" cy="132556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3200" b="1" dirty="0">
                <a:solidFill>
                  <a:srgbClr val="C00000"/>
                </a:solidFill>
                <a:latin typeface="Courier New" panose="02070309020205020404" pitchFamily="49" charset="0"/>
                <a:cs typeface="Courier New" panose="02070309020205020404" pitchFamily="49" charset="0"/>
              </a:rPr>
              <a:t>\</a:t>
            </a:r>
            <a:r>
              <a:rPr lang="en-US" dirty="0"/>
              <a:t>	= escape, use literal meaning</a:t>
            </a:r>
          </a:p>
          <a:p>
            <a:pPr marL="0" indent="0">
              <a:buFont typeface="Arial" panose="020B0604020202020204" pitchFamily="34" charset="0"/>
              <a:buNone/>
            </a:pPr>
            <a:r>
              <a:rPr lang="en-US" sz="3200" b="1" dirty="0">
                <a:solidFill>
                  <a:srgbClr val="C00000"/>
                </a:solidFill>
                <a:latin typeface="Courier New" panose="02070309020205020404" pitchFamily="49" charset="0"/>
                <a:cs typeface="Courier New" panose="02070309020205020404" pitchFamily="49" charset="0"/>
              </a:rPr>
              <a:t>[^pattern]</a:t>
            </a:r>
            <a:r>
              <a:rPr lang="en-US" dirty="0"/>
              <a:t>	= NOT this pattern/everything but</a:t>
            </a:r>
          </a:p>
        </p:txBody>
      </p:sp>
    </p:spTree>
    <p:extLst>
      <p:ext uri="{BB962C8B-B14F-4D97-AF65-F5344CB8AC3E}">
        <p14:creationId xmlns:p14="http://schemas.microsoft.com/office/powerpoint/2010/main" val="405693556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E27B-9667-2049-964E-F9B7729D70F4}"/>
              </a:ext>
            </a:extLst>
          </p:cNvPr>
          <p:cNvSpPr>
            <a:spLocks noGrp="1"/>
          </p:cNvSpPr>
          <p:nvPr>
            <p:ph type="title"/>
          </p:nvPr>
        </p:nvSpPr>
        <p:spPr/>
        <p:txBody>
          <a:bodyPr>
            <a:normAutofit/>
          </a:bodyPr>
          <a:lstStyle/>
          <a:p>
            <a:pPr algn="ctr"/>
            <a:r>
              <a:rPr lang="en-US" sz="6000" b="1" dirty="0"/>
              <a:t>sed</a:t>
            </a:r>
          </a:p>
        </p:txBody>
      </p:sp>
      <p:sp>
        <p:nvSpPr>
          <p:cNvPr id="3" name="Content Placeholder 2">
            <a:extLst>
              <a:ext uri="{FF2B5EF4-FFF2-40B4-BE49-F238E27FC236}">
                <a16:creationId xmlns:a16="http://schemas.microsoft.com/office/drawing/2014/main" id="{0576F826-D4EF-DA43-8999-22D54627BDED}"/>
              </a:ext>
            </a:extLst>
          </p:cNvPr>
          <p:cNvSpPr>
            <a:spLocks noGrp="1"/>
          </p:cNvSpPr>
          <p:nvPr>
            <p:ph idx="1"/>
          </p:nvPr>
        </p:nvSpPr>
        <p:spPr>
          <a:xfrm>
            <a:off x="838200" y="1825625"/>
            <a:ext cx="11153172" cy="4351338"/>
          </a:xfrm>
        </p:spPr>
        <p:txBody>
          <a:bodyPr>
            <a:normAutofit lnSpcReduction="10000"/>
          </a:bodyPr>
          <a:lstStyle/>
          <a:p>
            <a:pPr marL="0" indent="0">
              <a:buNone/>
            </a:pPr>
            <a:r>
              <a:rPr lang="en-US" b="1" dirty="0">
                <a:solidFill>
                  <a:srgbClr val="FF0000"/>
                </a:solidFill>
                <a:latin typeface="Courier New" panose="02070309020205020404" pitchFamily="49" charset="0"/>
                <a:cs typeface="Courier New" panose="02070309020205020404" pitchFamily="49" charset="0"/>
              </a:rPr>
              <a:t>sed</a:t>
            </a:r>
            <a:r>
              <a:rPr lang="en-US" dirty="0"/>
              <a:t>   ‘s/pattern/replacement/’   </a:t>
            </a:r>
            <a:r>
              <a:rPr lang="en-US" i="1" dirty="0" err="1"/>
              <a:t>greeneggs.txt</a:t>
            </a:r>
            <a:endParaRPr lang="en-US" i="1" dirty="0"/>
          </a:p>
          <a:p>
            <a:pPr marL="0" indent="0">
              <a:buNone/>
            </a:pPr>
            <a:r>
              <a:rPr lang="en-US" i="1" dirty="0"/>
              <a:t>By default replaces the first occurrence found</a:t>
            </a:r>
          </a:p>
          <a:p>
            <a:pPr marL="0" indent="0">
              <a:buNone/>
            </a:pPr>
            <a:endParaRPr lang="en-US" b="1" dirty="0">
              <a:solidFill>
                <a:srgbClr val="FF0000"/>
              </a:solidFill>
              <a:latin typeface="Courier New" panose="02070309020205020404" pitchFamily="49" charset="0"/>
              <a:cs typeface="Courier New" panose="02070309020205020404" pitchFamily="49" charset="0"/>
            </a:endParaRPr>
          </a:p>
          <a:p>
            <a:pPr marL="0" indent="0">
              <a:buNone/>
            </a:pPr>
            <a:r>
              <a:rPr lang="en-US" b="1" dirty="0">
                <a:solidFill>
                  <a:srgbClr val="FF0000"/>
                </a:solidFill>
                <a:latin typeface="Courier New" panose="02070309020205020404" pitchFamily="49" charset="0"/>
                <a:cs typeface="Courier New" panose="02070309020205020404" pitchFamily="49" charset="0"/>
              </a:rPr>
              <a:t>sed</a:t>
            </a:r>
            <a:r>
              <a:rPr lang="en-US" dirty="0"/>
              <a:t> ‘s/ham/pork/g’ </a:t>
            </a:r>
            <a:r>
              <a:rPr lang="en-US" i="1" dirty="0" err="1"/>
              <a:t>greeneggs.txt</a:t>
            </a:r>
            <a:r>
              <a:rPr lang="en-US" i="1" dirty="0"/>
              <a:t>	     -&gt;will replace all occurrences</a:t>
            </a:r>
          </a:p>
          <a:p>
            <a:pPr marL="0" indent="0">
              <a:buNone/>
            </a:pPr>
            <a:r>
              <a:rPr lang="en-US" b="1" dirty="0">
                <a:solidFill>
                  <a:srgbClr val="FF0000"/>
                </a:solidFill>
                <a:latin typeface="Courier New" panose="02070309020205020404" pitchFamily="49" charset="0"/>
                <a:cs typeface="Courier New" panose="02070309020205020404" pitchFamily="49" charset="0"/>
              </a:rPr>
              <a:t>sed</a:t>
            </a:r>
            <a:r>
              <a:rPr lang="en-US" dirty="0"/>
              <a:t> ‘s/ham/pork/2’ </a:t>
            </a:r>
            <a:r>
              <a:rPr lang="en-US" i="1" dirty="0" err="1"/>
              <a:t>greeneggs.txt</a:t>
            </a:r>
            <a:r>
              <a:rPr lang="en-US" i="1" dirty="0"/>
              <a:t>	     -&gt;will replace 2 occurrence</a:t>
            </a:r>
          </a:p>
          <a:p>
            <a:pPr marL="0" indent="0">
              <a:buNone/>
            </a:pPr>
            <a:r>
              <a:rPr lang="en-US" b="1" dirty="0">
                <a:solidFill>
                  <a:srgbClr val="FF0000"/>
                </a:solidFill>
                <a:latin typeface="Courier New" panose="02070309020205020404" pitchFamily="49" charset="0"/>
                <a:cs typeface="Courier New" panose="02070309020205020404" pitchFamily="49" charset="0"/>
              </a:rPr>
              <a:t>sed</a:t>
            </a:r>
            <a:r>
              <a:rPr lang="en-US" dirty="0"/>
              <a:t> ‘9  s/ham/pork/g’ </a:t>
            </a:r>
            <a:r>
              <a:rPr lang="en-US" i="1" dirty="0" err="1"/>
              <a:t>greeneggs.txt</a:t>
            </a:r>
            <a:r>
              <a:rPr lang="en-US" i="1" dirty="0"/>
              <a:t>	     -&gt;will replace on specific line</a:t>
            </a:r>
          </a:p>
          <a:p>
            <a:pPr marL="0" indent="0">
              <a:buNone/>
            </a:pPr>
            <a:r>
              <a:rPr lang="en-US" b="1" dirty="0">
                <a:solidFill>
                  <a:srgbClr val="FF0000"/>
                </a:solidFill>
                <a:latin typeface="Courier New" panose="02070309020205020404" pitchFamily="49" charset="0"/>
                <a:cs typeface="Courier New" panose="02070309020205020404" pitchFamily="49" charset="0"/>
              </a:rPr>
              <a:t>sed</a:t>
            </a:r>
            <a:r>
              <a:rPr lang="en-US" dirty="0"/>
              <a:t> G </a:t>
            </a:r>
            <a:r>
              <a:rPr lang="en-US" i="1" dirty="0" err="1"/>
              <a:t>filename.txt</a:t>
            </a:r>
            <a:endParaRPr lang="en-US" i="1" dirty="0"/>
          </a:p>
          <a:p>
            <a:pPr marL="0" indent="0">
              <a:buNone/>
            </a:pPr>
            <a:endParaRPr lang="en-US" i="1" dirty="0"/>
          </a:p>
          <a:p>
            <a:pPr marL="0" indent="0">
              <a:buNone/>
            </a:pPr>
            <a:r>
              <a:rPr lang="en-US" b="1" dirty="0">
                <a:solidFill>
                  <a:srgbClr val="FF0000"/>
                </a:solidFill>
                <a:latin typeface="Courier New" panose="02070309020205020404" pitchFamily="49" charset="0"/>
                <a:cs typeface="Courier New" panose="02070309020205020404" pitchFamily="49" charset="0"/>
              </a:rPr>
              <a:t>echo </a:t>
            </a:r>
            <a:r>
              <a:rPr lang="en-US" dirty="0">
                <a:cs typeface="Courier New" panose="02070309020205020404" pitchFamily="49" charset="0"/>
              </a:rPr>
              <a:t>“This Is The Best Bootcamp” | </a:t>
            </a:r>
            <a:r>
              <a:rPr lang="en-US" b="1" dirty="0">
                <a:solidFill>
                  <a:srgbClr val="FF0000"/>
                </a:solidFill>
                <a:latin typeface="Courier New" panose="02070309020205020404" pitchFamily="49" charset="0"/>
                <a:cs typeface="Courier New" panose="02070309020205020404" pitchFamily="49" charset="0"/>
              </a:rPr>
              <a:t>sed</a:t>
            </a:r>
            <a:r>
              <a:rPr lang="en-US" dirty="0"/>
              <a:t>  ‘s/([A-Z])/\1/g’</a:t>
            </a:r>
            <a:endParaRPr lang="en-US" i="1" dirty="0"/>
          </a:p>
          <a:p>
            <a:pPr marL="0" indent="0">
              <a:buNone/>
            </a:pPr>
            <a:endParaRPr lang="en-US" i="1" dirty="0"/>
          </a:p>
          <a:p>
            <a:pPr marL="0" indent="0">
              <a:buNone/>
            </a:pPr>
            <a:endParaRPr lang="en-US" i="1" dirty="0"/>
          </a:p>
        </p:txBody>
      </p:sp>
    </p:spTree>
    <p:extLst>
      <p:ext uri="{BB962C8B-B14F-4D97-AF65-F5344CB8AC3E}">
        <p14:creationId xmlns:p14="http://schemas.microsoft.com/office/powerpoint/2010/main" val="25813487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dissolv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dissolve">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DE27B-9667-2049-964E-F9B7729D70F4}"/>
              </a:ext>
            </a:extLst>
          </p:cNvPr>
          <p:cNvSpPr>
            <a:spLocks noGrp="1"/>
          </p:cNvSpPr>
          <p:nvPr>
            <p:ph type="title"/>
          </p:nvPr>
        </p:nvSpPr>
        <p:spPr/>
        <p:txBody>
          <a:bodyPr>
            <a:normAutofit/>
          </a:bodyPr>
          <a:lstStyle/>
          <a:p>
            <a:pPr algn="ctr"/>
            <a:r>
              <a:rPr lang="en-US" sz="6000" b="1" dirty="0"/>
              <a:t>sed</a:t>
            </a:r>
          </a:p>
        </p:txBody>
      </p:sp>
      <p:sp>
        <p:nvSpPr>
          <p:cNvPr id="3" name="Content Placeholder 2">
            <a:extLst>
              <a:ext uri="{FF2B5EF4-FFF2-40B4-BE49-F238E27FC236}">
                <a16:creationId xmlns:a16="http://schemas.microsoft.com/office/drawing/2014/main" id="{0576F826-D4EF-DA43-8999-22D54627BDED}"/>
              </a:ext>
            </a:extLst>
          </p:cNvPr>
          <p:cNvSpPr>
            <a:spLocks noGrp="1"/>
          </p:cNvSpPr>
          <p:nvPr>
            <p:ph idx="1"/>
          </p:nvPr>
        </p:nvSpPr>
        <p:spPr>
          <a:xfrm>
            <a:off x="838200" y="1825625"/>
            <a:ext cx="11153172" cy="4351338"/>
          </a:xfrm>
        </p:spPr>
        <p:txBody>
          <a:bodyPr>
            <a:normAutofit/>
          </a:bodyPr>
          <a:lstStyle/>
          <a:p>
            <a:pPr marL="0" indent="0">
              <a:buNone/>
            </a:pPr>
            <a:endParaRPr lang="en-US" i="1" dirty="0"/>
          </a:p>
          <a:p>
            <a:pPr marL="0" indent="0">
              <a:buNone/>
            </a:pPr>
            <a:r>
              <a:rPr lang="en-US" b="1" dirty="0">
                <a:solidFill>
                  <a:srgbClr val="FF0000"/>
                </a:solidFill>
                <a:latin typeface="Courier New" panose="02070309020205020404" pitchFamily="49" charset="0"/>
                <a:cs typeface="Courier New" panose="02070309020205020404" pitchFamily="49" charset="0"/>
              </a:rPr>
              <a:t>echo </a:t>
            </a:r>
            <a:r>
              <a:rPr lang="en-US" dirty="0">
                <a:cs typeface="Courier New" panose="02070309020205020404" pitchFamily="49" charset="0"/>
              </a:rPr>
              <a:t>“This Is The Best Bootcamp” | </a:t>
            </a:r>
            <a:r>
              <a:rPr lang="en-US" b="1" dirty="0">
                <a:solidFill>
                  <a:srgbClr val="FF0000"/>
                </a:solidFill>
                <a:latin typeface="Courier New" panose="02070309020205020404" pitchFamily="49" charset="0"/>
                <a:cs typeface="Courier New" panose="02070309020205020404" pitchFamily="49" charset="0"/>
              </a:rPr>
              <a:t>sed</a:t>
            </a:r>
            <a:r>
              <a:rPr lang="en-US" dirty="0"/>
              <a:t>  ‘s/([A-Z])/\1/g’</a:t>
            </a:r>
          </a:p>
          <a:p>
            <a:pPr marL="0" indent="0">
              <a:buNone/>
            </a:pPr>
            <a:endParaRPr lang="en-US" b="1" dirty="0">
              <a:solidFill>
                <a:srgbClr val="FF0000"/>
              </a:solidFill>
              <a:latin typeface="Courier New" panose="02070309020205020404" pitchFamily="49" charset="0"/>
              <a:cs typeface="Courier New" panose="02070309020205020404" pitchFamily="49" charset="0"/>
            </a:endParaRPr>
          </a:p>
          <a:p>
            <a:pPr marL="0" indent="0">
              <a:buNone/>
            </a:pPr>
            <a:r>
              <a:rPr lang="en-US" b="1" dirty="0">
                <a:solidFill>
                  <a:srgbClr val="FF0000"/>
                </a:solidFill>
                <a:latin typeface="Courier New" panose="02070309020205020404" pitchFamily="49" charset="0"/>
                <a:cs typeface="Courier New" panose="02070309020205020404" pitchFamily="49" charset="0"/>
              </a:rPr>
              <a:t>sed</a:t>
            </a:r>
            <a:r>
              <a:rPr lang="en-US" dirty="0"/>
              <a:t>   '5d’   </a:t>
            </a:r>
            <a:r>
              <a:rPr lang="en-US" i="1" dirty="0" err="1"/>
              <a:t>filename.txt</a:t>
            </a:r>
            <a:r>
              <a:rPr lang="en-US" i="1" dirty="0"/>
              <a:t>			-&gt; delete a specific line</a:t>
            </a:r>
          </a:p>
          <a:p>
            <a:pPr marL="0" indent="0">
              <a:buNone/>
            </a:pPr>
            <a:r>
              <a:rPr lang="en-US" b="1" dirty="0">
                <a:solidFill>
                  <a:srgbClr val="FF0000"/>
                </a:solidFill>
                <a:latin typeface="Courier New" panose="02070309020205020404" pitchFamily="49" charset="0"/>
                <a:cs typeface="Courier New" panose="02070309020205020404" pitchFamily="49" charset="0"/>
              </a:rPr>
              <a:t>sed</a:t>
            </a:r>
            <a:r>
              <a:rPr lang="en-US" dirty="0"/>
              <a:t>   ‘/pattern/d’   </a:t>
            </a:r>
            <a:r>
              <a:rPr lang="en-US" i="1" dirty="0" err="1"/>
              <a:t>filename.txt</a:t>
            </a:r>
            <a:r>
              <a:rPr lang="en-US" i="1" dirty="0"/>
              <a:t>		-&gt; delete a specific pattern</a:t>
            </a:r>
          </a:p>
          <a:p>
            <a:pPr marL="0" indent="0">
              <a:buNone/>
            </a:pPr>
            <a:endParaRPr lang="en-US" i="1" dirty="0"/>
          </a:p>
          <a:p>
            <a:pPr marL="0" indent="0">
              <a:buNone/>
            </a:pPr>
            <a:r>
              <a:rPr lang="en-US" i="1" dirty="0"/>
              <a:t>S</a:t>
            </a:r>
            <a:r>
              <a:rPr lang="en-US" dirty="0"/>
              <a:t>earch for “cookbook”, “one-liners”, “</a:t>
            </a:r>
            <a:r>
              <a:rPr lang="en-US" dirty="0" err="1"/>
              <a:t>cheatsheet</a:t>
            </a:r>
            <a:r>
              <a:rPr lang="en-US" dirty="0"/>
              <a:t>” online if you want to explore the variety of commands!</a:t>
            </a:r>
          </a:p>
        </p:txBody>
      </p:sp>
    </p:spTree>
    <p:extLst>
      <p:ext uri="{BB962C8B-B14F-4D97-AF65-F5344CB8AC3E}">
        <p14:creationId xmlns:p14="http://schemas.microsoft.com/office/powerpoint/2010/main" val="1661002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dissolv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dissolve">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dissolve">
                                      <p:cBhvr>
                                        <p:cTn id="17" dur="500"/>
                                        <p:tgtEl>
                                          <p:spTgt spid="3">
                                            <p:txEl>
                                              <p:pRg st="4" end="4"/>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6" end="6"/>
                                            </p:txEl>
                                          </p:spTgt>
                                        </p:tgtEl>
                                        <p:attrNameLst>
                                          <p:attrName>style.visibility</p:attrName>
                                        </p:attrNameLst>
                                      </p:cBhvr>
                                      <p:to>
                                        <p:strVal val="visible"/>
                                      </p:to>
                                    </p:set>
                                    <p:animEffect transition="in" filter="dissolve">
                                      <p:cBhvr>
                                        <p:cTn id="2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FAF96-F591-3C49-91F4-1477E956F4E0}"/>
              </a:ext>
            </a:extLst>
          </p:cNvPr>
          <p:cNvSpPr>
            <a:spLocks noGrp="1"/>
          </p:cNvSpPr>
          <p:nvPr>
            <p:ph type="title"/>
          </p:nvPr>
        </p:nvSpPr>
        <p:spPr/>
        <p:txBody>
          <a:bodyPr>
            <a:normAutofit/>
          </a:bodyPr>
          <a:lstStyle/>
          <a:p>
            <a:r>
              <a:rPr lang="en-US" sz="5400" b="1" dirty="0"/>
              <a:t>Exercise</a:t>
            </a:r>
          </a:p>
        </p:txBody>
      </p:sp>
      <p:sp>
        <p:nvSpPr>
          <p:cNvPr id="3" name="Content Placeholder 2">
            <a:extLst>
              <a:ext uri="{FF2B5EF4-FFF2-40B4-BE49-F238E27FC236}">
                <a16:creationId xmlns:a16="http://schemas.microsoft.com/office/drawing/2014/main" id="{25CCC5E3-7732-6E48-A375-733EEB75A94B}"/>
              </a:ext>
            </a:extLst>
          </p:cNvPr>
          <p:cNvSpPr>
            <a:spLocks noGrp="1"/>
          </p:cNvSpPr>
          <p:nvPr>
            <p:ph idx="1"/>
          </p:nvPr>
        </p:nvSpPr>
        <p:spPr>
          <a:xfrm>
            <a:off x="838200" y="1825624"/>
            <a:ext cx="10515600" cy="5032375"/>
          </a:xfrm>
        </p:spPr>
        <p:txBody>
          <a:bodyPr>
            <a:normAutofit/>
          </a:bodyPr>
          <a:lstStyle/>
          <a:p>
            <a:r>
              <a:rPr lang="en-US" dirty="0">
                <a:cs typeface="Courier New" panose="02070309020205020404" pitchFamily="49" charset="0"/>
              </a:rPr>
              <a:t>Pull down the </a:t>
            </a:r>
            <a:r>
              <a:rPr lang="en-US" dirty="0" err="1">
                <a:cs typeface="Courier New" panose="02070309020205020404" pitchFamily="49" charset="0"/>
              </a:rPr>
              <a:t>BootcampData</a:t>
            </a:r>
            <a:r>
              <a:rPr lang="en-US" dirty="0">
                <a:cs typeface="Courier New" panose="02070309020205020404" pitchFamily="49" charset="0"/>
              </a:rPr>
              <a:t> repository…move or copy the script into your script directory and the files into your data directory.</a:t>
            </a:r>
          </a:p>
          <a:p>
            <a:pPr marL="0" indent="0">
              <a:buNone/>
            </a:pPr>
            <a:endParaRPr lang="en-US" dirty="0">
              <a:cs typeface="Courier New" panose="02070309020205020404" pitchFamily="49" charset="0"/>
            </a:endParaRPr>
          </a:p>
          <a:p>
            <a:r>
              <a:rPr lang="en-US" dirty="0">
                <a:cs typeface="Courier New" panose="02070309020205020404" pitchFamily="49" charset="0"/>
              </a:rPr>
              <a:t>Use commands you have learned to look at the contents of the script you just downloaded to understand what it is going to do when executed…you can test the command by typing out the contents of the script yourself in a terminal.</a:t>
            </a:r>
          </a:p>
          <a:p>
            <a:endParaRPr lang="en-US" dirty="0">
              <a:cs typeface="Courier New" panose="02070309020205020404" pitchFamily="49" charset="0"/>
            </a:endParaRPr>
          </a:p>
          <a:p>
            <a:r>
              <a:rPr lang="en-US" dirty="0">
                <a:cs typeface="Courier New" panose="02070309020205020404" pitchFamily="49" charset="0"/>
              </a:rPr>
              <a:t>What does this script do?</a:t>
            </a:r>
          </a:p>
        </p:txBody>
      </p:sp>
    </p:spTree>
    <p:extLst>
      <p:ext uri="{BB962C8B-B14F-4D97-AF65-F5344CB8AC3E}">
        <p14:creationId xmlns:p14="http://schemas.microsoft.com/office/powerpoint/2010/main" val="40297211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CC012-E15E-D34E-88D3-B8BE5CD01CAA}"/>
              </a:ext>
            </a:extLst>
          </p:cNvPr>
          <p:cNvSpPr>
            <a:spLocks noGrp="1"/>
          </p:cNvSpPr>
          <p:nvPr>
            <p:ph type="title"/>
          </p:nvPr>
        </p:nvSpPr>
        <p:spPr/>
        <p:txBody>
          <a:bodyPr>
            <a:normAutofit/>
          </a:bodyPr>
          <a:lstStyle/>
          <a:p>
            <a:r>
              <a:rPr lang="en-US" sz="5400" b="1" dirty="0"/>
              <a:t>Exercise</a:t>
            </a:r>
          </a:p>
        </p:txBody>
      </p:sp>
      <p:sp>
        <p:nvSpPr>
          <p:cNvPr id="3" name="Content Placeholder 2">
            <a:extLst>
              <a:ext uri="{FF2B5EF4-FFF2-40B4-BE49-F238E27FC236}">
                <a16:creationId xmlns:a16="http://schemas.microsoft.com/office/drawing/2014/main" id="{24D2CB4C-FF0D-B04B-9253-2A6BC9EE71C5}"/>
              </a:ext>
            </a:extLst>
          </p:cNvPr>
          <p:cNvSpPr>
            <a:spLocks noGrp="1"/>
          </p:cNvSpPr>
          <p:nvPr>
            <p:ph idx="1"/>
          </p:nvPr>
        </p:nvSpPr>
        <p:spPr/>
        <p:txBody>
          <a:bodyPr/>
          <a:lstStyle/>
          <a:p>
            <a:r>
              <a:rPr lang="en-US" dirty="0">
                <a:cs typeface="Courier New" panose="02070309020205020404" pitchFamily="49" charset="0"/>
              </a:rPr>
              <a:t>Modify the script behavior in some way and save it as a new script file called </a:t>
            </a:r>
            <a:r>
              <a:rPr lang="en-US" dirty="0" err="1">
                <a:highlight>
                  <a:srgbClr val="FFFF00"/>
                </a:highlight>
                <a:cs typeface="Courier New" panose="02070309020205020404" pitchFamily="49" charset="0"/>
              </a:rPr>
              <a:t>my_new_script.sh</a:t>
            </a:r>
            <a:r>
              <a:rPr lang="en-US" dirty="0">
                <a:highlight>
                  <a:srgbClr val="FFFF00"/>
                </a:highlight>
                <a:cs typeface="Courier New" panose="02070309020205020404" pitchFamily="49" charset="0"/>
              </a:rPr>
              <a:t> </a:t>
            </a:r>
            <a:r>
              <a:rPr lang="en-US" dirty="0">
                <a:cs typeface="Courier New" panose="02070309020205020404" pitchFamily="49" charset="0"/>
              </a:rPr>
              <a:t>– make sure it is in your </a:t>
            </a:r>
            <a:r>
              <a:rPr lang="en-US" dirty="0">
                <a:solidFill>
                  <a:srgbClr val="0070C0"/>
                </a:solidFill>
                <a:cs typeface="Courier New" panose="02070309020205020404" pitchFamily="49" charset="0"/>
              </a:rPr>
              <a:t>scripts</a:t>
            </a:r>
            <a:r>
              <a:rPr lang="en-US" dirty="0">
                <a:cs typeface="Courier New" panose="02070309020205020404" pitchFamily="49" charset="0"/>
              </a:rPr>
              <a:t> directory.</a:t>
            </a:r>
          </a:p>
          <a:p>
            <a:pPr marL="0" indent="0">
              <a:buNone/>
            </a:pPr>
            <a:endParaRPr lang="en-US" dirty="0">
              <a:cs typeface="Courier New" panose="02070309020205020404" pitchFamily="49" charset="0"/>
            </a:endParaRPr>
          </a:p>
          <a:p>
            <a:r>
              <a:rPr lang="en-US" dirty="0">
                <a:cs typeface="Courier New" panose="02070309020205020404" pitchFamily="49" charset="0"/>
              </a:rPr>
              <a:t>Use </a:t>
            </a:r>
            <a:r>
              <a:rPr lang="en-US" b="1" dirty="0" err="1">
                <a:solidFill>
                  <a:srgbClr val="FF0000"/>
                </a:solidFill>
                <a:latin typeface="Courier New" panose="02070309020205020404" pitchFamily="49" charset="0"/>
                <a:cs typeface="Courier New" panose="02070309020205020404" pitchFamily="49" charset="0"/>
              </a:rPr>
              <a:t>chmod</a:t>
            </a:r>
            <a:r>
              <a:rPr lang="en-US" dirty="0">
                <a:cs typeface="Courier New" panose="02070309020205020404" pitchFamily="49" charset="0"/>
              </a:rPr>
              <a:t> to make both scripts executable if they are not already.</a:t>
            </a:r>
          </a:p>
          <a:p>
            <a:pPr marL="0" indent="0">
              <a:buNone/>
            </a:pPr>
            <a:endParaRPr lang="en-US" dirty="0">
              <a:cs typeface="Courier New" panose="02070309020205020404" pitchFamily="49" charset="0"/>
            </a:endParaRPr>
          </a:p>
          <a:p>
            <a:r>
              <a:rPr lang="en-US" dirty="0">
                <a:cs typeface="Courier New" panose="02070309020205020404" pitchFamily="49" charset="0"/>
              </a:rPr>
              <a:t>Execute both scripts to see if they work!</a:t>
            </a:r>
          </a:p>
          <a:p>
            <a:endParaRPr lang="en-US" dirty="0"/>
          </a:p>
        </p:txBody>
      </p:sp>
    </p:spTree>
    <p:extLst>
      <p:ext uri="{BB962C8B-B14F-4D97-AF65-F5344CB8AC3E}">
        <p14:creationId xmlns:p14="http://schemas.microsoft.com/office/powerpoint/2010/main" val="256867395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6737E-36D9-404A-BAC1-C34215AA0175}"/>
              </a:ext>
            </a:extLst>
          </p:cNvPr>
          <p:cNvSpPr>
            <a:spLocks noGrp="1"/>
          </p:cNvSpPr>
          <p:nvPr>
            <p:ph type="title"/>
          </p:nvPr>
        </p:nvSpPr>
        <p:spPr/>
        <p:txBody>
          <a:bodyPr>
            <a:normAutofit/>
          </a:bodyPr>
          <a:lstStyle/>
          <a:p>
            <a:r>
              <a:rPr lang="en-US" sz="5400" b="1" dirty="0"/>
              <a:t>Exercise</a:t>
            </a:r>
          </a:p>
        </p:txBody>
      </p:sp>
      <p:sp>
        <p:nvSpPr>
          <p:cNvPr id="3" name="Content Placeholder 2">
            <a:extLst>
              <a:ext uri="{FF2B5EF4-FFF2-40B4-BE49-F238E27FC236}">
                <a16:creationId xmlns:a16="http://schemas.microsoft.com/office/drawing/2014/main" id="{D3C82EE9-7F19-ED49-AB9B-338FED6E59B8}"/>
              </a:ext>
            </a:extLst>
          </p:cNvPr>
          <p:cNvSpPr>
            <a:spLocks noGrp="1"/>
          </p:cNvSpPr>
          <p:nvPr>
            <p:ph idx="1"/>
          </p:nvPr>
        </p:nvSpPr>
        <p:spPr/>
        <p:txBody>
          <a:bodyPr/>
          <a:lstStyle/>
          <a:p>
            <a:pPr marL="0" indent="0">
              <a:buNone/>
            </a:pPr>
            <a:r>
              <a:rPr lang="en-US" dirty="0">
                <a:cs typeface="Courier New" panose="02070309020205020404" pitchFamily="49" charset="0"/>
              </a:rPr>
              <a:t>Make a pipeline that sends the percentage of degrees awarded to women in computer science </a:t>
            </a:r>
            <a:r>
              <a:rPr lang="en-US" u="sng" dirty="0">
                <a:cs typeface="Courier New" panose="02070309020205020404" pitchFamily="49" charset="0"/>
              </a:rPr>
              <a:t>in the year you were born </a:t>
            </a:r>
            <a:r>
              <a:rPr lang="en-US" dirty="0">
                <a:cs typeface="Courier New" panose="02070309020205020404" pitchFamily="49" charset="0"/>
              </a:rPr>
              <a:t>to a new text file called </a:t>
            </a:r>
            <a:r>
              <a:rPr lang="en-US" dirty="0" err="1">
                <a:highlight>
                  <a:srgbClr val="FFFF00"/>
                </a:highlight>
                <a:cs typeface="Courier New" panose="02070309020205020404" pitchFamily="49" charset="0"/>
              </a:rPr>
              <a:t>birthyear_degrees.txt</a:t>
            </a:r>
            <a:endParaRPr lang="en-US" dirty="0">
              <a:highlight>
                <a:srgbClr val="FFFF00"/>
              </a:highlight>
              <a:cs typeface="Courier New" panose="02070309020205020404" pitchFamily="49" charset="0"/>
            </a:endParaRPr>
          </a:p>
          <a:p>
            <a:pPr marL="0" indent="0">
              <a:buNone/>
            </a:pPr>
            <a:endParaRPr lang="en-US" dirty="0">
              <a:cs typeface="Courier New" panose="02070309020205020404" pitchFamily="49" charset="0"/>
            </a:endParaRPr>
          </a:p>
          <a:p>
            <a:pPr marL="0" indent="0">
              <a:buNone/>
            </a:pPr>
            <a:r>
              <a:rPr lang="en-US" dirty="0">
                <a:cs typeface="Courier New" panose="02070309020205020404" pitchFamily="49" charset="0"/>
              </a:rPr>
              <a:t>How many genes are present in the </a:t>
            </a:r>
            <a:r>
              <a:rPr lang="en-US" i="1" dirty="0">
                <a:cs typeface="Courier New" panose="02070309020205020404" pitchFamily="49" charset="0"/>
              </a:rPr>
              <a:t>F. </a:t>
            </a:r>
            <a:r>
              <a:rPr lang="en-US" i="1" dirty="0" err="1">
                <a:cs typeface="Courier New" panose="02070309020205020404" pitchFamily="49" charset="0"/>
              </a:rPr>
              <a:t>tullarensis</a:t>
            </a:r>
            <a:r>
              <a:rPr lang="en-US" dirty="0">
                <a:cs typeface="Courier New" panose="02070309020205020404" pitchFamily="49" charset="0"/>
              </a:rPr>
              <a:t> protein csv?</a:t>
            </a:r>
          </a:p>
          <a:p>
            <a:pPr marL="0" indent="0">
              <a:buNone/>
            </a:pPr>
            <a:r>
              <a:rPr lang="en-US" dirty="0">
                <a:cs typeface="Courier New" panose="02070309020205020404" pitchFamily="49" charset="0"/>
              </a:rPr>
              <a:t>How many are called ‘hypothetical protein’?</a:t>
            </a:r>
          </a:p>
          <a:p>
            <a:pPr marL="0" indent="0">
              <a:buNone/>
            </a:pPr>
            <a:endParaRPr lang="en-US" dirty="0">
              <a:cs typeface="Courier New" panose="02070309020205020404" pitchFamily="49" charset="0"/>
            </a:endParaRPr>
          </a:p>
          <a:p>
            <a:pPr marL="0" indent="0">
              <a:buNone/>
            </a:pPr>
            <a:r>
              <a:rPr lang="en-US" dirty="0">
                <a:cs typeface="Courier New" panose="02070309020205020404" pitchFamily="49" charset="0"/>
              </a:rPr>
              <a:t>How large is the </a:t>
            </a:r>
            <a:r>
              <a:rPr lang="en-US" i="1" dirty="0">
                <a:cs typeface="Courier New" panose="02070309020205020404" pitchFamily="49" charset="0"/>
              </a:rPr>
              <a:t>F. </a:t>
            </a:r>
            <a:r>
              <a:rPr lang="en-US" i="1" dirty="0" err="1">
                <a:cs typeface="Courier New" panose="02070309020205020404" pitchFamily="49" charset="0"/>
              </a:rPr>
              <a:t>tullarensis</a:t>
            </a:r>
            <a:r>
              <a:rPr lang="en-US" i="1" dirty="0">
                <a:cs typeface="Courier New" panose="02070309020205020404" pitchFamily="49" charset="0"/>
              </a:rPr>
              <a:t> </a:t>
            </a:r>
            <a:r>
              <a:rPr lang="en-US" dirty="0">
                <a:cs typeface="Courier New" panose="02070309020205020404" pitchFamily="49" charset="0"/>
              </a:rPr>
              <a:t>genome? To do this you will need to count the total number of nucleotides (ACGT)…</a:t>
            </a:r>
          </a:p>
          <a:p>
            <a:endParaRPr lang="en-US" dirty="0"/>
          </a:p>
        </p:txBody>
      </p:sp>
    </p:spTree>
    <p:extLst>
      <p:ext uri="{BB962C8B-B14F-4D97-AF65-F5344CB8AC3E}">
        <p14:creationId xmlns:p14="http://schemas.microsoft.com/office/powerpoint/2010/main" val="14489372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2594</TotalTime>
  <Words>2391</Words>
  <Application>Microsoft Macintosh PowerPoint</Application>
  <PresentationFormat>Widescreen</PresentationFormat>
  <Paragraphs>391</Paragraphs>
  <Slides>50</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Arial</vt:lpstr>
      <vt:lpstr>Calibri</vt:lpstr>
      <vt:lpstr>Calibri Light</vt:lpstr>
      <vt:lpstr>Courier New</vt:lpstr>
      <vt:lpstr>Office Theme</vt:lpstr>
      <vt:lpstr>Exploring Use of CLI</vt:lpstr>
      <vt:lpstr>PowerPoint Presentation</vt:lpstr>
      <vt:lpstr>Exploring Use of CLI</vt:lpstr>
      <vt:lpstr>Exploring Use of CLI</vt:lpstr>
      <vt:lpstr>PowerPoint Presentation</vt:lpstr>
      <vt:lpstr>Exploring Use of CLI</vt:lpstr>
      <vt:lpstr>Files and Directories</vt:lpstr>
      <vt:lpstr>Files and Directories</vt:lpstr>
      <vt:lpstr>Files and Directories</vt:lpstr>
      <vt:lpstr>Files and Directories</vt:lpstr>
      <vt:lpstr>Files and Directories</vt:lpstr>
      <vt:lpstr>PowerPoint Presentation</vt:lpstr>
      <vt:lpstr>Files and Directories</vt:lpstr>
      <vt:lpstr>Files and Directories</vt:lpstr>
      <vt:lpstr>Files and Directories</vt:lpstr>
      <vt:lpstr>** Download git repository **</vt:lpstr>
      <vt:lpstr>Files and Directories</vt:lpstr>
      <vt:lpstr>Pipes: first command | second command</vt:lpstr>
      <vt:lpstr>Finding Help</vt:lpstr>
      <vt:lpstr>man pages</vt:lpstr>
      <vt:lpstr>Online Resources</vt:lpstr>
      <vt:lpstr>Mini-Exercise 1</vt:lpstr>
      <vt:lpstr>Basic shell commands</vt:lpstr>
      <vt:lpstr>File permissions…</vt:lpstr>
      <vt:lpstr>PowerPoint Presentation</vt:lpstr>
      <vt:lpstr>PowerPoint Presentation</vt:lpstr>
      <vt:lpstr>Other useful text file commands</vt:lpstr>
      <vt:lpstr>Searching and Modifying Files</vt:lpstr>
      <vt:lpstr>Text Editor Options – GUI and CLI</vt:lpstr>
      <vt:lpstr>Finding Patterns - grep</vt:lpstr>
      <vt:lpstr>Make a file that looks like this:</vt:lpstr>
      <vt:lpstr>Now let’s grep!</vt:lpstr>
      <vt:lpstr>Now let’s grep!</vt:lpstr>
      <vt:lpstr>Now let’s grep!</vt:lpstr>
      <vt:lpstr>Now let’s grep!</vt:lpstr>
      <vt:lpstr>regex = regular expressions</vt:lpstr>
      <vt:lpstr>grep can use regular expressions</vt:lpstr>
      <vt:lpstr>Now let’s grep!</vt:lpstr>
      <vt:lpstr>Now let’s grep!</vt:lpstr>
      <vt:lpstr>egrep = grep + extended regular expressions</vt:lpstr>
      <vt:lpstr>Many tools/programs use regex</vt:lpstr>
      <vt:lpstr>Wildcards, special characters, alphanumeric</vt:lpstr>
      <vt:lpstr>line endings</vt:lpstr>
      <vt:lpstr>Quantifiers</vt:lpstr>
      <vt:lpstr>Positional/boundary symbols</vt:lpstr>
      <vt:lpstr>sed</vt:lpstr>
      <vt:lpstr>sed</vt:lpstr>
      <vt:lpstr>Exercise</vt:lpstr>
      <vt:lpstr>Exercise</vt:lpstr>
      <vt:lpstr>Exercise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Nicole Garrison</dc:creator>
  <cp:lastModifiedBy>Nicole Garrison</cp:lastModifiedBy>
  <cp:revision>38</cp:revision>
  <dcterms:created xsi:type="dcterms:W3CDTF">2021-07-04T19:47:02Z</dcterms:created>
  <dcterms:modified xsi:type="dcterms:W3CDTF">2021-07-08T11:33:02Z</dcterms:modified>
</cp:coreProperties>
</file>