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JetBrains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4" roundtripDataSignature="AMtx7mjP9aNNhmJwm8AukddgXqbwPIif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JetBrainsMono-bold.fntdata"/><Relationship Id="rId30" Type="http://schemas.openxmlformats.org/officeDocument/2006/relationships/font" Target="fonts/JetBrainsMono-regular.fntdata"/><Relationship Id="rId11" Type="http://schemas.openxmlformats.org/officeDocument/2006/relationships/slide" Target="slides/slide7.xml"/><Relationship Id="rId33" Type="http://schemas.openxmlformats.org/officeDocument/2006/relationships/font" Target="fonts/JetBrainsMono-boldItalic.fntdata"/><Relationship Id="rId10" Type="http://schemas.openxmlformats.org/officeDocument/2006/relationships/slide" Target="slides/slide6.xml"/><Relationship Id="rId32" Type="http://schemas.openxmlformats.org/officeDocument/2006/relationships/font" Target="fonts/JetBrainsMono-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e4da37309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e4da3730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e4da37309e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e4da37309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25"/>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5"/>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25"/>
          <p:cNvSpPr txBox="1"/>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lt1"/>
                </a:solidFill>
                <a:latin typeface="Calibri"/>
                <a:ea typeface="Calibri"/>
                <a:cs typeface="Calibri"/>
                <a:sym typeface="Calibri"/>
              </a:rPr>
              <a:t>Marshall University Joan C. Edwards School of Medicine</a:t>
            </a:r>
            <a:endParaRPr b="0" i="0" sz="12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6"/>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6"/>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6"/>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27"/>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7"/>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28"/>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8"/>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8"/>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9"/>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9"/>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9"/>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0"/>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0"/>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0"/>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31"/>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1"/>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1"/>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3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32"/>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2"/>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2"/>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33"/>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6" name="Google Shape;66;p3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33"/>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3"/>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3"/>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3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34"/>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4"/>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4"/>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3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35"/>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5"/>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5"/>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Calibri"/>
                <a:ea typeface="Calibri"/>
                <a:cs typeface="Calibri"/>
                <a:sym typeface="Calibri"/>
              </a:defRPr>
            </a:lvl1pPr>
            <a:lvl2pPr indent="0" lvl="1" marL="0" marR="0" rtl="0" algn="r">
              <a:spcBef>
                <a:spcPts val="0"/>
              </a:spcBef>
              <a:buNone/>
              <a:defRPr b="0" i="0" sz="1200" u="none" cap="none" strike="noStrike">
                <a:solidFill>
                  <a:schemeClr val="lt1"/>
                </a:solidFill>
                <a:latin typeface="Calibri"/>
                <a:ea typeface="Calibri"/>
                <a:cs typeface="Calibri"/>
                <a:sym typeface="Calibri"/>
              </a:defRPr>
            </a:lvl2pPr>
            <a:lvl3pPr indent="0" lvl="2" marL="0" marR="0" rtl="0" algn="r">
              <a:spcBef>
                <a:spcPts val="0"/>
              </a:spcBef>
              <a:buNone/>
              <a:defRPr b="0" i="0" sz="1200" u="none" cap="none" strike="noStrike">
                <a:solidFill>
                  <a:schemeClr val="lt1"/>
                </a:solidFill>
                <a:latin typeface="Calibri"/>
                <a:ea typeface="Calibri"/>
                <a:cs typeface="Calibri"/>
                <a:sym typeface="Calibri"/>
              </a:defRPr>
            </a:lvl3pPr>
            <a:lvl4pPr indent="0" lvl="3" marL="0" marR="0" rtl="0" algn="r">
              <a:spcBef>
                <a:spcPts val="0"/>
              </a:spcBef>
              <a:buNone/>
              <a:defRPr b="0" i="0" sz="1200" u="none" cap="none" strike="noStrike">
                <a:solidFill>
                  <a:schemeClr val="lt1"/>
                </a:solidFill>
                <a:latin typeface="Calibri"/>
                <a:ea typeface="Calibri"/>
                <a:cs typeface="Calibri"/>
                <a:sym typeface="Calibri"/>
              </a:defRPr>
            </a:lvl4pPr>
            <a:lvl5pPr indent="0" lvl="4" marL="0" marR="0" rtl="0" algn="r">
              <a:spcBef>
                <a:spcPts val="0"/>
              </a:spcBef>
              <a:buNone/>
              <a:defRPr b="0" i="0" sz="1200" u="none" cap="none" strike="noStrike">
                <a:solidFill>
                  <a:schemeClr val="lt1"/>
                </a:solidFill>
                <a:latin typeface="Calibri"/>
                <a:ea typeface="Calibri"/>
                <a:cs typeface="Calibri"/>
                <a:sym typeface="Calibri"/>
              </a:defRPr>
            </a:lvl5pPr>
            <a:lvl6pPr indent="0" lvl="5" marL="0" marR="0" rtl="0" algn="r">
              <a:spcBef>
                <a:spcPts val="0"/>
              </a:spcBef>
              <a:buNone/>
              <a:defRPr b="0" i="0" sz="1200" u="none" cap="none" strike="noStrike">
                <a:solidFill>
                  <a:schemeClr val="lt1"/>
                </a:solidFill>
                <a:latin typeface="Calibri"/>
                <a:ea typeface="Calibri"/>
                <a:cs typeface="Calibri"/>
                <a:sym typeface="Calibri"/>
              </a:defRPr>
            </a:lvl6pPr>
            <a:lvl7pPr indent="0" lvl="6" marL="0" marR="0" rtl="0" algn="r">
              <a:spcBef>
                <a:spcPts val="0"/>
              </a:spcBef>
              <a:buNone/>
              <a:defRPr b="0" i="0" sz="1200" u="none" cap="none" strike="noStrike">
                <a:solidFill>
                  <a:schemeClr val="lt1"/>
                </a:solidFill>
                <a:latin typeface="Calibri"/>
                <a:ea typeface="Calibri"/>
                <a:cs typeface="Calibri"/>
                <a:sym typeface="Calibri"/>
              </a:defRPr>
            </a:lvl7pPr>
            <a:lvl8pPr indent="0" lvl="7" marL="0" marR="0" rtl="0" algn="r">
              <a:spcBef>
                <a:spcPts val="0"/>
              </a:spcBef>
              <a:buNone/>
              <a:defRPr b="0" i="0" sz="1200" u="none" cap="none" strike="noStrike">
                <a:solidFill>
                  <a:schemeClr val="lt1"/>
                </a:solidFill>
                <a:latin typeface="Calibri"/>
                <a:ea typeface="Calibri"/>
                <a:cs typeface="Calibri"/>
                <a:sym typeface="Calibri"/>
              </a:defRPr>
            </a:lvl8pPr>
            <a:lvl9pPr indent="0" lvl="8" marL="0" marR="0" rt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24"/>
          <p:cNvSpPr/>
          <p:nvPr/>
        </p:nvSpPr>
        <p:spPr>
          <a:xfrm>
            <a:off x="221381" y="1184031"/>
            <a:ext cx="385011" cy="5537443"/>
          </a:xfrm>
          <a:prstGeom prst="rect">
            <a:avLst/>
          </a:prstGeom>
          <a:solidFill>
            <a:srgbClr val="00AF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 name="Google Shape;12;p24"/>
          <p:cNvPicPr preferRelativeResize="0"/>
          <p:nvPr/>
        </p:nvPicPr>
        <p:blipFill rotWithShape="1">
          <a:blip r:embed="rId1">
            <a:alphaModFix/>
          </a:blip>
          <a:srcRect b="0" l="0" r="77036" t="0"/>
          <a:stretch/>
        </p:blipFill>
        <p:spPr>
          <a:xfrm>
            <a:off x="127596" y="365125"/>
            <a:ext cx="622681" cy="66137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r-project.org/" TargetMode="External"/><Relationship Id="rId4" Type="http://schemas.openxmlformats.org/officeDocument/2006/relationships/hyperlink" Target="https://cran.r-project.org/mirrors.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rstudio.com/products/rstudio/download/" TargetMode="Externa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Introduction to R and tidyverse</a:t>
            </a:r>
            <a:endParaRPr/>
          </a:p>
        </p:txBody>
      </p:sp>
      <p:sp>
        <p:nvSpPr>
          <p:cNvPr id="87" name="Google Shape;87;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WV-INBRE Bioinformatics Bootcamp</a:t>
            </a:r>
            <a:endParaRPr/>
          </a:p>
          <a:p>
            <a:pPr indent="0" lvl="0" marL="0" rtl="0" algn="ctr">
              <a:lnSpc>
                <a:spcPct val="90000"/>
              </a:lnSpc>
              <a:spcBef>
                <a:spcPts val="1000"/>
              </a:spcBef>
              <a:spcAft>
                <a:spcPts val="0"/>
              </a:spcAft>
              <a:buClr>
                <a:schemeClr val="dk1"/>
              </a:buClr>
              <a:buSzPts val="2400"/>
              <a:buNone/>
            </a:pPr>
            <a:r>
              <a:rPr lang="en-US"/>
              <a:t>Summer 2021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R?</a:t>
            </a:r>
            <a:endParaRPr/>
          </a:p>
        </p:txBody>
      </p:sp>
      <p:sp>
        <p:nvSpPr>
          <p:cNvPr id="93" name="Google Shape;9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 is a programming language and statistical computing environment</a:t>
            </a:r>
            <a:endParaRPr/>
          </a:p>
          <a:p>
            <a:pPr indent="-228600" lvl="0" marL="228600" rtl="0" algn="l">
              <a:lnSpc>
                <a:spcPct val="90000"/>
              </a:lnSpc>
              <a:spcBef>
                <a:spcPts val="1000"/>
              </a:spcBef>
              <a:spcAft>
                <a:spcPts val="0"/>
              </a:spcAft>
              <a:buClr>
                <a:schemeClr val="dk1"/>
              </a:buClr>
              <a:buSzPts val="2800"/>
              <a:buChar char="•"/>
            </a:pPr>
            <a:r>
              <a:rPr lang="en-US"/>
              <a:t>Why another language?</a:t>
            </a:r>
            <a:endParaRPr/>
          </a:p>
          <a:p>
            <a:pPr indent="-228600" lvl="1" marL="685800" rtl="0" algn="l">
              <a:lnSpc>
                <a:spcPct val="90000"/>
              </a:lnSpc>
              <a:spcBef>
                <a:spcPts val="500"/>
              </a:spcBef>
              <a:spcAft>
                <a:spcPts val="0"/>
              </a:spcAft>
              <a:buClr>
                <a:schemeClr val="dk1"/>
              </a:buClr>
              <a:buSzPts val="2400"/>
              <a:buChar char="•"/>
            </a:pPr>
            <a:r>
              <a:rPr lang="en-US"/>
              <a:t>Different programming languages are designed with specific use cases in mind</a:t>
            </a:r>
            <a:endParaRPr/>
          </a:p>
          <a:p>
            <a:pPr indent="-228600" lvl="1" marL="685800" rtl="0" algn="l">
              <a:lnSpc>
                <a:spcPct val="90000"/>
              </a:lnSpc>
              <a:spcBef>
                <a:spcPts val="500"/>
              </a:spcBef>
              <a:spcAft>
                <a:spcPts val="0"/>
              </a:spcAft>
              <a:buClr>
                <a:schemeClr val="dk1"/>
              </a:buClr>
              <a:buSzPts val="2400"/>
              <a:buChar char="•"/>
            </a:pPr>
            <a:r>
              <a:rPr lang="en-US"/>
              <a:t>Bash is a shell scripting language</a:t>
            </a:r>
            <a:endParaRPr/>
          </a:p>
          <a:p>
            <a:pPr indent="-228600" lvl="2" marL="1143000" rtl="0" algn="l">
              <a:lnSpc>
                <a:spcPct val="90000"/>
              </a:lnSpc>
              <a:spcBef>
                <a:spcPts val="500"/>
              </a:spcBef>
              <a:spcAft>
                <a:spcPts val="0"/>
              </a:spcAft>
              <a:buClr>
                <a:schemeClr val="dk1"/>
              </a:buClr>
              <a:buSzPts val="2000"/>
              <a:buChar char="•"/>
            </a:pPr>
            <a:r>
              <a:rPr lang="en-US"/>
              <a:t>Useful for invoking executables in UNIX/Linux and for automating system administration tasks</a:t>
            </a:r>
            <a:endParaRPr/>
          </a:p>
          <a:p>
            <a:pPr indent="-228600" lvl="1" marL="685800" rtl="0" algn="l">
              <a:lnSpc>
                <a:spcPct val="90000"/>
              </a:lnSpc>
              <a:spcBef>
                <a:spcPts val="500"/>
              </a:spcBef>
              <a:spcAft>
                <a:spcPts val="0"/>
              </a:spcAft>
              <a:buClr>
                <a:schemeClr val="dk1"/>
              </a:buClr>
              <a:buSzPts val="2400"/>
              <a:buChar char="•"/>
            </a:pPr>
            <a:r>
              <a:rPr lang="en-US"/>
              <a:t>Python is a general-purpose programming language</a:t>
            </a:r>
            <a:endParaRPr/>
          </a:p>
          <a:p>
            <a:pPr indent="-228600" lvl="2" marL="1143000" rtl="0" algn="l">
              <a:lnSpc>
                <a:spcPct val="90000"/>
              </a:lnSpc>
              <a:spcBef>
                <a:spcPts val="500"/>
              </a:spcBef>
              <a:spcAft>
                <a:spcPts val="0"/>
              </a:spcAft>
              <a:buClr>
                <a:schemeClr val="dk1"/>
              </a:buClr>
              <a:buSzPts val="2000"/>
              <a:buChar char="•"/>
            </a:pPr>
            <a:r>
              <a:rPr lang="en-US"/>
              <a:t>Good for processing data, implementing complex algorithms</a:t>
            </a:r>
            <a:endParaRPr/>
          </a:p>
          <a:p>
            <a:pPr indent="-228600" lvl="1" marL="685800" rtl="0" algn="l">
              <a:lnSpc>
                <a:spcPct val="90000"/>
              </a:lnSpc>
              <a:spcBef>
                <a:spcPts val="500"/>
              </a:spcBef>
              <a:spcAft>
                <a:spcPts val="0"/>
              </a:spcAft>
              <a:buClr>
                <a:schemeClr val="dk1"/>
              </a:buClr>
              <a:buSzPts val="2400"/>
              <a:buChar char="•"/>
            </a:pPr>
            <a:r>
              <a:rPr lang="en-US"/>
              <a:t>R is a statistical computing language</a:t>
            </a:r>
            <a:endParaRPr/>
          </a:p>
          <a:p>
            <a:pPr indent="-228600" lvl="2" marL="1143000" rtl="0" algn="l">
              <a:lnSpc>
                <a:spcPct val="90000"/>
              </a:lnSpc>
              <a:spcBef>
                <a:spcPts val="500"/>
              </a:spcBef>
              <a:spcAft>
                <a:spcPts val="0"/>
              </a:spcAft>
              <a:buClr>
                <a:schemeClr val="dk1"/>
              </a:buClr>
              <a:buSzPts val="2000"/>
              <a:buChar char="•"/>
            </a:pPr>
            <a:r>
              <a:rPr lang="en-US"/>
              <a:t>Designed to make it easy to perform statistical analyses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Installing R</a:t>
            </a:r>
            <a:endParaRPr/>
          </a:p>
        </p:txBody>
      </p:sp>
      <p:sp>
        <p:nvSpPr>
          <p:cNvPr id="99" name="Google Shape;9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Navigate to </a:t>
            </a:r>
            <a:r>
              <a:rPr lang="en-US" u="sng">
                <a:solidFill>
                  <a:schemeClr val="hlink"/>
                </a:solidFill>
                <a:hlinkClick r:id="rId3"/>
              </a:rPr>
              <a:t>https://www.r-project.org</a:t>
            </a:r>
            <a:r>
              <a:rPr lang="en-US"/>
              <a:t>.</a:t>
            </a:r>
            <a:endParaRPr/>
          </a:p>
          <a:p>
            <a:pPr indent="-228600" lvl="0" marL="228600" rtl="0" algn="l">
              <a:lnSpc>
                <a:spcPct val="90000"/>
              </a:lnSpc>
              <a:spcBef>
                <a:spcPts val="1000"/>
              </a:spcBef>
              <a:spcAft>
                <a:spcPts val="0"/>
              </a:spcAft>
              <a:buClr>
                <a:schemeClr val="dk1"/>
              </a:buClr>
              <a:buSzPct val="100000"/>
              <a:buChar char="•"/>
            </a:pPr>
            <a:r>
              <a:rPr lang="en-US"/>
              <a:t>Click on the </a:t>
            </a:r>
            <a:r>
              <a:rPr lang="en-US" u="sng">
                <a:solidFill>
                  <a:schemeClr val="hlink"/>
                </a:solidFill>
                <a:hlinkClick r:id="rId4"/>
              </a:rPr>
              <a:t>download R</a:t>
            </a:r>
            <a:r>
              <a:rPr lang="en-US"/>
              <a:t> link.</a:t>
            </a:r>
            <a:endParaRPr/>
          </a:p>
          <a:p>
            <a:pPr indent="-228600" lvl="0" marL="228600" rtl="0" algn="l">
              <a:lnSpc>
                <a:spcPct val="90000"/>
              </a:lnSpc>
              <a:spcBef>
                <a:spcPts val="1000"/>
              </a:spcBef>
              <a:spcAft>
                <a:spcPts val="0"/>
              </a:spcAft>
              <a:buClr>
                <a:schemeClr val="dk1"/>
              </a:buClr>
              <a:buSzPct val="100000"/>
              <a:buChar char="•"/>
            </a:pPr>
            <a:r>
              <a:rPr lang="en-US"/>
              <a:t>This provides a list of mirror sites from which you can install R. It doesn't really matter which mirror you pick, but I usually choose the geographically closest one. Choose a mirror and click on the link.</a:t>
            </a:r>
            <a:endParaRPr/>
          </a:p>
          <a:p>
            <a:pPr indent="-228600" lvl="0" marL="228600" rtl="0" algn="l">
              <a:lnSpc>
                <a:spcPct val="90000"/>
              </a:lnSpc>
              <a:spcBef>
                <a:spcPts val="1000"/>
              </a:spcBef>
              <a:spcAft>
                <a:spcPts val="0"/>
              </a:spcAft>
              <a:buClr>
                <a:schemeClr val="dk1"/>
              </a:buClr>
              <a:buSzPct val="100000"/>
              <a:buChar char="•"/>
            </a:pPr>
            <a:r>
              <a:rPr lang="en-US"/>
              <a:t>In the first box at the top, click on the "Download R for (your operating system)" link.</a:t>
            </a:r>
            <a:endParaRPr/>
          </a:p>
          <a:p>
            <a:pPr indent="-228600" lvl="1" marL="685800" rtl="0" algn="l">
              <a:lnSpc>
                <a:spcPct val="90000"/>
              </a:lnSpc>
              <a:spcBef>
                <a:spcPts val="500"/>
              </a:spcBef>
              <a:spcAft>
                <a:spcPts val="0"/>
              </a:spcAft>
              <a:buClr>
                <a:schemeClr val="dk1"/>
              </a:buClr>
              <a:buSzPct val="100000"/>
              <a:buChar char="•"/>
            </a:pPr>
            <a:r>
              <a:rPr b="1" lang="en-US"/>
              <a:t>For Mac users:</a:t>
            </a:r>
            <a:r>
              <a:rPr lang="en-US"/>
              <a:t> click on the R pkg file for the latest version.</a:t>
            </a:r>
            <a:endParaRPr/>
          </a:p>
          <a:p>
            <a:pPr indent="-228600" lvl="1" marL="685800" rtl="0" algn="l">
              <a:lnSpc>
                <a:spcPct val="90000"/>
              </a:lnSpc>
              <a:spcBef>
                <a:spcPts val="500"/>
              </a:spcBef>
              <a:spcAft>
                <a:spcPts val="0"/>
              </a:spcAft>
              <a:buClr>
                <a:schemeClr val="dk1"/>
              </a:buClr>
              <a:buSzPct val="100000"/>
              <a:buChar char="•"/>
            </a:pPr>
            <a:r>
              <a:rPr b="1" lang="en-US"/>
              <a:t>For Windows users:</a:t>
            </a:r>
            <a:r>
              <a:rPr lang="en-US"/>
              <a:t> click on the "install R for the first time" link, and then click on the "Download R for windows" link for the current version.</a:t>
            </a:r>
            <a:endParaRPr/>
          </a:p>
          <a:p>
            <a:pPr indent="-228600" lvl="0" marL="228600" rtl="0" algn="l">
              <a:lnSpc>
                <a:spcPct val="90000"/>
              </a:lnSpc>
              <a:spcBef>
                <a:spcPts val="1000"/>
              </a:spcBef>
              <a:spcAft>
                <a:spcPts val="0"/>
              </a:spcAft>
              <a:buClr>
                <a:schemeClr val="dk1"/>
              </a:buClr>
              <a:buSzPct val="100000"/>
              <a:buChar char="•"/>
            </a:pPr>
            <a:r>
              <a:rPr lang="en-US"/>
              <a:t>When your download is complete, open it. Click through the default options, which will install R.</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Testing the R installation</a:t>
            </a:r>
            <a:endParaRPr/>
          </a:p>
        </p:txBody>
      </p:sp>
      <p:sp>
        <p:nvSpPr>
          <p:cNvPr id="105" name="Google Shape;10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b="1" lang="en-US" sz="2200"/>
              <a:t>For Mac users:</a:t>
            </a:r>
            <a:r>
              <a:rPr lang="en-US" sz="2200"/>
              <a:t> Open R either by clicking on the R app icon under Applications in Finder, or by finding the R app in LaunchPad</a:t>
            </a:r>
            <a:endParaRPr sz="2200"/>
          </a:p>
          <a:p>
            <a:pPr indent="-228600" lvl="0" marL="228600" rtl="0" algn="l">
              <a:lnSpc>
                <a:spcPct val="90000"/>
              </a:lnSpc>
              <a:spcBef>
                <a:spcPts val="1000"/>
              </a:spcBef>
              <a:spcAft>
                <a:spcPts val="0"/>
              </a:spcAft>
              <a:buClr>
                <a:schemeClr val="dk1"/>
              </a:buClr>
              <a:buSzPts val="2200"/>
              <a:buChar char="•"/>
            </a:pPr>
            <a:r>
              <a:rPr b="1" lang="en-US" sz="2200"/>
              <a:t>For Windows users:</a:t>
            </a:r>
            <a:r>
              <a:rPr lang="en-US" sz="2200"/>
              <a:t> Click on the start (windows) menu and find R under programs. There will be two versions: a 32-bit version and a 64-bit version. Choose the version appropriate for your operating system (which is almost certainly the 64-bit version, "x64").</a:t>
            </a:r>
            <a:endParaRPr/>
          </a:p>
          <a:p>
            <a:pPr indent="-228600" lvl="0" marL="228600" rtl="0" algn="l">
              <a:lnSpc>
                <a:spcPct val="90000"/>
              </a:lnSpc>
              <a:spcBef>
                <a:spcPts val="1000"/>
              </a:spcBef>
              <a:spcAft>
                <a:spcPts val="0"/>
              </a:spcAft>
              <a:buClr>
                <a:schemeClr val="dk1"/>
              </a:buClr>
              <a:buSzPts val="2200"/>
              <a:buChar char="•"/>
            </a:pPr>
            <a:r>
              <a:rPr lang="en-US" sz="2200"/>
              <a:t>You should see an application like the one shown</a:t>
            </a:r>
            <a:endParaRPr/>
          </a:p>
          <a:p>
            <a:pPr indent="-88900" lvl="0" marL="228600" rtl="0" algn="l">
              <a:lnSpc>
                <a:spcPct val="90000"/>
              </a:lnSpc>
              <a:spcBef>
                <a:spcPts val="1000"/>
              </a:spcBef>
              <a:spcAft>
                <a:spcPts val="0"/>
              </a:spcAft>
              <a:buClr>
                <a:schemeClr val="dk1"/>
              </a:buClr>
              <a:buSzPts val="2200"/>
              <a:buNone/>
            </a:pPr>
            <a:r>
              <a:t/>
            </a:r>
            <a:endParaRPr sz="2200"/>
          </a:p>
        </p:txBody>
      </p:sp>
      <p:pic>
        <p:nvPicPr>
          <p:cNvPr id="106" name="Google Shape;106;p4"/>
          <p:cNvPicPr preferRelativeResize="0"/>
          <p:nvPr/>
        </p:nvPicPr>
        <p:blipFill rotWithShape="1">
          <a:blip r:embed="rId3">
            <a:alphaModFix/>
          </a:blip>
          <a:srcRect b="0" l="0" r="0" t="0"/>
          <a:stretch/>
        </p:blipFill>
        <p:spPr>
          <a:xfrm>
            <a:off x="6172200" y="2382044"/>
            <a:ext cx="5181600" cy="3238500"/>
          </a:xfrm>
          <a:prstGeom prst="rect">
            <a:avLst/>
          </a:prstGeom>
          <a:solidFill>
            <a:srgbClr val="FFFFFF"/>
          </a:solid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Using R</a:t>
            </a:r>
            <a:endParaRPr/>
          </a:p>
        </p:txBody>
      </p:sp>
      <p:sp>
        <p:nvSpPr>
          <p:cNvPr id="112" name="Google Shape;112;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The R console is a Read-Evaluate-Print Loop (REPL)</a:t>
            </a:r>
            <a:endParaRPr/>
          </a:p>
          <a:p>
            <a:pPr indent="-228600" lvl="0" marL="228600" rtl="0" algn="l">
              <a:lnSpc>
                <a:spcPct val="90000"/>
              </a:lnSpc>
              <a:spcBef>
                <a:spcPts val="1000"/>
              </a:spcBef>
              <a:spcAft>
                <a:spcPts val="0"/>
              </a:spcAft>
              <a:buClr>
                <a:schemeClr val="dk1"/>
              </a:buClr>
              <a:buSzPts val="2800"/>
              <a:buChar char="•"/>
            </a:pPr>
            <a:r>
              <a:rPr lang="en-US"/>
              <a:t>The &gt; symbol is a prompt</a:t>
            </a:r>
            <a:endParaRPr/>
          </a:p>
          <a:p>
            <a:pPr indent="-228600" lvl="0" marL="228600" rtl="0" algn="l">
              <a:lnSpc>
                <a:spcPct val="90000"/>
              </a:lnSpc>
              <a:spcBef>
                <a:spcPts val="1000"/>
              </a:spcBef>
              <a:spcAft>
                <a:spcPts val="0"/>
              </a:spcAft>
              <a:buClr>
                <a:schemeClr val="dk1"/>
              </a:buClr>
              <a:buSzPts val="2800"/>
              <a:buChar char="•"/>
            </a:pPr>
            <a:r>
              <a:rPr lang="en-US"/>
              <a:t>Try typing </a:t>
            </a:r>
            <a:br>
              <a:rPr lang="en-US"/>
            </a:br>
            <a:r>
              <a:rPr lang="en-US">
                <a:highlight>
                  <a:srgbClr val="FFF2CC"/>
                </a:highlight>
                <a:latin typeface="JetBrains Mono"/>
                <a:ea typeface="JetBrains Mono"/>
                <a:cs typeface="JetBrains Mono"/>
                <a:sym typeface="JetBrains Mono"/>
              </a:rPr>
              <a:t>6 * 7</a:t>
            </a:r>
            <a:br>
              <a:rPr lang="en-US">
                <a:latin typeface="JetBrains Mono"/>
                <a:ea typeface="JetBrains Mono"/>
                <a:cs typeface="JetBrains Mono"/>
                <a:sym typeface="JetBrains Mono"/>
              </a:rPr>
            </a:br>
            <a:r>
              <a:rPr lang="en-US"/>
              <a:t>at the prompt</a:t>
            </a:r>
            <a:endParaRPr/>
          </a:p>
          <a:p>
            <a:pPr indent="-228600" lvl="0" marL="228600" rtl="0" algn="l">
              <a:lnSpc>
                <a:spcPct val="90000"/>
              </a:lnSpc>
              <a:spcBef>
                <a:spcPts val="1000"/>
              </a:spcBef>
              <a:spcAft>
                <a:spcPts val="0"/>
              </a:spcAft>
              <a:buClr>
                <a:schemeClr val="dk1"/>
              </a:buClr>
              <a:buSzPts val="2800"/>
              <a:buChar char="•"/>
            </a:pPr>
            <a:r>
              <a:rPr lang="en-US"/>
              <a:t>Since R is designed to do statistics, every data type in R represents a </a:t>
            </a:r>
            <a:r>
              <a:rPr i="1" lang="en-US"/>
              <a:t>collection</a:t>
            </a:r>
            <a:r>
              <a:rPr lang="en-US"/>
              <a:t> of values (similar to a list in python)</a:t>
            </a:r>
            <a:endParaRPr/>
          </a:p>
          <a:p>
            <a:pPr indent="-228600" lvl="1" marL="685800" rtl="0" algn="l">
              <a:lnSpc>
                <a:spcPct val="90000"/>
              </a:lnSpc>
              <a:spcBef>
                <a:spcPts val="500"/>
              </a:spcBef>
              <a:spcAft>
                <a:spcPts val="0"/>
              </a:spcAft>
              <a:buClr>
                <a:schemeClr val="dk1"/>
              </a:buClr>
              <a:buSzPts val="2400"/>
              <a:buChar char="•"/>
            </a:pPr>
            <a:r>
              <a:rPr i="1" lang="en-US"/>
              <a:t>Vectors </a:t>
            </a:r>
            <a:r>
              <a:rPr lang="en-US"/>
              <a:t>contain values all of the same type</a:t>
            </a:r>
            <a:endParaRPr/>
          </a:p>
          <a:p>
            <a:pPr indent="-228600" lvl="1" marL="685800" rtl="0" algn="l">
              <a:lnSpc>
                <a:spcPct val="90000"/>
              </a:lnSpc>
              <a:spcBef>
                <a:spcPts val="500"/>
              </a:spcBef>
              <a:spcAft>
                <a:spcPts val="0"/>
              </a:spcAft>
              <a:buClr>
                <a:schemeClr val="dk1"/>
              </a:buClr>
              <a:buSzPts val="2400"/>
              <a:buChar char="•"/>
            </a:pPr>
            <a:r>
              <a:rPr i="1" lang="en-US"/>
              <a:t>Lists</a:t>
            </a:r>
            <a:r>
              <a:rPr lang="en-US"/>
              <a:t> contain values that may be different types</a:t>
            </a:r>
            <a:endParaRPr i="1"/>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Creating a vector of values</a:t>
            </a:r>
            <a:endParaRPr/>
          </a:p>
        </p:txBody>
      </p:sp>
      <p:sp>
        <p:nvSpPr>
          <p:cNvPr id="118" name="Google Shape;118;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Try </a:t>
            </a:r>
            <a:br>
              <a:rPr lang="en-US"/>
            </a:br>
            <a:r>
              <a:rPr lang="en-US">
                <a:highlight>
                  <a:srgbClr val="FFF2CC"/>
                </a:highlight>
                <a:latin typeface="JetBrains Mono"/>
                <a:ea typeface="JetBrains Mono"/>
                <a:cs typeface="JetBrains Mono"/>
                <a:sym typeface="JetBrains Mono"/>
              </a:rPr>
              <a:t>x &lt;- c(2, 3, 5, 7, 8)</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The </a:t>
            </a:r>
            <a:r>
              <a:rPr lang="en-US">
                <a:latin typeface="JetBrains Mono"/>
                <a:ea typeface="JetBrains Mono"/>
                <a:cs typeface="JetBrains Mono"/>
                <a:sym typeface="JetBrains Mono"/>
              </a:rPr>
              <a:t>c</a:t>
            </a:r>
            <a:r>
              <a:rPr lang="en-US"/>
              <a:t> function is "combine"</a:t>
            </a:r>
            <a:endParaRPr/>
          </a:p>
          <a:p>
            <a:pPr indent="-228600" lvl="1" marL="685800" rtl="0" algn="l">
              <a:lnSpc>
                <a:spcPct val="90000"/>
              </a:lnSpc>
              <a:spcBef>
                <a:spcPts val="500"/>
              </a:spcBef>
              <a:spcAft>
                <a:spcPts val="0"/>
              </a:spcAft>
              <a:buClr>
                <a:schemeClr val="dk1"/>
              </a:buClr>
              <a:buSzPts val="2400"/>
              <a:buChar char="•"/>
            </a:pPr>
            <a:r>
              <a:rPr lang="en-US"/>
              <a:t>Combines values into a vector</a:t>
            </a:r>
            <a:endParaRPr/>
          </a:p>
          <a:p>
            <a:pPr indent="-190500" lvl="1" marL="685800" rtl="0" algn="l">
              <a:lnSpc>
                <a:spcPct val="90000"/>
              </a:lnSpc>
              <a:spcBef>
                <a:spcPts val="500"/>
              </a:spcBef>
              <a:spcAft>
                <a:spcPts val="0"/>
              </a:spcAft>
              <a:buSzPts val="1800"/>
              <a:buChar char="•"/>
            </a:pPr>
            <a:r>
              <a:rPr lang="en-US">
                <a:highlight>
                  <a:srgbClr val="FFF2CC"/>
                </a:highlight>
                <a:latin typeface="JetBrains Mono"/>
                <a:ea typeface="JetBrains Mono"/>
                <a:cs typeface="JetBrains Mono"/>
                <a:sym typeface="JetBrains Mono"/>
              </a:rPr>
              <a:t>&lt;-</a:t>
            </a:r>
            <a:r>
              <a:rPr lang="en-US"/>
              <a:t> is a combination of the less than (</a:t>
            </a:r>
            <a:r>
              <a:rPr lang="en-US">
                <a:highlight>
                  <a:srgbClr val="FFF2CC"/>
                </a:highlight>
                <a:latin typeface="JetBrains Mono"/>
                <a:ea typeface="JetBrains Mono"/>
                <a:cs typeface="JetBrains Mono"/>
                <a:sym typeface="JetBrains Mono"/>
              </a:rPr>
              <a:t>&lt;</a:t>
            </a:r>
            <a:r>
              <a:rPr lang="en-US"/>
              <a:t>) character and the minus sign (</a:t>
            </a:r>
            <a:r>
              <a:rPr lang="en-US">
                <a:highlight>
                  <a:srgbClr val="FFF2CC"/>
                </a:highlight>
                <a:latin typeface="JetBrains Mono"/>
                <a:ea typeface="JetBrains Mono"/>
                <a:cs typeface="JetBrains Mono"/>
                <a:sym typeface="JetBrains Mono"/>
              </a:rPr>
              <a:t>-</a:t>
            </a:r>
            <a:r>
              <a:rPr lang="en-US"/>
              <a:t>)</a:t>
            </a:r>
            <a:endParaRPr/>
          </a:p>
          <a:p>
            <a:pPr indent="-228600" lvl="0" marL="228600" rtl="0" algn="l">
              <a:lnSpc>
                <a:spcPct val="90000"/>
              </a:lnSpc>
              <a:spcBef>
                <a:spcPts val="1000"/>
              </a:spcBef>
              <a:spcAft>
                <a:spcPts val="0"/>
              </a:spcAft>
              <a:buClr>
                <a:schemeClr val="dk1"/>
              </a:buClr>
              <a:buSzPts val="2800"/>
              <a:buChar char="•"/>
            </a:pPr>
            <a:r>
              <a:rPr lang="en-US"/>
              <a:t>The </a:t>
            </a:r>
            <a:r>
              <a:rPr lang="en-US">
                <a:highlight>
                  <a:srgbClr val="FFF2CC"/>
                </a:highlight>
                <a:latin typeface="JetBrains Mono"/>
                <a:ea typeface="JetBrains Mono"/>
                <a:cs typeface="JetBrains Mono"/>
                <a:sym typeface="JetBrains Mono"/>
              </a:rPr>
              <a:t>&lt;-</a:t>
            </a:r>
            <a:r>
              <a:rPr lang="en-US"/>
              <a:t> combination of characters is an assignment operator</a:t>
            </a:r>
            <a:endParaRPr/>
          </a:p>
          <a:p>
            <a:pPr indent="-228600" lvl="1" marL="685800" rtl="0" algn="l">
              <a:lnSpc>
                <a:spcPct val="90000"/>
              </a:lnSpc>
              <a:spcBef>
                <a:spcPts val="500"/>
              </a:spcBef>
              <a:spcAft>
                <a:spcPts val="0"/>
              </a:spcAft>
              <a:buClr>
                <a:schemeClr val="dk1"/>
              </a:buClr>
              <a:buSzPts val="2400"/>
              <a:buChar char="•"/>
            </a:pPr>
            <a:r>
              <a:rPr lang="en-US"/>
              <a:t>Assign the vector to the variable </a:t>
            </a:r>
            <a:r>
              <a:rPr lang="en-US">
                <a:highlight>
                  <a:srgbClr val="FFF2CC"/>
                </a:highlight>
                <a:latin typeface="JetBrains Mono"/>
                <a:ea typeface="JetBrains Mono"/>
                <a:cs typeface="JetBrains Mono"/>
                <a:sym typeface="JetBrains Mono"/>
              </a:rPr>
              <a:t>x</a:t>
            </a:r>
            <a:endParaRPr>
              <a:highlight>
                <a:srgbClr val="FFF2CC"/>
              </a:highlight>
            </a:endParaRPr>
          </a:p>
          <a:p>
            <a:pPr indent="-228600" lvl="1" marL="685800" rtl="0" algn="l">
              <a:lnSpc>
                <a:spcPct val="90000"/>
              </a:lnSpc>
              <a:spcBef>
                <a:spcPts val="500"/>
              </a:spcBef>
              <a:spcAft>
                <a:spcPts val="0"/>
              </a:spcAft>
              <a:buClr>
                <a:schemeClr val="dk1"/>
              </a:buClr>
              <a:buSzPts val="2400"/>
              <a:buChar char="•"/>
            </a:pPr>
            <a:r>
              <a:rPr lang="en-US"/>
              <a:t>You can also use </a:t>
            </a:r>
            <a:r>
              <a:rPr lang="en-US">
                <a:latin typeface="JetBrains Mono"/>
                <a:ea typeface="JetBrains Mono"/>
                <a:cs typeface="JetBrains Mono"/>
                <a:sym typeface="JetBrains Mono"/>
              </a:rPr>
              <a:t>=</a:t>
            </a:r>
            <a:r>
              <a:rPr lang="en-US"/>
              <a:t> (I find </a:t>
            </a:r>
            <a:r>
              <a:rPr lang="en-US">
                <a:highlight>
                  <a:srgbClr val="FFF2CC"/>
                </a:highlight>
                <a:latin typeface="JetBrains Mono"/>
                <a:ea typeface="JetBrains Mono"/>
                <a:cs typeface="JetBrains Mono"/>
                <a:sym typeface="JetBrains Mono"/>
              </a:rPr>
              <a:t>&lt;-</a:t>
            </a:r>
            <a:r>
              <a:rPr lang="en-US"/>
              <a:t> more descriptive)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latin typeface="Calibri"/>
                <a:ea typeface="Calibri"/>
                <a:cs typeface="Calibri"/>
                <a:sym typeface="Calibri"/>
              </a:rPr>
              <a:t>Installing R Studio</a:t>
            </a:r>
            <a:endParaRPr/>
          </a:p>
        </p:txBody>
      </p:sp>
      <p:sp>
        <p:nvSpPr>
          <p:cNvPr id="124" name="Google Shape;124;p7"/>
          <p:cNvSpPr/>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Using the console on its own is not very user friendly. Here, we'll install RStudio, which will make things easier going forward. Note we'll still be typing commands, but RStudio will give us lots of useful functionality for managing those commands.</a:t>
            </a:r>
            <a:endParaRPr/>
          </a:p>
          <a:p>
            <a:pPr indent="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To download RStudio, navigate to </a:t>
            </a:r>
            <a:r>
              <a:rPr b="0" i="0" lang="en-US" sz="15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https://rstudio.com/products/rstudio/download/</a:t>
            </a:r>
            <a:endParaRPr b="0" i="0" sz="1500" u="none" cap="none" strike="noStrike">
              <a:solidFill>
                <a:schemeClr val="dk1"/>
              </a:solidFill>
              <a:latin typeface="Calibri"/>
              <a:ea typeface="Calibri"/>
              <a:cs typeface="Calibri"/>
              <a:sym typeface="Calibri"/>
            </a:endParaRPr>
          </a:p>
          <a:p>
            <a:pPr indent="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Scroll down and press the "Download" button under the free "RStudio Desktop" version.</a:t>
            </a:r>
            <a:endParaRPr/>
          </a:p>
          <a:p>
            <a:pPr indent="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You have already installed R, so under step 2, click on the "Download RStudio" for your operating system (which should be automatically detected).</a:t>
            </a:r>
            <a:endParaRPr/>
          </a:p>
          <a:p>
            <a:pPr indent="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When the file has downloaded, open it and install RStudio.</a:t>
            </a:r>
            <a:endParaRPr/>
          </a:p>
          <a:p>
            <a:pPr indent="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Open RStudio, which should now appear in the Start Menu (windows) or in LaunchPad or the Applications folder (Mac).</a:t>
            </a:r>
            <a:endParaRPr/>
          </a:p>
          <a:p>
            <a:pPr indent="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You should see a screen similar to this:            </a:t>
            </a:r>
            <a:endParaRPr/>
          </a:p>
          <a:p>
            <a:pPr indent="95250" lvl="0" marL="0" marR="0" rtl="0" algn="l">
              <a:lnSpc>
                <a:spcPct val="90000"/>
              </a:lnSpc>
              <a:spcBef>
                <a:spcPts val="600"/>
              </a:spcBef>
              <a:spcAft>
                <a:spcPts val="0"/>
              </a:spcAft>
              <a:buClr>
                <a:schemeClr val="dk1"/>
              </a:buClr>
              <a:buSzPts val="1500"/>
              <a:buFont typeface="Arial"/>
              <a:buNone/>
            </a:pPr>
            <a:r>
              <a:t/>
            </a:r>
            <a:endParaRPr b="0" i="0" sz="1500" u="none" cap="none" strike="noStrike">
              <a:solidFill>
                <a:schemeClr val="dk1"/>
              </a:solidFill>
              <a:latin typeface="Calibri"/>
              <a:ea typeface="Calibri"/>
              <a:cs typeface="Calibri"/>
              <a:sym typeface="Calibri"/>
            </a:endParaRPr>
          </a:p>
        </p:txBody>
      </p:sp>
      <p:pic>
        <p:nvPicPr>
          <p:cNvPr id="125" name="Google Shape;125;p7"/>
          <p:cNvPicPr preferRelativeResize="0"/>
          <p:nvPr/>
        </p:nvPicPr>
        <p:blipFill rotWithShape="1">
          <a:blip r:embed="rId4">
            <a:alphaModFix/>
          </a:blip>
          <a:srcRect b="0" l="0" r="0" t="0"/>
          <a:stretch/>
        </p:blipFill>
        <p:spPr>
          <a:xfrm>
            <a:off x="6172200" y="2356136"/>
            <a:ext cx="5181600" cy="3290315"/>
          </a:xfrm>
          <a:prstGeom prst="rect">
            <a:avLst/>
          </a:prstGeom>
          <a:solidFill>
            <a:srgbClr val="FFFFFF"/>
          </a:solid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Using R Studio</a:t>
            </a:r>
            <a:endParaRPr/>
          </a:p>
        </p:txBody>
      </p:sp>
      <p:sp>
        <p:nvSpPr>
          <p:cNvPr id="131" name="Google Shape;131;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In the "console" area on the left, we can do something similar to the work we did before. Type</a:t>
            </a:r>
            <a:br>
              <a:rPr lang="en-US"/>
            </a:br>
            <a:r>
              <a:rPr lang="en-US">
                <a:highlight>
                  <a:srgbClr val="FFF2CC"/>
                </a:highlight>
                <a:latin typeface="JetBrains Mono"/>
                <a:ea typeface="JetBrains Mono"/>
                <a:cs typeface="JetBrains Mono"/>
                <a:sym typeface="JetBrains Mono"/>
              </a:rPr>
              <a:t>x &lt;- c(2,3,5,7,8)</a:t>
            </a:r>
            <a:endParaRPr>
              <a:highlight>
                <a:srgbClr val="FFF2CC"/>
              </a:highlight>
            </a:endParaRPr>
          </a:p>
          <a:p>
            <a:pPr indent="-228600" lvl="0" marL="228600" rtl="0" algn="l">
              <a:lnSpc>
                <a:spcPct val="90000"/>
              </a:lnSpc>
              <a:spcBef>
                <a:spcPts val="1000"/>
              </a:spcBef>
              <a:spcAft>
                <a:spcPts val="0"/>
              </a:spcAft>
              <a:buClr>
                <a:schemeClr val="dk1"/>
              </a:buClr>
              <a:buSzPct val="100000"/>
              <a:buChar char="•"/>
            </a:pPr>
            <a:r>
              <a:rPr lang="en-US"/>
              <a:t>If you look in the "Environment" tab in the top right, you'll see that </a:t>
            </a:r>
            <a:r>
              <a:rPr lang="en-US">
                <a:highlight>
                  <a:srgbClr val="FFF2CC"/>
                </a:highlight>
                <a:latin typeface="JetBrains Mono"/>
                <a:ea typeface="JetBrains Mono"/>
                <a:cs typeface="JetBrains Mono"/>
                <a:sym typeface="JetBrains Mono"/>
              </a:rPr>
              <a:t>x</a:t>
            </a:r>
            <a:r>
              <a:rPr lang="en-US">
                <a:highlight>
                  <a:srgbClr val="FFF2CC"/>
                </a:highlight>
              </a:rPr>
              <a:t> </a:t>
            </a:r>
            <a:r>
              <a:rPr lang="en-US"/>
              <a:t>is displayed there, with its current value.</a:t>
            </a:r>
            <a:endParaRPr/>
          </a:p>
          <a:p>
            <a:pPr indent="-228600" lvl="0" marL="228600" rtl="0" algn="l">
              <a:lnSpc>
                <a:spcPct val="90000"/>
              </a:lnSpc>
              <a:spcBef>
                <a:spcPts val="1000"/>
              </a:spcBef>
              <a:spcAft>
                <a:spcPts val="0"/>
              </a:spcAft>
              <a:buClr>
                <a:schemeClr val="dk1"/>
              </a:buClr>
              <a:buSzPct val="100000"/>
              <a:buChar char="•"/>
            </a:pPr>
            <a:r>
              <a:rPr lang="en-US"/>
              <a:t>You can find the average of the five values in </a:t>
            </a:r>
            <a:r>
              <a:rPr lang="en-US">
                <a:highlight>
                  <a:srgbClr val="FFF2CC"/>
                </a:highlight>
                <a:latin typeface="JetBrains Mono"/>
                <a:ea typeface="JetBrains Mono"/>
                <a:cs typeface="JetBrains Mono"/>
                <a:sym typeface="JetBrains Mono"/>
              </a:rPr>
              <a:t>x</a:t>
            </a:r>
            <a:r>
              <a:rPr lang="en-US"/>
              <a:t> using the mean function:</a:t>
            </a:r>
            <a:br>
              <a:rPr lang="en-US"/>
            </a:br>
            <a:r>
              <a:rPr lang="en-US">
                <a:highlight>
                  <a:srgbClr val="FFF2CC"/>
                </a:highlight>
                <a:latin typeface="JetBrains Mono"/>
                <a:ea typeface="JetBrains Mono"/>
                <a:cs typeface="JetBrains Mono"/>
                <a:sym typeface="JetBrains Mono"/>
              </a:rPr>
              <a:t>mean(x)</a:t>
            </a:r>
            <a:endParaRPr>
              <a:highlight>
                <a:srgbClr val="FFF2CC"/>
              </a:highlight>
            </a:endParaRPr>
          </a:p>
          <a:p>
            <a:pPr indent="-228600" lvl="0" marL="228600" rtl="0" algn="l">
              <a:lnSpc>
                <a:spcPct val="90000"/>
              </a:lnSpc>
              <a:spcBef>
                <a:spcPts val="1000"/>
              </a:spcBef>
              <a:spcAft>
                <a:spcPts val="0"/>
              </a:spcAft>
              <a:buClr>
                <a:schemeClr val="dk1"/>
              </a:buClr>
              <a:buSzPct val="100000"/>
              <a:buChar char="•"/>
            </a:pPr>
            <a:r>
              <a:rPr lang="en-US"/>
              <a:t>Try to find the standard deviation of the values in </a:t>
            </a:r>
            <a:r>
              <a:rPr lang="en-US">
                <a:highlight>
                  <a:srgbClr val="FFF2CC"/>
                </a:highlight>
              </a:rPr>
              <a:t>x</a:t>
            </a:r>
            <a:r>
              <a:rPr lang="en-US"/>
              <a:t>, using the </a:t>
            </a:r>
            <a:r>
              <a:rPr lang="en-US">
                <a:highlight>
                  <a:srgbClr val="FFF2CC"/>
                </a:highlight>
                <a:latin typeface="JetBrains Mono"/>
                <a:ea typeface="JetBrains Mono"/>
                <a:cs typeface="JetBrains Mono"/>
                <a:sym typeface="JetBrains Mono"/>
              </a:rPr>
              <a:t>sd</a:t>
            </a:r>
            <a:r>
              <a:rPr lang="en-US"/>
              <a:t> function.</a:t>
            </a:r>
            <a:endParaRPr/>
          </a:p>
          <a:p>
            <a:pPr indent="-228600" lvl="0" marL="228600" rtl="0" algn="l">
              <a:lnSpc>
                <a:spcPct val="90000"/>
              </a:lnSpc>
              <a:spcBef>
                <a:spcPts val="1000"/>
              </a:spcBef>
              <a:spcAft>
                <a:spcPts val="0"/>
              </a:spcAft>
              <a:buClr>
                <a:schemeClr val="dk1"/>
              </a:buClr>
              <a:buSzPct val="100000"/>
              <a:buChar char="•"/>
            </a:pPr>
            <a:r>
              <a:rPr lang="en-US"/>
              <a:t>Try the following:</a:t>
            </a:r>
            <a:br>
              <a:rPr lang="en-US"/>
            </a:br>
            <a:r>
              <a:rPr lang="en-US">
                <a:highlight>
                  <a:srgbClr val="FFF2CC"/>
                </a:highlight>
                <a:latin typeface="JetBrains Mono"/>
                <a:ea typeface="JetBrains Mono"/>
                <a:cs typeface="JetBrains Mono"/>
                <a:sym typeface="JetBrains Mono"/>
              </a:rPr>
              <a:t>boxplot(x)</a:t>
            </a:r>
            <a:br>
              <a:rPr lang="en-US"/>
            </a:b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 packages</a:t>
            </a:r>
            <a:endParaRPr/>
          </a:p>
        </p:txBody>
      </p:sp>
      <p:sp>
        <p:nvSpPr>
          <p:cNvPr id="137" name="Google Shape;13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 is modular: it's possible to write </a:t>
            </a:r>
            <a:r>
              <a:rPr i="1" lang="en-US"/>
              <a:t>packages</a:t>
            </a:r>
            <a:r>
              <a:rPr lang="en-US"/>
              <a:t> in R to solve related tasks</a:t>
            </a:r>
            <a:endParaRPr/>
          </a:p>
          <a:p>
            <a:pPr indent="-228600" lvl="0" marL="228600" rtl="0" algn="l">
              <a:lnSpc>
                <a:spcPct val="90000"/>
              </a:lnSpc>
              <a:spcBef>
                <a:spcPts val="1000"/>
              </a:spcBef>
              <a:spcAft>
                <a:spcPts val="0"/>
              </a:spcAft>
              <a:buClr>
                <a:schemeClr val="dk1"/>
              </a:buClr>
              <a:buSzPts val="2800"/>
              <a:buChar char="•"/>
            </a:pPr>
            <a:r>
              <a:rPr lang="en-US"/>
              <a:t>Many packages ("libraries") exist for R, including packages designed for bioinformatics</a:t>
            </a:r>
            <a:endParaRPr/>
          </a:p>
          <a:p>
            <a:pPr indent="-228600" lvl="0" marL="228600" rtl="0" algn="l">
              <a:lnSpc>
                <a:spcPct val="90000"/>
              </a:lnSpc>
              <a:spcBef>
                <a:spcPts val="1000"/>
              </a:spcBef>
              <a:spcAft>
                <a:spcPts val="0"/>
              </a:spcAft>
              <a:buClr>
                <a:schemeClr val="dk1"/>
              </a:buClr>
              <a:buSzPts val="2800"/>
              <a:buChar char="•"/>
            </a:pPr>
            <a:r>
              <a:rPr lang="en-US"/>
              <a:t>To use an R package it needs to be installed</a:t>
            </a:r>
            <a:endParaRPr/>
          </a:p>
          <a:p>
            <a:pPr indent="-228600" lvl="1" marL="685800" rtl="0" algn="l">
              <a:lnSpc>
                <a:spcPct val="90000"/>
              </a:lnSpc>
              <a:spcBef>
                <a:spcPts val="500"/>
              </a:spcBef>
              <a:spcAft>
                <a:spcPts val="0"/>
              </a:spcAft>
              <a:buClr>
                <a:schemeClr val="dk1"/>
              </a:buClr>
              <a:buSzPts val="2400"/>
              <a:buChar char="•"/>
            </a:pPr>
            <a:r>
              <a:rPr lang="en-US"/>
              <a:t>Installation needs to happen only once</a:t>
            </a:r>
            <a:endParaRPr/>
          </a:p>
          <a:p>
            <a:pPr indent="-228600" lvl="0" marL="228600" rtl="0" algn="l">
              <a:lnSpc>
                <a:spcPct val="90000"/>
              </a:lnSpc>
              <a:spcBef>
                <a:spcPts val="1000"/>
              </a:spcBef>
              <a:spcAft>
                <a:spcPts val="0"/>
              </a:spcAft>
              <a:buClr>
                <a:schemeClr val="dk1"/>
              </a:buClr>
              <a:buSzPts val="2800"/>
              <a:buChar char="•"/>
            </a:pPr>
            <a:r>
              <a:rPr lang="en-US"/>
              <a:t>And then loaded</a:t>
            </a:r>
            <a:endParaRPr/>
          </a:p>
          <a:p>
            <a:pPr indent="-228600" lvl="1" marL="685800" rtl="0" algn="l">
              <a:lnSpc>
                <a:spcPct val="90000"/>
              </a:lnSpc>
              <a:spcBef>
                <a:spcPts val="500"/>
              </a:spcBef>
              <a:spcAft>
                <a:spcPts val="0"/>
              </a:spcAft>
              <a:buClr>
                <a:schemeClr val="dk1"/>
              </a:buClr>
              <a:buSzPts val="2400"/>
              <a:buChar char="•"/>
            </a:pPr>
            <a:r>
              <a:rPr lang="en-US"/>
              <a:t>Loading needs to happen every session in which the library is used</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Tidyverse</a:t>
            </a:r>
            <a:endParaRPr/>
          </a:p>
        </p:txBody>
      </p:sp>
      <p:sp>
        <p:nvSpPr>
          <p:cNvPr id="143" name="Google Shape;143;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It’s common to find that a large portion of the time you spend in data analysis is in getting the data into a form where the software can perform the analysis</a:t>
            </a:r>
            <a:endParaRPr/>
          </a:p>
          <a:p>
            <a:pPr indent="-228600" lvl="0" marL="228600" rtl="0" algn="l">
              <a:lnSpc>
                <a:spcPct val="90000"/>
              </a:lnSpc>
              <a:spcBef>
                <a:spcPts val="1000"/>
              </a:spcBef>
              <a:spcAft>
                <a:spcPts val="0"/>
              </a:spcAft>
              <a:buClr>
                <a:schemeClr val="dk1"/>
              </a:buClr>
              <a:buSzPts val="2800"/>
              <a:buChar char="•"/>
            </a:pPr>
            <a:r>
              <a:rPr lang="en-US"/>
              <a:t>Informally known as </a:t>
            </a:r>
            <a:r>
              <a:rPr i="1" lang="en-US"/>
              <a:t>“data wrangling”</a:t>
            </a:r>
            <a:endParaRPr/>
          </a:p>
          <a:p>
            <a:pPr indent="-228600" lvl="0" marL="228600" rtl="0" algn="l">
              <a:lnSpc>
                <a:spcPct val="90000"/>
              </a:lnSpc>
              <a:spcBef>
                <a:spcPts val="1000"/>
              </a:spcBef>
              <a:spcAft>
                <a:spcPts val="0"/>
              </a:spcAft>
              <a:buClr>
                <a:schemeClr val="dk1"/>
              </a:buClr>
              <a:buSzPts val="2800"/>
              <a:buChar char="•"/>
            </a:pPr>
            <a:r>
              <a:rPr lang="en-US"/>
              <a:t>Can be a frustrating, time-consuming, boring part of data analysis…</a:t>
            </a:r>
            <a:endParaRPr/>
          </a:p>
          <a:p>
            <a:pPr indent="-228600" lvl="0" marL="228600" rtl="0" algn="l">
              <a:lnSpc>
                <a:spcPct val="90000"/>
              </a:lnSpc>
              <a:spcBef>
                <a:spcPts val="1000"/>
              </a:spcBef>
              <a:spcAft>
                <a:spcPts val="0"/>
              </a:spcAft>
              <a:buClr>
                <a:schemeClr val="dk1"/>
              </a:buClr>
              <a:buSzPts val="2800"/>
              <a:buChar char="•"/>
            </a:pPr>
            <a:r>
              <a:rPr lang="en-US"/>
              <a:t>Recently, Hadley Wickham, a statistician from New Zealand, developed a collection of R </a:t>
            </a:r>
            <a:r>
              <a:rPr i="1" lang="en-US"/>
              <a:t>packages </a:t>
            </a:r>
            <a:r>
              <a:rPr lang="en-US"/>
              <a:t>for data wrangling, collectively known as the </a:t>
            </a:r>
            <a:r>
              <a:rPr i="1" lang="en-US"/>
              <a:t>tidyverse</a:t>
            </a:r>
            <a:endParaRPr/>
          </a:p>
          <a:p>
            <a:pPr indent="-228600" lvl="1" marL="685800" rtl="0" algn="l">
              <a:lnSpc>
                <a:spcPct val="90000"/>
              </a:lnSpc>
              <a:spcBef>
                <a:spcPts val="500"/>
              </a:spcBef>
              <a:spcAft>
                <a:spcPts val="0"/>
              </a:spcAft>
              <a:buClr>
                <a:schemeClr val="dk1"/>
              </a:buClr>
              <a:buSzPts val="2400"/>
              <a:buChar char="•"/>
            </a:pPr>
            <a:r>
              <a:rPr lang="en-US"/>
              <a:t>Make your data </a:t>
            </a:r>
            <a:r>
              <a:rPr i="1" lang="en-US"/>
              <a:t>tidy</a:t>
            </a:r>
            <a:r>
              <a:rPr lang="en-US"/>
              <a:t>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Installing tidyverse</a:t>
            </a:r>
            <a:endParaRPr/>
          </a:p>
        </p:txBody>
      </p:sp>
      <p:sp>
        <p:nvSpPr>
          <p:cNvPr id="149" name="Google Shape;149;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Open R studio</a:t>
            </a:r>
            <a:endParaRPr/>
          </a:p>
          <a:p>
            <a:pPr indent="-228600" lvl="0" marL="228600" rtl="0" algn="l">
              <a:lnSpc>
                <a:spcPct val="90000"/>
              </a:lnSpc>
              <a:spcBef>
                <a:spcPts val="1000"/>
              </a:spcBef>
              <a:spcAft>
                <a:spcPts val="0"/>
              </a:spcAft>
              <a:buClr>
                <a:schemeClr val="dk1"/>
              </a:buClr>
              <a:buSzPts val="2800"/>
              <a:buChar char="•"/>
            </a:pPr>
            <a:r>
              <a:rPr lang="en-US"/>
              <a:t>Under the “Tools” menu, choose “Install Packages”</a:t>
            </a:r>
            <a:endParaRPr/>
          </a:p>
          <a:p>
            <a:pPr indent="-228600" lvl="0" marL="228600" rtl="0" algn="l">
              <a:lnSpc>
                <a:spcPct val="90000"/>
              </a:lnSpc>
              <a:spcBef>
                <a:spcPts val="1000"/>
              </a:spcBef>
              <a:spcAft>
                <a:spcPts val="0"/>
              </a:spcAft>
              <a:buClr>
                <a:schemeClr val="dk1"/>
              </a:buClr>
              <a:buSzPts val="2800"/>
              <a:buChar char="•"/>
            </a:pPr>
            <a:r>
              <a:rPr lang="en-US"/>
              <a:t>In the “Packages” field, type “Tidyverse”</a:t>
            </a:r>
            <a:endParaRPr/>
          </a:p>
          <a:p>
            <a:pPr indent="-228600" lvl="0" marL="228600" rtl="0" algn="l">
              <a:lnSpc>
                <a:spcPct val="90000"/>
              </a:lnSpc>
              <a:spcBef>
                <a:spcPts val="1000"/>
              </a:spcBef>
              <a:spcAft>
                <a:spcPts val="0"/>
              </a:spcAft>
              <a:buClr>
                <a:schemeClr val="dk1"/>
              </a:buClr>
              <a:buSzPts val="2800"/>
              <a:buChar char="•"/>
            </a:pPr>
            <a:r>
              <a:rPr lang="en-US"/>
              <a:t>Leave the other fields as the default values and press “Install”</a:t>
            </a:r>
            <a:endParaRPr/>
          </a:p>
          <a:p>
            <a:pPr indent="-228600" lvl="0" marL="228600" rtl="0" algn="l">
              <a:lnSpc>
                <a:spcPct val="90000"/>
              </a:lnSpc>
              <a:spcBef>
                <a:spcPts val="1000"/>
              </a:spcBef>
              <a:spcAft>
                <a:spcPts val="0"/>
              </a:spcAft>
              <a:buClr>
                <a:schemeClr val="dk1"/>
              </a:buClr>
              <a:buSzPts val="2800"/>
              <a:buChar char="•"/>
            </a:pPr>
            <a:r>
              <a:rPr lang="en-US"/>
              <a:t>This will install the </a:t>
            </a:r>
            <a:r>
              <a:rPr i="1" lang="en-US"/>
              <a:t>tidyverse</a:t>
            </a:r>
            <a:r>
              <a:rPr lang="en-US"/>
              <a:t> package</a:t>
            </a:r>
            <a:endParaRPr/>
          </a:p>
          <a:p>
            <a:pPr indent="-228600" lvl="0" marL="228600" rtl="0" algn="l">
              <a:lnSpc>
                <a:spcPct val="90000"/>
              </a:lnSpc>
              <a:spcBef>
                <a:spcPts val="1000"/>
              </a:spcBef>
              <a:spcAft>
                <a:spcPts val="0"/>
              </a:spcAft>
              <a:buClr>
                <a:schemeClr val="dk1"/>
              </a:buClr>
              <a:buSzPts val="2800"/>
              <a:buChar char="•"/>
            </a:pPr>
            <a:r>
              <a:rPr lang="en-US"/>
              <a:t>You only need to do this step once; if you exit R and restart, the package will still be installed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Starting RStudio</a:t>
            </a:r>
            <a:endParaRPr/>
          </a:p>
        </p:txBody>
      </p:sp>
      <p:sp>
        <p:nvSpPr>
          <p:cNvPr id="155" name="Google Shape;155;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41934" lvl="0" marL="228600" rtl="0" algn="l">
              <a:lnSpc>
                <a:spcPct val="90000"/>
              </a:lnSpc>
              <a:spcBef>
                <a:spcPts val="0"/>
              </a:spcBef>
              <a:spcAft>
                <a:spcPts val="0"/>
              </a:spcAft>
              <a:buClr>
                <a:schemeClr val="dk1"/>
              </a:buClr>
              <a:buSzPts val="2800"/>
              <a:buChar char="•"/>
            </a:pPr>
            <a:r>
              <a:rPr lang="en-US"/>
              <a:t>Open RStudio</a:t>
            </a:r>
            <a:endParaRPr/>
          </a:p>
          <a:p>
            <a:pPr indent="-241934" lvl="0" marL="228600" rtl="0" algn="l">
              <a:lnSpc>
                <a:spcPct val="90000"/>
              </a:lnSpc>
              <a:spcBef>
                <a:spcPts val="1000"/>
              </a:spcBef>
              <a:spcAft>
                <a:spcPts val="0"/>
              </a:spcAft>
              <a:buClr>
                <a:schemeClr val="dk1"/>
              </a:buClr>
              <a:buSzPts val="2800"/>
              <a:buChar char="•"/>
            </a:pPr>
            <a:r>
              <a:rPr lang="en-US"/>
              <a:t>In the console, set the Working Directory to your sars-cov-2-reads directory by typing</a:t>
            </a:r>
            <a:br>
              <a:rPr lang="en-US"/>
            </a:br>
            <a:r>
              <a:rPr lang="en-US">
                <a:highlight>
                  <a:srgbClr val="FFF2CC"/>
                </a:highlight>
                <a:latin typeface="JetBrains Mono"/>
                <a:ea typeface="JetBrains Mono"/>
                <a:cs typeface="JetBrains Mono"/>
                <a:sym typeface="JetBrains Mono"/>
              </a:rPr>
              <a:t>setwd("Z:\\...\\sars-cov-2-reads")</a:t>
            </a:r>
            <a:endParaRPr>
              <a:highlight>
                <a:srgbClr val="FFF2CC"/>
              </a:highlight>
            </a:endParaRPr>
          </a:p>
          <a:p>
            <a:pPr indent="-241934" lvl="0" marL="228600" rtl="0" algn="l">
              <a:lnSpc>
                <a:spcPct val="90000"/>
              </a:lnSpc>
              <a:spcBef>
                <a:spcPts val="1000"/>
              </a:spcBef>
              <a:spcAft>
                <a:spcPts val="0"/>
              </a:spcAft>
              <a:buClr>
                <a:schemeClr val="dk1"/>
              </a:buClr>
              <a:buSzPts val="2800"/>
              <a:buChar char="•"/>
            </a:pPr>
            <a:r>
              <a:rPr lang="en-US"/>
              <a:t>We’ll put the code for today’s work in a script</a:t>
            </a:r>
            <a:endParaRPr/>
          </a:p>
          <a:p>
            <a:pPr indent="-241934" lvl="0" marL="228600" rtl="0" algn="l">
              <a:lnSpc>
                <a:spcPct val="90000"/>
              </a:lnSpc>
              <a:spcBef>
                <a:spcPts val="1000"/>
              </a:spcBef>
              <a:spcAft>
                <a:spcPts val="0"/>
              </a:spcAft>
              <a:buClr>
                <a:schemeClr val="dk1"/>
              </a:buClr>
              <a:buSzPts val="2800"/>
              <a:buChar char="•"/>
            </a:pPr>
            <a:r>
              <a:rPr lang="en-US"/>
              <a:t>This means we can easily save our work, and redo the same analysis later</a:t>
            </a:r>
            <a:endParaRPr/>
          </a:p>
          <a:p>
            <a:pPr indent="-241934" lvl="0" marL="228600" rtl="0" algn="l">
              <a:lnSpc>
                <a:spcPct val="90000"/>
              </a:lnSpc>
              <a:spcBef>
                <a:spcPts val="1000"/>
              </a:spcBef>
              <a:spcAft>
                <a:spcPts val="0"/>
              </a:spcAft>
              <a:buClr>
                <a:schemeClr val="dk1"/>
              </a:buClr>
              <a:buSzPts val="2800"/>
              <a:buChar char="•"/>
            </a:pPr>
            <a:r>
              <a:rPr lang="en-US"/>
              <a:t>In RStudio, select “File”, “New File”, and “R Script”</a:t>
            </a:r>
            <a:endParaRPr/>
          </a:p>
          <a:p>
            <a:pPr indent="-241934" lvl="0" marL="228600" rtl="0" algn="l">
              <a:lnSpc>
                <a:spcPct val="90000"/>
              </a:lnSpc>
              <a:spcBef>
                <a:spcPts val="1000"/>
              </a:spcBef>
              <a:spcAft>
                <a:spcPts val="0"/>
              </a:spcAft>
              <a:buClr>
                <a:schemeClr val="dk1"/>
              </a:buClr>
              <a:buSzPts val="2800"/>
              <a:buChar char="•"/>
            </a:pPr>
            <a:r>
              <a:rPr lang="en-US"/>
              <a:t>This will create a new tab in the top left, labelled “Untitled”</a:t>
            </a:r>
            <a:endParaRPr/>
          </a:p>
          <a:p>
            <a:pPr indent="-240030" lvl="1" marL="685800" rtl="0" algn="l">
              <a:lnSpc>
                <a:spcPct val="90000"/>
              </a:lnSpc>
              <a:spcBef>
                <a:spcPts val="500"/>
              </a:spcBef>
              <a:spcAft>
                <a:spcPts val="0"/>
              </a:spcAft>
              <a:buClr>
                <a:schemeClr val="dk1"/>
              </a:buClr>
              <a:buSzPts val="2400"/>
              <a:buChar char="•"/>
            </a:pPr>
            <a:r>
              <a:rPr lang="en-US"/>
              <a:t>You can save it with a meaningful name in a folder of your choosing at any time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Loading the library</a:t>
            </a:r>
            <a:endParaRPr/>
          </a:p>
        </p:txBody>
      </p:sp>
      <p:sp>
        <p:nvSpPr>
          <p:cNvPr id="161" name="Google Shape;16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the new script, enter the code</a:t>
            </a:r>
            <a:br>
              <a:rPr lang="en-US"/>
            </a:br>
            <a:r>
              <a:rPr lang="en-US">
                <a:highlight>
                  <a:srgbClr val="FFF2CC"/>
                </a:highlight>
                <a:latin typeface="JetBrains Mono"/>
                <a:ea typeface="JetBrains Mono"/>
                <a:cs typeface="JetBrains Mono"/>
                <a:sym typeface="JetBrains Mono"/>
              </a:rPr>
              <a:t>library(tidyverse)</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This will load the library into the current session, so its functionality will be available</a:t>
            </a:r>
            <a:endParaRPr/>
          </a:p>
          <a:p>
            <a:pPr indent="-228600" lvl="1" marL="685800" rtl="0" algn="l">
              <a:lnSpc>
                <a:spcPct val="90000"/>
              </a:lnSpc>
              <a:spcBef>
                <a:spcPts val="500"/>
              </a:spcBef>
              <a:spcAft>
                <a:spcPts val="0"/>
              </a:spcAft>
              <a:buClr>
                <a:schemeClr val="dk1"/>
              </a:buClr>
              <a:buSzPts val="2400"/>
              <a:buChar char="•"/>
            </a:pPr>
            <a:r>
              <a:rPr lang="en-US"/>
              <a:t>We need to do this once per session in which we need the library</a:t>
            </a:r>
            <a:endParaRPr/>
          </a:p>
          <a:p>
            <a:pPr indent="-228600" lvl="0" marL="228600" rtl="0" algn="l">
              <a:lnSpc>
                <a:spcPct val="90000"/>
              </a:lnSpc>
              <a:spcBef>
                <a:spcPts val="1000"/>
              </a:spcBef>
              <a:spcAft>
                <a:spcPts val="0"/>
              </a:spcAft>
              <a:buClr>
                <a:schemeClr val="dk1"/>
              </a:buClr>
              <a:buSzPts val="2800"/>
              <a:buChar char="•"/>
            </a:pPr>
            <a:r>
              <a:rPr lang="en-US"/>
              <a:t>Click next to this command in the script, and press the “Run” button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Loading data</a:t>
            </a:r>
            <a:endParaRPr/>
          </a:p>
        </p:txBody>
      </p:sp>
      <p:sp>
        <p:nvSpPr>
          <p:cNvPr id="167" name="Google Shape;16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can load the lineage report we generated for our SARS-CoV-2 data.</a:t>
            </a:r>
            <a:endParaRPr/>
          </a:p>
          <a:p>
            <a:pPr indent="-228600" lvl="1" marL="685800" rtl="0" algn="l">
              <a:lnSpc>
                <a:spcPct val="90000"/>
              </a:lnSpc>
              <a:spcBef>
                <a:spcPts val="500"/>
              </a:spcBef>
              <a:spcAft>
                <a:spcPts val="0"/>
              </a:spcAft>
              <a:buClr>
                <a:schemeClr val="dk1"/>
              </a:buClr>
              <a:buSzPts val="2400"/>
              <a:buChar char="•"/>
            </a:pPr>
            <a:r>
              <a:rPr lang="en-US"/>
              <a:t>Since this is a CSV file, we can use the tidyverse function </a:t>
            </a:r>
            <a:r>
              <a:rPr lang="en-US">
                <a:latin typeface="JetBrains Mono"/>
                <a:ea typeface="JetBrains Mono"/>
                <a:cs typeface="JetBrains Mono"/>
                <a:sym typeface="JetBrains Mono"/>
              </a:rPr>
              <a:t>read_csv</a:t>
            </a:r>
            <a:endParaRPr>
              <a:latin typeface="JetBrains Mono"/>
              <a:ea typeface="JetBrains Mono"/>
              <a:cs typeface="JetBrains Mono"/>
              <a:sym typeface="JetBrains Mono"/>
            </a:endParaRPr>
          </a:p>
          <a:p>
            <a:pPr indent="-228600" lvl="0" marL="228600" rtl="0" algn="l">
              <a:lnSpc>
                <a:spcPct val="90000"/>
              </a:lnSpc>
              <a:spcBef>
                <a:spcPts val="1000"/>
              </a:spcBef>
              <a:spcAft>
                <a:spcPts val="0"/>
              </a:spcAft>
              <a:buClr>
                <a:schemeClr val="dk1"/>
              </a:buClr>
              <a:buSzPts val="2800"/>
              <a:buChar char="•"/>
            </a:pPr>
            <a:r>
              <a:rPr lang="en-US"/>
              <a:t>Enter the following in your script and run it with the "Run" button:</a:t>
            </a:r>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lin &lt;- read_csv("lineage_report.csv")</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This will read the CSV file and store its contents in a tidyverse table (called a "tibble") with the variable name </a:t>
            </a:r>
            <a:r>
              <a:rPr lang="en-US">
                <a:highlight>
                  <a:srgbClr val="FFF2CC"/>
                </a:highlight>
                <a:latin typeface="JetBrains Mono"/>
                <a:ea typeface="JetBrains Mono"/>
                <a:cs typeface="JetBrains Mono"/>
                <a:sym typeface="JetBrains Mono"/>
              </a:rPr>
              <a:t>lin</a:t>
            </a:r>
            <a:endParaRPr>
              <a:highlight>
                <a:srgbClr val="FFF2CC"/>
              </a:highlight>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Tidyverse tables</a:t>
            </a:r>
            <a:endParaRPr/>
          </a:p>
        </p:txBody>
      </p:sp>
      <p:sp>
        <p:nvSpPr>
          <p:cNvPr id="173" name="Google Shape;17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RStudio, the table appears in the “Environment” tab under “Data”</a:t>
            </a:r>
            <a:endParaRPr/>
          </a:p>
          <a:p>
            <a:pPr indent="-228600" lvl="0" marL="228600" rtl="0" algn="l">
              <a:lnSpc>
                <a:spcPct val="90000"/>
              </a:lnSpc>
              <a:spcBef>
                <a:spcPts val="1000"/>
              </a:spcBef>
              <a:spcAft>
                <a:spcPts val="0"/>
              </a:spcAft>
              <a:buClr>
                <a:schemeClr val="dk1"/>
              </a:buClr>
              <a:buSzPts val="2800"/>
              <a:buChar char="•"/>
            </a:pPr>
            <a:r>
              <a:rPr lang="en-US"/>
              <a:t>Click on “lin” in the environment tab to view the data</a:t>
            </a:r>
            <a:endParaRPr/>
          </a:p>
          <a:p>
            <a:pPr indent="-228600" lvl="0" marL="228600" rtl="0" algn="l">
              <a:lnSpc>
                <a:spcPct val="90000"/>
              </a:lnSpc>
              <a:spcBef>
                <a:spcPts val="1000"/>
              </a:spcBef>
              <a:spcAft>
                <a:spcPts val="0"/>
              </a:spcAft>
              <a:buClr>
                <a:schemeClr val="dk1"/>
              </a:buClr>
              <a:buSzPts val="2800"/>
              <a:buChar char="•"/>
            </a:pPr>
            <a:r>
              <a:rPr lang="en-US"/>
              <a:t>This appears as a table in a tab next to your script</a:t>
            </a:r>
            <a:endParaRPr/>
          </a:p>
          <a:p>
            <a:pPr indent="-228600" lvl="1" marL="685800" rtl="0" algn="l">
              <a:lnSpc>
                <a:spcPct val="90000"/>
              </a:lnSpc>
              <a:spcBef>
                <a:spcPts val="500"/>
              </a:spcBef>
              <a:spcAft>
                <a:spcPts val="0"/>
              </a:spcAft>
              <a:buClr>
                <a:schemeClr val="dk1"/>
              </a:buClr>
              <a:buSzPts val="2400"/>
              <a:buChar char="•"/>
            </a:pPr>
            <a:r>
              <a:rPr lang="en-US"/>
              <a:t>In tidyverse, this data type is called a “tibble”</a:t>
            </a:r>
            <a:endParaRPr/>
          </a:p>
          <a:p>
            <a:pPr indent="-228600" lvl="0" marL="228600" rtl="0" algn="l">
              <a:lnSpc>
                <a:spcPct val="90000"/>
              </a:lnSpc>
              <a:spcBef>
                <a:spcPts val="1000"/>
              </a:spcBef>
              <a:spcAft>
                <a:spcPts val="0"/>
              </a:spcAft>
              <a:buClr>
                <a:schemeClr val="dk1"/>
              </a:buClr>
              <a:buSzPts val="2800"/>
              <a:buChar char="•"/>
            </a:pPr>
            <a:r>
              <a:rPr lang="en-US"/>
              <a:t>In “Environment”, expand met by clicking on the small arrow next to the name</a:t>
            </a:r>
            <a:endParaRPr/>
          </a:p>
          <a:p>
            <a:pPr indent="-228600" lvl="1" marL="685800" rtl="0" algn="l">
              <a:lnSpc>
                <a:spcPct val="90000"/>
              </a:lnSpc>
              <a:spcBef>
                <a:spcPts val="500"/>
              </a:spcBef>
              <a:spcAft>
                <a:spcPts val="0"/>
              </a:spcAft>
              <a:buClr>
                <a:schemeClr val="dk1"/>
              </a:buClr>
              <a:buSzPts val="2400"/>
              <a:buChar char="•"/>
            </a:pPr>
            <a:r>
              <a:rPr lang="en-US"/>
              <a:t>Note how it describes the types of each column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grep in R</a:t>
            </a:r>
            <a:endParaRPr/>
          </a:p>
        </p:txBody>
      </p:sp>
      <p:sp>
        <p:nvSpPr>
          <p:cNvPr id="179" name="Google Shape;179;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R supports forms of the grep function</a:t>
            </a:r>
            <a:endParaRPr/>
          </a:p>
          <a:p>
            <a:pPr indent="-228600" lvl="0" marL="228600" rtl="0" algn="l">
              <a:lnSpc>
                <a:spcPct val="90000"/>
              </a:lnSpc>
              <a:spcBef>
                <a:spcPts val="1000"/>
              </a:spcBef>
              <a:spcAft>
                <a:spcPts val="0"/>
              </a:spcAft>
              <a:buClr>
                <a:schemeClr val="dk1"/>
              </a:buClr>
              <a:buSzPts val="2800"/>
              <a:buChar char="•"/>
            </a:pPr>
            <a:r>
              <a:rPr lang="en-US"/>
              <a:t>Examine the "status" column of lineage in the data view</a:t>
            </a:r>
            <a:endParaRPr/>
          </a:p>
          <a:p>
            <a:pPr indent="-228600" lvl="0" marL="228600" rtl="0" algn="l">
              <a:lnSpc>
                <a:spcPct val="90000"/>
              </a:lnSpc>
              <a:spcBef>
                <a:spcPts val="1000"/>
              </a:spcBef>
              <a:spcAft>
                <a:spcPts val="0"/>
              </a:spcAft>
              <a:buClr>
                <a:schemeClr val="dk1"/>
              </a:buClr>
              <a:buSzPts val="2800"/>
              <a:buChar char="•"/>
            </a:pPr>
            <a:r>
              <a:rPr lang="en-US"/>
              <a:t>We can access individual columns of a data table in R using the </a:t>
            </a:r>
            <a:r>
              <a:rPr lang="en-US">
                <a:highlight>
                  <a:srgbClr val="FFF2CC"/>
                </a:highlight>
                <a:latin typeface="JetBrains Mono"/>
                <a:ea typeface="JetBrains Mono"/>
                <a:cs typeface="JetBrains Mono"/>
                <a:sym typeface="JetBrains Mono"/>
              </a:rPr>
              <a:t>$</a:t>
            </a:r>
            <a:r>
              <a:rPr lang="en-US"/>
              <a:t> operator</a:t>
            </a:r>
            <a:endParaRPr/>
          </a:p>
          <a:p>
            <a:pPr indent="-228600" lvl="0" marL="228600" rtl="0" algn="l">
              <a:lnSpc>
                <a:spcPct val="90000"/>
              </a:lnSpc>
              <a:spcBef>
                <a:spcPts val="1000"/>
              </a:spcBef>
              <a:spcAft>
                <a:spcPts val="0"/>
              </a:spcAft>
              <a:buClr>
                <a:schemeClr val="dk1"/>
              </a:buClr>
              <a:buSzPts val="2800"/>
              <a:buChar char="•"/>
            </a:pPr>
            <a:r>
              <a:rPr lang="en-US"/>
              <a:t>In the console, enter</a:t>
            </a:r>
            <a:endParaRPr/>
          </a:p>
          <a:p>
            <a:pPr indent="0" lvl="0" marL="0" rtl="0" algn="l">
              <a:lnSpc>
                <a:spcPct val="90000"/>
              </a:lnSpc>
              <a:spcBef>
                <a:spcPts val="1000"/>
              </a:spcBef>
              <a:spcAft>
                <a:spcPts val="0"/>
              </a:spcAft>
              <a:buClr>
                <a:schemeClr val="dk1"/>
              </a:buClr>
              <a:buSzPts val="2800"/>
              <a:buNone/>
            </a:pPr>
            <a:r>
              <a:rPr lang="en-US">
                <a:highlight>
                  <a:srgbClr val="FFF2CC"/>
                </a:highlight>
              </a:rPr>
              <a:t>lin$status</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Try the following (in the console):</a:t>
            </a:r>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grep("passed", lin$status)</a:t>
            </a:r>
            <a:endParaRPr>
              <a:highlight>
                <a:srgbClr val="FFF2CC"/>
              </a:highlight>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grepl("passed", lin$status)</a:t>
            </a:r>
            <a:endParaRPr>
              <a:highlight>
                <a:srgbClr val="FFF2CC"/>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Filtering in tidyverse</a:t>
            </a:r>
            <a:endParaRPr/>
          </a:p>
        </p:txBody>
      </p:sp>
      <p:sp>
        <p:nvSpPr>
          <p:cNvPr id="185" name="Google Shape;185;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Tidyverse has a filter function for filtering tibbles</a:t>
            </a:r>
            <a:endParaRPr/>
          </a:p>
          <a:p>
            <a:pPr indent="-228600" lvl="0" marL="228600" rtl="0" algn="l">
              <a:lnSpc>
                <a:spcPct val="90000"/>
              </a:lnSpc>
              <a:spcBef>
                <a:spcPts val="1000"/>
              </a:spcBef>
              <a:spcAft>
                <a:spcPts val="0"/>
              </a:spcAft>
              <a:buClr>
                <a:schemeClr val="dk1"/>
              </a:buClr>
              <a:buSzPts val="2800"/>
              <a:buChar char="•"/>
            </a:pPr>
            <a:r>
              <a:rPr lang="en-US"/>
              <a:t>Provide a tibble and a logical (i.e. </a:t>
            </a:r>
            <a:r>
              <a:rPr lang="en-US">
                <a:highlight>
                  <a:srgbClr val="FFF2CC"/>
                </a:highlight>
                <a:latin typeface="JetBrains Mono"/>
                <a:ea typeface="JetBrains Mono"/>
                <a:cs typeface="JetBrains Mono"/>
                <a:sym typeface="JetBrains Mono"/>
              </a:rPr>
              <a:t>TRUE</a:t>
            </a:r>
            <a:r>
              <a:rPr lang="en-US"/>
              <a:t> or </a:t>
            </a:r>
            <a:r>
              <a:rPr lang="en-US">
                <a:highlight>
                  <a:srgbClr val="FFF2CC"/>
                </a:highlight>
                <a:latin typeface="JetBrains Mono"/>
                <a:ea typeface="JetBrains Mono"/>
                <a:cs typeface="JetBrains Mono"/>
                <a:sym typeface="JetBrains Mono"/>
              </a:rPr>
              <a:t>FALSE</a:t>
            </a:r>
            <a:r>
              <a:rPr lang="en-US"/>
              <a:t>) vector</a:t>
            </a:r>
            <a:endParaRPr/>
          </a:p>
          <a:p>
            <a:pPr indent="-228600" lvl="0" marL="228600" rtl="0" algn="l">
              <a:lnSpc>
                <a:spcPct val="90000"/>
              </a:lnSpc>
              <a:spcBef>
                <a:spcPts val="1000"/>
              </a:spcBef>
              <a:spcAft>
                <a:spcPts val="0"/>
              </a:spcAft>
              <a:buClr>
                <a:schemeClr val="dk1"/>
              </a:buClr>
              <a:buSzPts val="2800"/>
              <a:buChar char="•"/>
            </a:pPr>
            <a:r>
              <a:rPr lang="en-US"/>
              <a:t>Enter the following in the script:</a:t>
            </a:r>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lin &lt;- filter(lin, grepl("passed", status))</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Run that line and view the </a:t>
            </a:r>
            <a:r>
              <a:rPr lang="en-US">
                <a:highlight>
                  <a:srgbClr val="FFF2CC"/>
                </a:highlight>
                <a:latin typeface="JetBrains Mono"/>
                <a:ea typeface="JetBrains Mono"/>
                <a:cs typeface="JetBrains Mono"/>
                <a:sym typeface="JetBrains Mono"/>
              </a:rPr>
              <a:t>lin</a:t>
            </a:r>
            <a:r>
              <a:rPr lang="en-US"/>
              <a:t> tibble again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Piping in tidyverse</a:t>
            </a:r>
            <a:endParaRPr/>
          </a:p>
        </p:txBody>
      </p:sp>
      <p:sp>
        <p:nvSpPr>
          <p:cNvPr id="191" name="Google Shape;191;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Tidyverse supports a "pipe" operator</a:t>
            </a:r>
            <a:endParaRPr/>
          </a:p>
          <a:p>
            <a:pPr indent="-228600" lvl="1" marL="685800" rtl="0" algn="l">
              <a:lnSpc>
                <a:spcPct val="90000"/>
              </a:lnSpc>
              <a:spcBef>
                <a:spcPts val="500"/>
              </a:spcBef>
              <a:spcAft>
                <a:spcPts val="0"/>
              </a:spcAft>
              <a:buClr>
                <a:schemeClr val="dk1"/>
              </a:buClr>
              <a:buSzPts val="2400"/>
              <a:buChar char="•"/>
            </a:pPr>
            <a:r>
              <a:rPr lang="en-US"/>
              <a:t>Works similarly to </a:t>
            </a:r>
            <a:r>
              <a:rPr lang="en-US">
                <a:highlight>
                  <a:srgbClr val="FFF2CC"/>
                </a:highlight>
                <a:latin typeface="JetBrains Mono"/>
                <a:ea typeface="JetBrains Mono"/>
                <a:cs typeface="JetBrains Mono"/>
                <a:sym typeface="JetBrains Mono"/>
              </a:rPr>
              <a:t>|</a:t>
            </a:r>
            <a:r>
              <a:rPr lang="en-US"/>
              <a:t> in bash</a:t>
            </a:r>
            <a:endParaRPr/>
          </a:p>
          <a:p>
            <a:pPr indent="-228600" lvl="0" marL="228600" rtl="0" algn="l">
              <a:lnSpc>
                <a:spcPct val="90000"/>
              </a:lnSpc>
              <a:spcBef>
                <a:spcPts val="1000"/>
              </a:spcBef>
              <a:spcAft>
                <a:spcPts val="0"/>
              </a:spcAft>
              <a:buClr>
                <a:schemeClr val="dk1"/>
              </a:buClr>
              <a:buSzPts val="2800"/>
              <a:buChar char="•"/>
            </a:pPr>
            <a:r>
              <a:rPr lang="en-US"/>
              <a:t>The tidyverse pipe operator is </a:t>
            </a:r>
            <a:r>
              <a:rPr lang="en-US">
                <a:highlight>
                  <a:srgbClr val="FFF2CC"/>
                </a:highlight>
                <a:latin typeface="JetBrains Mono"/>
                <a:ea typeface="JetBrains Mono"/>
                <a:cs typeface="JetBrains Mono"/>
                <a:sym typeface="JetBrains Mono"/>
              </a:rPr>
              <a:t>%&gt;%</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Essentially treats the output of the previous command as the first argument to the next command</a:t>
            </a:r>
            <a:endParaRPr/>
          </a:p>
          <a:p>
            <a:pPr indent="-228600" lvl="0" marL="228600" rtl="0" algn="l">
              <a:lnSpc>
                <a:spcPct val="90000"/>
              </a:lnSpc>
              <a:spcBef>
                <a:spcPts val="1000"/>
              </a:spcBef>
              <a:spcAft>
                <a:spcPts val="0"/>
              </a:spcAft>
              <a:buClr>
                <a:schemeClr val="dk1"/>
              </a:buClr>
              <a:buSzPts val="2800"/>
              <a:buChar char="•"/>
            </a:pPr>
            <a:r>
              <a:rPr lang="en-US"/>
              <a:t>We can rewrite our script as:</a:t>
            </a:r>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lin &lt;- read_csv("lineage_report.csv") %&gt;%</a:t>
            </a:r>
            <a:endParaRPr>
              <a:highlight>
                <a:srgbClr val="FFF2CC"/>
              </a:highlight>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	filter(grepl("passed", status))</a:t>
            </a:r>
            <a:endParaRPr>
              <a:highlight>
                <a:srgbClr val="FFF2CC"/>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Counting lineage</a:t>
            </a:r>
            <a:endParaRPr/>
          </a:p>
        </p:txBody>
      </p:sp>
      <p:sp>
        <p:nvSpPr>
          <p:cNvPr id="197" name="Google Shape;19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tidyverse </a:t>
            </a:r>
            <a:r>
              <a:rPr lang="en-US">
                <a:highlight>
                  <a:srgbClr val="FFF2CC"/>
                </a:highlight>
                <a:latin typeface="JetBrains Mono"/>
                <a:ea typeface="JetBrains Mono"/>
                <a:cs typeface="JetBrains Mono"/>
                <a:sym typeface="JetBrains Mono"/>
              </a:rPr>
              <a:t>pull(…)</a:t>
            </a:r>
            <a:r>
              <a:rPr lang="en-US">
                <a:latin typeface="JetBrains Mono"/>
                <a:ea typeface="JetBrains Mono"/>
                <a:cs typeface="JetBrains Mono"/>
                <a:sym typeface="JetBrains Mono"/>
              </a:rPr>
              <a:t> </a:t>
            </a:r>
            <a:r>
              <a:rPr lang="en-US"/>
              <a:t>function extracts (pulls) a column from a tibble</a:t>
            </a:r>
            <a:endParaRPr/>
          </a:p>
          <a:p>
            <a:pPr indent="-228600" lvl="0" marL="228600" rtl="0" algn="l">
              <a:lnSpc>
                <a:spcPct val="90000"/>
              </a:lnSpc>
              <a:spcBef>
                <a:spcPts val="1000"/>
              </a:spcBef>
              <a:spcAft>
                <a:spcPts val="0"/>
              </a:spcAft>
              <a:buClr>
                <a:schemeClr val="dk1"/>
              </a:buClr>
              <a:buSzPct val="100000"/>
              <a:buChar char="•"/>
            </a:pPr>
            <a:r>
              <a:rPr lang="en-US"/>
              <a:t>In the console, try</a:t>
            </a:r>
            <a:endParaRPr/>
          </a:p>
          <a:p>
            <a:pPr indent="0" lvl="0" marL="0" rtl="0" algn="l">
              <a:lnSpc>
                <a:spcPct val="90000"/>
              </a:lnSpc>
              <a:spcBef>
                <a:spcPts val="1000"/>
              </a:spcBef>
              <a:spcAft>
                <a:spcPts val="0"/>
              </a:spcAft>
              <a:buClr>
                <a:schemeClr val="dk1"/>
              </a:buClr>
              <a:buSzPct val="100000"/>
              <a:buNone/>
            </a:pPr>
            <a:r>
              <a:rPr lang="en-US">
                <a:highlight>
                  <a:srgbClr val="FFF2CC"/>
                </a:highlight>
                <a:latin typeface="JetBrains Mono"/>
                <a:ea typeface="JetBrains Mono"/>
                <a:cs typeface="JetBrains Mono"/>
                <a:sym typeface="JetBrains Mono"/>
              </a:rPr>
              <a:t>pull(lin, lineage)</a:t>
            </a:r>
            <a:endParaRPr>
              <a:highlight>
                <a:srgbClr val="FFF2CC"/>
              </a:highlight>
            </a:endParaRPr>
          </a:p>
          <a:p>
            <a:pPr indent="-228600" lvl="0" marL="228600" rtl="0" algn="l">
              <a:lnSpc>
                <a:spcPct val="90000"/>
              </a:lnSpc>
              <a:spcBef>
                <a:spcPts val="1000"/>
              </a:spcBef>
              <a:spcAft>
                <a:spcPts val="0"/>
              </a:spcAft>
              <a:buClr>
                <a:schemeClr val="dk1"/>
              </a:buClr>
              <a:buSzPct val="100000"/>
              <a:buChar char="•"/>
            </a:pPr>
            <a:r>
              <a:rPr lang="en-US"/>
              <a:t>The plain R function </a:t>
            </a:r>
            <a:r>
              <a:rPr lang="en-US">
                <a:highlight>
                  <a:srgbClr val="FFF2CC"/>
                </a:highlight>
                <a:latin typeface="JetBrains Mono"/>
                <a:ea typeface="JetBrains Mono"/>
                <a:cs typeface="JetBrains Mono"/>
                <a:sym typeface="JetBrains Mono"/>
              </a:rPr>
              <a:t>table</a:t>
            </a:r>
            <a:r>
              <a:rPr lang="en-US"/>
              <a:t> counts occurrences of each value in a vector or list</a:t>
            </a:r>
            <a:endParaRPr/>
          </a:p>
          <a:p>
            <a:pPr indent="-228600" lvl="0" marL="228600" rtl="0" algn="l">
              <a:lnSpc>
                <a:spcPct val="90000"/>
              </a:lnSpc>
              <a:spcBef>
                <a:spcPts val="1000"/>
              </a:spcBef>
              <a:spcAft>
                <a:spcPts val="0"/>
              </a:spcAft>
              <a:buClr>
                <a:schemeClr val="dk1"/>
              </a:buClr>
              <a:buSzPct val="100000"/>
              <a:buChar char="•"/>
            </a:pPr>
            <a:r>
              <a:rPr lang="en-US"/>
              <a:t>Try</a:t>
            </a:r>
            <a:endParaRPr/>
          </a:p>
          <a:p>
            <a:pPr indent="0" lvl="0" marL="0" rtl="0" algn="l">
              <a:lnSpc>
                <a:spcPct val="90000"/>
              </a:lnSpc>
              <a:spcBef>
                <a:spcPts val="1000"/>
              </a:spcBef>
              <a:spcAft>
                <a:spcPts val="0"/>
              </a:spcAft>
              <a:buClr>
                <a:schemeClr val="dk1"/>
              </a:buClr>
              <a:buSzPct val="100000"/>
              <a:buNone/>
            </a:pPr>
            <a:r>
              <a:rPr lang="en-US">
                <a:highlight>
                  <a:srgbClr val="FFF2CC"/>
                </a:highlight>
                <a:latin typeface="JetBrains Mono"/>
                <a:ea typeface="JetBrains Mono"/>
                <a:cs typeface="JetBrains Mono"/>
                <a:sym typeface="JetBrains Mono"/>
              </a:rPr>
              <a:t>table(pull(lin, lineage))</a:t>
            </a:r>
            <a:endParaRPr>
              <a:highlight>
                <a:srgbClr val="FFF2CC"/>
              </a:highlight>
            </a:endParaRPr>
          </a:p>
          <a:p>
            <a:pPr indent="-228600" lvl="0" marL="228600" rtl="0" algn="l">
              <a:lnSpc>
                <a:spcPct val="90000"/>
              </a:lnSpc>
              <a:spcBef>
                <a:spcPts val="1000"/>
              </a:spcBef>
              <a:spcAft>
                <a:spcPts val="0"/>
              </a:spcAft>
              <a:buClr>
                <a:schemeClr val="dk1"/>
              </a:buClr>
              <a:buSzPct val="100000"/>
              <a:buChar char="•"/>
            </a:pPr>
            <a:r>
              <a:rPr lang="en-US"/>
              <a:t>or</a:t>
            </a:r>
            <a:endParaRPr/>
          </a:p>
          <a:p>
            <a:pPr indent="0" lvl="0" marL="0" rtl="0" algn="l">
              <a:lnSpc>
                <a:spcPct val="90000"/>
              </a:lnSpc>
              <a:spcBef>
                <a:spcPts val="1000"/>
              </a:spcBef>
              <a:spcAft>
                <a:spcPts val="0"/>
              </a:spcAft>
              <a:buClr>
                <a:schemeClr val="dk1"/>
              </a:buClr>
              <a:buSzPct val="100000"/>
              <a:buNone/>
            </a:pPr>
            <a:r>
              <a:rPr lang="en-US">
                <a:highlight>
                  <a:srgbClr val="FFF2CC"/>
                </a:highlight>
                <a:latin typeface="JetBrains Mono"/>
                <a:ea typeface="JetBrains Mono"/>
                <a:cs typeface="JetBrains Mono"/>
                <a:sym typeface="JetBrains Mono"/>
              </a:rPr>
              <a:t>pull(lin, lineage) %&gt;% table</a:t>
            </a:r>
            <a:endParaRPr>
              <a:highlight>
                <a:srgbClr val="FFF2CC"/>
              </a:highlight>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Analyzing low coverage samples</a:t>
            </a:r>
            <a:endParaRPr/>
          </a:p>
        </p:txBody>
      </p:sp>
      <p:sp>
        <p:nvSpPr>
          <p:cNvPr id="203" name="Google Shape;20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Recall the pileup files we generated</a:t>
            </a:r>
            <a:endParaRPr/>
          </a:p>
          <a:p>
            <a:pPr indent="-228600" lvl="1" marL="685800" rtl="0" algn="l">
              <a:lnSpc>
                <a:spcPct val="90000"/>
              </a:lnSpc>
              <a:spcBef>
                <a:spcPts val="500"/>
              </a:spcBef>
              <a:spcAft>
                <a:spcPts val="0"/>
              </a:spcAft>
              <a:buClr>
                <a:schemeClr val="dk1"/>
              </a:buClr>
              <a:buSzPts val="2400"/>
              <a:buChar char="•"/>
            </a:pPr>
            <a:r>
              <a:rPr lang="en-US"/>
              <a:t>Tab-separated value files with SequenceID, Position, Reference alllele, read depth, and two other columns</a:t>
            </a:r>
            <a:endParaRPr/>
          </a:p>
          <a:p>
            <a:pPr indent="-228600" lvl="0" marL="228600" rtl="0" algn="l">
              <a:lnSpc>
                <a:spcPct val="90000"/>
              </a:lnSpc>
              <a:spcBef>
                <a:spcPts val="1000"/>
              </a:spcBef>
              <a:spcAft>
                <a:spcPts val="0"/>
              </a:spcAft>
              <a:buClr>
                <a:schemeClr val="dk1"/>
              </a:buClr>
              <a:buSzPts val="2800"/>
              <a:buChar char="•"/>
            </a:pPr>
            <a:r>
              <a:rPr lang="en-US"/>
              <a:t>Choose one of your samples and, in the console, run</a:t>
            </a:r>
            <a:endParaRPr/>
          </a:p>
          <a:p>
            <a:pPr indent="0" lvl="0" marL="0" rtl="0" algn="l">
              <a:lnSpc>
                <a:spcPct val="90000"/>
              </a:lnSpc>
              <a:spcBef>
                <a:spcPts val="1000"/>
              </a:spcBef>
              <a:spcAft>
                <a:spcPts val="0"/>
              </a:spcAft>
              <a:buClr>
                <a:schemeClr val="dk1"/>
              </a:buClr>
              <a:buSzPts val="2400"/>
              <a:buNone/>
            </a:pPr>
            <a:r>
              <a:rPr lang="en-US" sz="2400">
                <a:highlight>
                  <a:srgbClr val="FFF2CC"/>
                </a:highlight>
                <a:latin typeface="JetBrains Mono"/>
                <a:ea typeface="JetBrains Mono"/>
                <a:cs typeface="JetBrains Mono"/>
                <a:sym typeface="JetBrains Mono"/>
              </a:rPr>
              <a:t>WVxxxxxx_pileup &lt;- read_tsv("WVxxxxxx_R1.pileup")</a:t>
            </a:r>
            <a:endParaRPr>
              <a:highlight>
                <a:srgbClr val="FFF2CC"/>
              </a:highlight>
            </a:endParaRPr>
          </a:p>
          <a:p>
            <a:pPr indent="-228600" lvl="1" marL="685800" rtl="0" algn="l">
              <a:lnSpc>
                <a:spcPct val="90000"/>
              </a:lnSpc>
              <a:spcBef>
                <a:spcPts val="500"/>
              </a:spcBef>
              <a:spcAft>
                <a:spcPts val="0"/>
              </a:spcAft>
              <a:buClr>
                <a:schemeClr val="dk1"/>
              </a:buClr>
              <a:buSzPts val="2400"/>
              <a:buChar char="•"/>
            </a:pPr>
            <a:r>
              <a:rPr lang="en-US"/>
              <a:t>Check the file name and adjust accordingly</a:t>
            </a:r>
            <a:endParaRPr/>
          </a:p>
          <a:p>
            <a:pPr indent="-228600" lvl="0" marL="228600" rtl="0" algn="l">
              <a:lnSpc>
                <a:spcPct val="90000"/>
              </a:lnSpc>
              <a:spcBef>
                <a:spcPts val="1000"/>
              </a:spcBef>
              <a:spcAft>
                <a:spcPts val="0"/>
              </a:spcAft>
              <a:buClr>
                <a:schemeClr val="dk1"/>
              </a:buClr>
              <a:buSzPts val="2800"/>
              <a:buChar char="•"/>
            </a:pPr>
            <a:r>
              <a:rPr lang="en-US"/>
              <a:t>We're only interested in the first four columns, so we can do</a:t>
            </a:r>
            <a:endParaRPr/>
          </a:p>
          <a:p>
            <a:pPr indent="0" lvl="0" marL="0" rtl="0" algn="l">
              <a:lnSpc>
                <a:spcPct val="90000"/>
              </a:lnSpc>
              <a:spcBef>
                <a:spcPts val="1000"/>
              </a:spcBef>
              <a:spcAft>
                <a:spcPts val="0"/>
              </a:spcAft>
              <a:buClr>
                <a:schemeClr val="dk1"/>
              </a:buClr>
              <a:buSzPts val="2400"/>
              <a:buNone/>
            </a:pPr>
            <a:r>
              <a:rPr lang="en-US" sz="2400">
                <a:highlight>
                  <a:srgbClr val="FFF2CC"/>
                </a:highlight>
                <a:latin typeface="JetBrains Mono"/>
                <a:ea typeface="JetBrains Mono"/>
                <a:cs typeface="JetBrains Mono"/>
                <a:sym typeface="JetBrains Mono"/>
              </a:rPr>
              <a:t>WVxxxxxx_pileup &lt;- select(WVxxxxxx_pileup, 1:4)</a:t>
            </a:r>
            <a:endParaRPr>
              <a:highlight>
                <a:srgbClr val="FFF2CC"/>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Analyzing low coverage samples</a:t>
            </a:r>
            <a:endParaRPr/>
          </a:p>
        </p:txBody>
      </p:sp>
      <p:sp>
        <p:nvSpPr>
          <p:cNvPr id="209" name="Google Shape;209;p2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Load the same for a second sample:</a:t>
            </a:r>
            <a:endParaRPr/>
          </a:p>
          <a:p>
            <a:pPr indent="0" lvl="0" marL="0" rtl="0" algn="l">
              <a:lnSpc>
                <a:spcPct val="90000"/>
              </a:lnSpc>
              <a:spcBef>
                <a:spcPts val="1000"/>
              </a:spcBef>
              <a:spcAft>
                <a:spcPts val="0"/>
              </a:spcAft>
              <a:buClr>
                <a:schemeClr val="dk1"/>
              </a:buClr>
              <a:buSzPts val="2400"/>
              <a:buNone/>
            </a:pPr>
            <a:r>
              <a:rPr lang="en-US" sz="2400">
                <a:highlight>
                  <a:srgbClr val="FFF2CC"/>
                </a:highlight>
                <a:latin typeface="JetBrains Mono"/>
                <a:ea typeface="JetBrains Mono"/>
                <a:cs typeface="JetBrains Mono"/>
                <a:sym typeface="JetBrains Mono"/>
              </a:rPr>
              <a:t>WVyyyyyy_pileup &lt;- read_tsv("Wvyyyyyy_R1.pileup") %&gt;%</a:t>
            </a:r>
            <a:endParaRPr>
              <a:highlight>
                <a:srgbClr val="FFF2CC"/>
              </a:highlight>
            </a:endParaRPr>
          </a:p>
          <a:p>
            <a:pPr indent="0" lvl="0" marL="0" rtl="0" algn="l">
              <a:lnSpc>
                <a:spcPct val="90000"/>
              </a:lnSpc>
              <a:spcBef>
                <a:spcPts val="1000"/>
              </a:spcBef>
              <a:spcAft>
                <a:spcPts val="0"/>
              </a:spcAft>
              <a:buClr>
                <a:schemeClr val="dk1"/>
              </a:buClr>
              <a:buSzPts val="2400"/>
              <a:buNone/>
            </a:pPr>
            <a:r>
              <a:rPr lang="en-US" sz="2400">
                <a:highlight>
                  <a:srgbClr val="FFF2CC"/>
                </a:highlight>
                <a:latin typeface="JetBrains Mono"/>
                <a:ea typeface="JetBrains Mono"/>
                <a:cs typeface="JetBrains Mono"/>
                <a:sym typeface="JetBrains Mono"/>
              </a:rPr>
              <a:t>	select(1:4)</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View each of these tibbles</a:t>
            </a:r>
            <a:endParaRPr/>
          </a:p>
          <a:p>
            <a:pPr indent="-228600" lvl="0" marL="228600" rtl="0" algn="l">
              <a:lnSpc>
                <a:spcPct val="90000"/>
              </a:lnSpc>
              <a:spcBef>
                <a:spcPts val="1000"/>
              </a:spcBef>
              <a:spcAft>
                <a:spcPts val="0"/>
              </a:spcAft>
              <a:buClr>
                <a:schemeClr val="dk1"/>
              </a:buClr>
              <a:buSzPts val="2800"/>
              <a:buChar char="•"/>
            </a:pPr>
            <a:r>
              <a:rPr lang="en-US"/>
              <a:t>What does the following give you?</a:t>
            </a:r>
            <a:endParaRPr/>
          </a:p>
          <a:p>
            <a:pPr indent="0" lvl="0" marL="0" rtl="0" algn="l">
              <a:lnSpc>
                <a:spcPct val="90000"/>
              </a:lnSpc>
              <a:spcBef>
                <a:spcPts val="1000"/>
              </a:spcBef>
              <a:spcAft>
                <a:spcPts val="0"/>
              </a:spcAft>
              <a:buClr>
                <a:schemeClr val="dk1"/>
              </a:buClr>
              <a:buSzPts val="2400"/>
              <a:buNone/>
            </a:pPr>
            <a:r>
              <a:rPr lang="en-US" sz="2400">
                <a:highlight>
                  <a:srgbClr val="FFF2CC"/>
                </a:highlight>
                <a:latin typeface="JetBrains Mono"/>
                <a:ea typeface="JetBrains Mono"/>
                <a:cs typeface="JetBrains Mono"/>
                <a:sym typeface="JetBrains Mono"/>
              </a:rPr>
              <a:t>inner_join(WVxxxxxx_pileup, Wvyyyyyy_pileup)</a:t>
            </a:r>
            <a:endParaRPr>
              <a:highlight>
                <a:srgbClr val="FFF2CC"/>
              </a:highlight>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Analyzing low coverage samples</a:t>
            </a:r>
            <a:endParaRPr/>
          </a:p>
        </p:txBody>
      </p:sp>
      <p:sp>
        <p:nvSpPr>
          <p:cNvPr id="215" name="Google Shape;215;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can use the same idea to combine all samples</a:t>
            </a:r>
            <a:endParaRPr/>
          </a:p>
          <a:p>
            <a:pPr indent="-228600" lvl="0" marL="228600" rtl="0" algn="l">
              <a:lnSpc>
                <a:spcPct val="90000"/>
              </a:lnSpc>
              <a:spcBef>
                <a:spcPts val="1000"/>
              </a:spcBef>
              <a:spcAft>
                <a:spcPts val="0"/>
              </a:spcAft>
              <a:buClr>
                <a:schemeClr val="dk1"/>
              </a:buClr>
              <a:buSzPts val="2800"/>
              <a:buChar char="•"/>
            </a:pPr>
            <a:r>
              <a:rPr lang="en-US"/>
              <a:t>Do the following in the script</a:t>
            </a:r>
            <a:endParaRPr/>
          </a:p>
          <a:p>
            <a:pPr indent="-228600" lvl="1" marL="685800" rtl="0" algn="l">
              <a:lnSpc>
                <a:spcPct val="90000"/>
              </a:lnSpc>
              <a:spcBef>
                <a:spcPts val="500"/>
              </a:spcBef>
              <a:spcAft>
                <a:spcPts val="0"/>
              </a:spcAft>
              <a:buClr>
                <a:schemeClr val="dk1"/>
              </a:buClr>
              <a:buSzPts val="2400"/>
              <a:buChar char="•"/>
            </a:pPr>
            <a:r>
              <a:rPr lang="en-US"/>
              <a:t>Check the values of each variable you create or change as you run each line</a:t>
            </a:r>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files &lt;- list.files(pattern="\\.pileup")</a:t>
            </a:r>
            <a:endParaRPr>
              <a:highlight>
                <a:srgbClr val="FFF2CC"/>
              </a:highlight>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pileups &lt;- lapply(files, function(f) </a:t>
            </a:r>
            <a:endParaRPr>
              <a:highlight>
                <a:srgbClr val="FFF2CC"/>
              </a:highlight>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  read_tsv(f, col_names=c("Seq","Pos","Ref",gsub("\\.pileup","",f),"X1","X2")) %&gt;% </a:t>
            </a:r>
            <a:endParaRPr>
              <a:highlight>
                <a:srgbClr val="FFF2CC"/>
              </a:highlight>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  select(1:4)</a:t>
            </a:r>
            <a:endParaRPr>
              <a:highlight>
                <a:srgbClr val="FFF2CC"/>
              </a:highlight>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a:t>
            </a:r>
            <a:endParaRPr>
              <a:highlight>
                <a:srgbClr val="FFF2CC"/>
              </a:highlight>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pileups &lt;- reduce(pileups, inner_join)</a:t>
            </a:r>
            <a:endParaRPr>
              <a:highlight>
                <a:srgbClr val="FFF2CC"/>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Analyzing low coverage samples</a:t>
            </a:r>
            <a:endParaRPr/>
          </a:p>
        </p:txBody>
      </p:sp>
      <p:sp>
        <p:nvSpPr>
          <p:cNvPr id="221" name="Google Shape;22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call a single base for a single sample "low coverage" if it has fewer than 10 reads</a:t>
            </a:r>
            <a:endParaRPr/>
          </a:p>
          <a:p>
            <a:pPr indent="-228600" lvl="0" marL="228600" rtl="0" algn="l">
              <a:lnSpc>
                <a:spcPct val="90000"/>
              </a:lnSpc>
              <a:spcBef>
                <a:spcPts val="1000"/>
              </a:spcBef>
              <a:spcAft>
                <a:spcPts val="0"/>
              </a:spcAft>
              <a:buClr>
                <a:schemeClr val="dk1"/>
              </a:buClr>
              <a:buSzPts val="2800"/>
              <a:buChar char="•"/>
            </a:pPr>
            <a:r>
              <a:rPr lang="en-US"/>
              <a:t>We want to count the number of low coverage bases for each sample</a:t>
            </a:r>
            <a:endParaRPr/>
          </a:p>
          <a:p>
            <a:pPr indent="0" lvl="0" marL="0" rtl="0" algn="l">
              <a:lnSpc>
                <a:spcPct val="90000"/>
              </a:lnSpc>
              <a:spcBef>
                <a:spcPts val="1000"/>
              </a:spcBef>
              <a:spcAft>
                <a:spcPts val="0"/>
              </a:spcAft>
              <a:buClr>
                <a:schemeClr val="dk1"/>
              </a:buClr>
              <a:buSzPts val="2000"/>
              <a:buNone/>
            </a:pPr>
            <a:r>
              <a:rPr lang="en-US" sz="2000">
                <a:highlight>
                  <a:srgbClr val="FFF2CC"/>
                </a:highlight>
                <a:latin typeface="JetBrains Mono"/>
                <a:ea typeface="JetBrains Mono"/>
                <a:cs typeface="JetBrains Mono"/>
                <a:sym typeface="JetBrains Mono"/>
              </a:rPr>
              <a:t>lowCovBases &lt;- pileups[,4:(3+length(files))]&lt;10</a:t>
            </a:r>
            <a:endParaRPr>
              <a:highlight>
                <a:srgbClr val="FFF2CC"/>
              </a:highlight>
            </a:endParaRPr>
          </a:p>
          <a:p>
            <a:pPr indent="0" lvl="0" marL="0" rtl="0" algn="l">
              <a:lnSpc>
                <a:spcPct val="90000"/>
              </a:lnSpc>
              <a:spcBef>
                <a:spcPts val="1000"/>
              </a:spcBef>
              <a:spcAft>
                <a:spcPts val="0"/>
              </a:spcAft>
              <a:buClr>
                <a:schemeClr val="dk1"/>
              </a:buClr>
              <a:buSzPts val="2000"/>
              <a:buNone/>
            </a:pPr>
            <a:r>
              <a:rPr lang="en-US" sz="2000">
                <a:highlight>
                  <a:srgbClr val="FFF2CC"/>
                </a:highlight>
                <a:latin typeface="JetBrains Mono"/>
                <a:ea typeface="JetBrains Mono"/>
                <a:cs typeface="JetBrains Mono"/>
                <a:sym typeface="JetBrains Mono"/>
              </a:rPr>
              <a:t>numDropoutBases &lt;- colSums(lowCovBases)</a:t>
            </a:r>
            <a:endParaRPr>
              <a:highlight>
                <a:srgbClr val="FFF2CC"/>
              </a:highlight>
            </a:endParaRPr>
          </a:p>
          <a:p>
            <a:pPr indent="0" lvl="0" marL="0" rtl="0" algn="l">
              <a:lnSpc>
                <a:spcPct val="90000"/>
              </a:lnSpc>
              <a:spcBef>
                <a:spcPts val="1000"/>
              </a:spcBef>
              <a:spcAft>
                <a:spcPts val="0"/>
              </a:spcAft>
              <a:buClr>
                <a:schemeClr val="dk1"/>
              </a:buClr>
              <a:buSzPts val="2000"/>
              <a:buNone/>
            </a:pPr>
            <a:r>
              <a:rPr lang="en-US" sz="2000">
                <a:highlight>
                  <a:srgbClr val="FFF2CC"/>
                </a:highlight>
                <a:latin typeface="JetBrains Mono"/>
                <a:ea typeface="JetBrains Mono"/>
                <a:cs typeface="JetBrains Mono"/>
                <a:sym typeface="JetBrains Mono"/>
              </a:rPr>
              <a:t>numDropoutBases &lt;- tibble(SampleID=names(numDropoutBases),         	NumberOfLowCoverageBases=numDropoutBases)</a:t>
            </a:r>
            <a:endParaRPr>
              <a:highlight>
                <a:srgbClr val="FFF2CC"/>
              </a:highlight>
            </a:endParaRPr>
          </a:p>
          <a:p>
            <a:pPr indent="0" lvl="0" marL="0" rtl="0" algn="l">
              <a:lnSpc>
                <a:spcPct val="90000"/>
              </a:lnSpc>
              <a:spcBef>
                <a:spcPts val="1000"/>
              </a:spcBef>
              <a:spcAft>
                <a:spcPts val="0"/>
              </a:spcAft>
              <a:buClr>
                <a:schemeClr val="dk1"/>
              </a:buClr>
              <a:buSzPts val="2000"/>
              <a:buNone/>
            </a:pPr>
            <a:r>
              <a:rPr lang="en-US" sz="2000">
                <a:highlight>
                  <a:srgbClr val="FFF2CC"/>
                </a:highlight>
                <a:latin typeface="JetBrains Mono"/>
                <a:ea typeface="JetBrains Mono"/>
                <a:cs typeface="JetBrains Mono"/>
                <a:sym typeface="JetBrains Mono"/>
              </a:rPr>
              <a:t>write_csv(numDropoutBases, "LowCoverageBasesBySample.csv")</a:t>
            </a:r>
            <a:endParaRPr sz="2000">
              <a:highlight>
                <a:srgbClr val="FFF2CC"/>
              </a:highlight>
              <a:latin typeface="JetBrains Mono"/>
              <a:ea typeface="JetBrains Mono"/>
              <a:cs typeface="JetBrains Mono"/>
              <a:sym typeface="JetBrains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e4da37309e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Using R on the Server</a:t>
            </a:r>
            <a:endParaRPr/>
          </a:p>
        </p:txBody>
      </p:sp>
      <p:sp>
        <p:nvSpPr>
          <p:cNvPr id="227" name="Google Shape;227;ge4da37309e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Our server has no user interface</a:t>
            </a:r>
            <a:endParaRPr/>
          </a:p>
          <a:p>
            <a:pPr indent="-342900" lvl="0" marL="457200" rtl="0" algn="l">
              <a:spcBef>
                <a:spcPts val="0"/>
              </a:spcBef>
              <a:spcAft>
                <a:spcPts val="0"/>
              </a:spcAft>
              <a:buSzPts val="1800"/>
              <a:buChar char="●"/>
            </a:pPr>
            <a:r>
              <a:rPr lang="en-US"/>
              <a:t>We can start a text-based console</a:t>
            </a:r>
            <a:endParaRPr/>
          </a:p>
          <a:p>
            <a:pPr indent="-342900" lvl="0" marL="457200" rtl="0" algn="l">
              <a:spcBef>
                <a:spcPts val="0"/>
              </a:spcBef>
              <a:spcAft>
                <a:spcPts val="0"/>
              </a:spcAft>
              <a:buSzPts val="1800"/>
              <a:buChar char="●"/>
            </a:pPr>
            <a:r>
              <a:rPr lang="en-US"/>
              <a:t>From your terminal, log into the server and just enter</a:t>
            </a:r>
            <a:endParaRPr/>
          </a:p>
          <a:p>
            <a:pPr indent="0" lvl="0" marL="0" rtl="0" algn="l">
              <a:spcBef>
                <a:spcPts val="1000"/>
              </a:spcBef>
              <a:spcAft>
                <a:spcPts val="0"/>
              </a:spcAft>
              <a:buNone/>
            </a:pPr>
            <a:r>
              <a:rPr lang="en-US">
                <a:highlight>
                  <a:srgbClr val="FFF2CC"/>
                </a:highlight>
                <a:latin typeface="JetBrains Mono"/>
                <a:ea typeface="JetBrains Mono"/>
                <a:cs typeface="JetBrains Mono"/>
                <a:sym typeface="JetBrains Mono"/>
              </a:rPr>
              <a:t>R</a:t>
            </a:r>
            <a:endParaRPr>
              <a:highlight>
                <a:srgbClr val="FFF2CC"/>
              </a:highlight>
              <a:latin typeface="JetBrains Mono"/>
              <a:ea typeface="JetBrains Mono"/>
              <a:cs typeface="JetBrains Mono"/>
              <a:sym typeface="JetBrains Mono"/>
            </a:endParaRPr>
          </a:p>
          <a:p>
            <a:pPr indent="-342900" lvl="0" marL="457200" rtl="0" algn="l">
              <a:spcBef>
                <a:spcPts val="1000"/>
              </a:spcBef>
              <a:spcAft>
                <a:spcPts val="0"/>
              </a:spcAft>
              <a:buSzPts val="1800"/>
              <a:buChar char="●"/>
            </a:pPr>
            <a:r>
              <a:rPr lang="en-US"/>
              <a:t>You can enter commands here</a:t>
            </a:r>
            <a:endParaRPr/>
          </a:p>
          <a:p>
            <a:pPr indent="-342900" lvl="0" marL="457200" rtl="0" algn="l">
              <a:spcBef>
                <a:spcPts val="0"/>
              </a:spcBef>
              <a:spcAft>
                <a:spcPts val="0"/>
              </a:spcAft>
              <a:buSzPts val="1800"/>
              <a:buChar char="●"/>
            </a:pPr>
            <a:r>
              <a:rPr lang="en-US"/>
              <a:t>R scripts can be run with the </a:t>
            </a:r>
            <a:r>
              <a:rPr lang="en-US">
                <a:highlight>
                  <a:srgbClr val="FFF2CC"/>
                </a:highlight>
                <a:latin typeface="JetBrains Mono"/>
                <a:ea typeface="JetBrains Mono"/>
                <a:cs typeface="JetBrains Mono"/>
                <a:sym typeface="JetBrains Mono"/>
              </a:rPr>
              <a:t>/usr/local/bin/Rscript</a:t>
            </a:r>
            <a:r>
              <a:rPr lang="en-US"/>
              <a:t> executable</a:t>
            </a:r>
            <a:endParaRPr/>
          </a:p>
          <a:p>
            <a:pPr indent="0" lvl="0" marL="457200" rtl="0" algn="l">
              <a:spcBef>
                <a:spcPts val="10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e4da37309e_0_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Running</a:t>
            </a:r>
            <a:r>
              <a:rPr lang="en-US"/>
              <a:t> your script on the server</a:t>
            </a:r>
            <a:endParaRPr/>
          </a:p>
        </p:txBody>
      </p:sp>
      <p:sp>
        <p:nvSpPr>
          <p:cNvPr id="233" name="Google Shape;233;ge4da37309e_0_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Enter a shebang at the top of your script:</a:t>
            </a:r>
            <a:endParaRPr/>
          </a:p>
          <a:p>
            <a:pPr indent="0" lvl="0" marL="457200" rtl="0" algn="l">
              <a:spcBef>
                <a:spcPts val="1000"/>
              </a:spcBef>
              <a:spcAft>
                <a:spcPts val="0"/>
              </a:spcAft>
              <a:buNone/>
            </a:pPr>
            <a:r>
              <a:rPr lang="en-US">
                <a:highlight>
                  <a:srgbClr val="FFF2CC"/>
                </a:highlight>
                <a:latin typeface="JetBrains Mono"/>
                <a:ea typeface="JetBrains Mono"/>
                <a:cs typeface="JetBrains Mono"/>
                <a:sym typeface="JetBrains Mono"/>
              </a:rPr>
              <a:t>#! /usr/local/bin/Rscript</a:t>
            </a:r>
            <a:endParaRPr>
              <a:highlight>
                <a:srgbClr val="FFF2CC"/>
              </a:highlight>
              <a:latin typeface="JetBrains Mono"/>
              <a:ea typeface="JetBrains Mono"/>
              <a:cs typeface="JetBrains Mono"/>
              <a:sym typeface="JetBrains Mono"/>
            </a:endParaRPr>
          </a:p>
          <a:p>
            <a:pPr indent="-342900" lvl="0" marL="457200" rtl="0" algn="l">
              <a:spcBef>
                <a:spcPts val="1000"/>
              </a:spcBef>
              <a:spcAft>
                <a:spcPts val="0"/>
              </a:spcAft>
              <a:buSzPts val="1800"/>
              <a:buChar char="●"/>
            </a:pPr>
            <a:r>
              <a:rPr lang="en-US"/>
              <a:t>Save the script into your sars-cov-2-reads on the server</a:t>
            </a:r>
            <a:endParaRPr/>
          </a:p>
          <a:p>
            <a:pPr indent="-342900" lvl="0" marL="914400" rtl="0" algn="l">
              <a:spcBef>
                <a:spcPts val="0"/>
              </a:spcBef>
              <a:spcAft>
                <a:spcPts val="0"/>
              </a:spcAft>
              <a:buSzPts val="1800"/>
              <a:buChar char="●"/>
            </a:pPr>
            <a:r>
              <a:rPr lang="en-US"/>
              <a:t>Use the mapped Z drive</a:t>
            </a:r>
            <a:endParaRPr/>
          </a:p>
          <a:p>
            <a:pPr indent="-342900" lvl="0" marL="914400" rtl="0" algn="l">
              <a:spcBef>
                <a:spcPts val="0"/>
              </a:spcBef>
              <a:spcAft>
                <a:spcPts val="0"/>
              </a:spcAft>
              <a:buSzPts val="1800"/>
              <a:buChar char="●"/>
            </a:pPr>
            <a:r>
              <a:rPr lang="en-US"/>
              <a:t>Log into the server and run your Rscript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USOM">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2021-07-14T17:48:27Z</dcterms:created>
  <dc:creator>Denvir, James</dc:creator>
</cp:coreProperties>
</file>